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1A2E"/>
              </a:solidFill>
              <a:effectLst/>
            </c:spPr>
          </c:dPt>
          <c:dPt>
            <c:idx val="1"/>
            <c:bubble3D val="0"/>
            <c:spPr>
              <a:solidFill>
                <a:srgbClr val="C9A96E"/>
              </a:solidFill>
              <a:effectLst/>
            </c:spPr>
          </c:dPt>
          <c:dPt>
            <c:idx val="2"/>
            <c:bubble3D val="0"/>
            <c:spPr>
              <a:solidFill>
                <a:srgbClr val="5C4B8A"/>
              </a:solidFill>
              <a:effectLst/>
            </c:spPr>
          </c:dPt>
          <c:dPt>
            <c:idx val="3"/>
            <c:bubble3D val="0"/>
            <c:spPr>
              <a:solidFill>
                <a:srgbClr val="7A3B3B"/>
              </a:solidFill>
              <a:effectLst/>
            </c:spPr>
          </c:dPt>
          <c:dPt>
            <c:idx val="4"/>
            <c:bubble3D val="0"/>
            <c:spPr>
              <a:solidFill>
                <a:srgbClr val="2D6A4F"/>
              </a:solidFill>
              <a:effectLst/>
            </c:spPr>
          </c:dPt>
          <c:dPt>
            <c:idx val="5"/>
            <c:bubble3D val="0"/>
            <c:spPr>
              <a:solidFill>
                <a:srgbClr val="4B556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Pauta Meta Ads</c:v>
                </c:pt>
                <c:pt idx="1">
                  <c:v>Producción Contenido</c:v>
                </c:pt>
                <c:pt idx="2">
                  <c:v>Evento OBJ2</c:v>
                </c:pt>
                <c:pt idx="3">
                  <c:v>Materiales OBJ2</c:v>
                </c:pt>
                <c:pt idx="4">
                  <c:v>ARTBO</c:v>
                </c:pt>
                <c:pt idx="5">
                  <c:v>Activación Consignación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6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2.5</c:v>
                </c:pt>
                <c:pt idx="5">
                  <c:v>1.5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05840"/>
            <a:ext cx="3840480" cy="384048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566160"/>
            <a:ext cx="2926080" cy="2926080"/>
          </a:xfrm>
          <a:prstGeom prst="ellipse">
            <a:avLst/>
          </a:prstGeom>
          <a:solidFill>
            <a:srgbClr val="C9A96E">
              <a:alpha val="9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315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7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EDICIONES GAMMA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Estratégico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Libros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·  2026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3364992"/>
            <a:ext cx="6583680" cy="438912"/>
          </a:xfrm>
          <a:prstGeom prst="roundRect">
            <a:avLst>
              <a:gd name="adj" fmla="val 16667"/>
            </a:avLst>
          </a:prstGeom>
          <a:solidFill>
            <a:srgbClr val="C9A96E">
              <a:alpha val="82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364992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catálogo al cliente — dos frentes, una editorial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526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H2 2026: $350M COP  |  2 Líneas de Negocio  |  6 Meses de Ejecución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 resolver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años de trayectoria editorial, 590+ títulos publicados. Casi nadie lo sabe.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seguidores IG  ·  0 posicionamiento SEO  ·  0 pipeline B2B  ·  1 usuario/mes desde email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del Catálogo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· Instagram · Lotes corporativos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Hoteles · Galerías · Canal Davivienda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$150M COP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H2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títulos · 5 categorías activas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719072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C9A96E"/>
          </a:solidFill>
          <a:ln w="12700">
            <a:solidFill>
              <a:srgbClr val="A0784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08483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Nuevas Publicaciones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250545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quieren crear un libro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5 categorías del catálogo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03580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$200M COP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754880" y="35844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H2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$60M–$200M COP por proyecto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VS POTENCIAL — LÍNEA BASE 2026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49808"/>
          <a:ext cx="8229600" cy="4160520"/>
        </p:xfrm>
        <a:graphic>
          <a:graphicData uri="http://schemas.openxmlformats.org/drawingml/2006/table">
            <a:tbl>
              <a:tblPr/>
              <a:tblGrid>
                <a:gridCol w="4114800"/>
                <a:gridCol w="192024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Indicador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Meta Dic 2026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 Instagram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Clicks al sitio desde 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 / 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/ 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Suscriptores email Libros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Puntos de consignación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B2B (OBJ2)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prospectos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prospectos activos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editoriales cerrados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Libros H2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línea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$350M COP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del Catálogo Activo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títulos · 5 categorías · 2 canales de venta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252542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DETAL  (B2C)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edicionesgamma.com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stories con link directo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Consignación: hoteles, galerías, universidades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y paquetes de regalo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444752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252542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MAYOR  (B2B Lotes)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566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Regalos corporativos: lotes 20–500 libros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Dotación lobbies y salas de ventas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 privada Davivienda (canal activo)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con empaque personalizado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 DEL CATÁLOGO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8229600" cy="301752"/>
          </a:xfrm>
          <a:prstGeom prst="roundRect">
            <a:avLst>
              <a:gd name="adj" fmla="val 12121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8211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Diseño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318211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títulos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3182112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$161,000 COP promedio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8229600" cy="301752"/>
          </a:xfrm>
          <a:prstGeom prst="roundRect">
            <a:avLst>
              <a:gd name="adj" fmla="val 12121"/>
            </a:avLst>
          </a:prstGeom>
          <a:solidFill>
            <a:srgbClr val="20203A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52958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títulos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529584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$252,000 COP promedio  ★ Mayor ticket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8229600" cy="301752"/>
          </a:xfrm>
          <a:prstGeom prst="roundRect">
            <a:avLst>
              <a:gd name="adj" fmla="val 12121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7705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87705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títulos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877056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$70,000 COP promedio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8229600" cy="301752"/>
          </a:xfrm>
          <a:prstGeom prst="roundRect">
            <a:avLst>
              <a:gd name="adj" fmla="val 12121"/>
            </a:avLst>
          </a:prstGeom>
          <a:solidFill>
            <a:srgbClr val="20203A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2452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422452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títulos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224528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$140,000 COP promedio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01752"/>
          </a:xfrm>
          <a:prstGeom prst="roundRect">
            <a:avLst>
              <a:gd name="adj" fmla="val 12121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57200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Infantil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45720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títulos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4572000"/>
            <a:ext cx="3017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$34,200 COP promedio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Nuevas Publicaciones por Categoría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Ediciones Gamma produce su libro — usted pone la historia  ·  Ticket: $60M – $200M COP por proyecto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52542"/>
          </a:solidFill>
          <a:ln w="635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90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Diseño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Arquitectos · Constructoras · Firmas de diseño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002536"/>
            <a:ext cx="2148840" cy="0"/>
          </a:xfrm>
          <a:prstGeom prst="line">
            <a:avLst/>
          </a:prstGeom>
          <a:noFill/>
          <a:ln w="6350">
            <a:solidFill>
              <a:srgbClr val="A07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3911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"Su obra ya apareció en AXXIS.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próximo paso es el libro."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444752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52542"/>
          </a:solidFill>
          <a:ln w="635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490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 · Galerías · Museos · Fundaciones culturales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29000" y="2002536"/>
            <a:ext cx="2148840" cy="0"/>
          </a:xfrm>
          <a:prstGeom prst="line">
            <a:avLst/>
          </a:prstGeom>
          <a:noFill/>
          <a:ln w="6350">
            <a:solidFill>
              <a:srgbClr val="A07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03911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"Publicamos a Pedro Nel Gómez y Abel Rodríguez.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podemos publicarle a usted."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444752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52542"/>
          </a:solidFill>
          <a:ln w="635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49047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ProColombia · Gobernaciones · Hoteles boutique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63640" y="2002536"/>
            <a:ext cx="2148840" cy="0"/>
          </a:xfrm>
          <a:prstGeom prst="line">
            <a:avLst/>
          </a:prstGeom>
          <a:noFill/>
          <a:ln w="6350">
            <a:solidFill>
              <a:srgbClr val="A078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03911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"Colombia tiene destinos que el mundo no conoce.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ayudamos a contarlos."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37360" y="29718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52542"/>
          </a:solidFill>
          <a:ln w="635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37360" y="3017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264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Chefs · Restaurantes premium · Marcas gastronómicas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0" y="3529584"/>
            <a:ext cx="2148840" cy="0"/>
          </a:xfrm>
          <a:prstGeom prst="line">
            <a:avLst/>
          </a:prstGeom>
          <a:noFill/>
          <a:ln w="6350">
            <a:solidFill>
              <a:srgbClr val="A07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5661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"Andrés Carne de Res tiene libro.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Usted también puede tenerlo."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9718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252542"/>
          </a:solidFill>
          <a:ln w="6350">
            <a:solidFill>
              <a:srgbClr val="C9A96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3017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Crianza Infantil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2644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 · Cajas de compensación · Clínicas pediátricas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529584"/>
            <a:ext cx="2148840" cy="0"/>
          </a:xfrm>
          <a:prstGeom prst="line">
            <a:avLst/>
          </a:prstGeom>
          <a:noFill/>
          <a:ln w="6350">
            <a:solidFill>
              <a:srgbClr val="A07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5661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conocimiento de su institución merece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llegar a miles de familias."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MARKETING — 5 CANALES, 2 OBJETIVOS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0EBE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832104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32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758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7772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Detal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10332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posts/semana · Stories diarias con link · Reels de producción · Micro-influencers arquitectura/cocina/arte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45336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Newsletter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94760" y="1636776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6367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Detal + Mayor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" y="189280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Mención fija en AXXIS y Diners newsletters · Lista propia 0→500 suscriptores · Envío mensual "Libro del mes"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404872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0EBE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51176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478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(Nicolas Serna)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94760" y="2496312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4963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B2B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75234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posts/semana · Serie «Colombia tiene historia» · Nombrar prospectos públicamente para generar inbound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64408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410712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Landing Pages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794760" y="3355848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33558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Inbound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36118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landings /publicar-libro-[categoría] · Keywords sin competencia · Fichas de producto optimizadas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123944"/>
            <a:ext cx="8412480" cy="749808"/>
          </a:xfrm>
          <a:prstGeom prst="roundRect">
            <a:avLst>
              <a:gd name="adj" fmla="val 8537"/>
            </a:avLst>
          </a:prstGeom>
          <a:solidFill>
            <a:srgbClr val="F0EBE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270248"/>
            <a:ext cx="457200" cy="4572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1970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Física + Eventos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94760" y="4215384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215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+ OBJ 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" y="4471416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puntos consignación · Kit de demo para reuniones · Evento coctel septiembre (30 invitados, 5 categorías)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WEB — OPTIMIZACIÓN E-COMMERCE Y NUEVAS LANDING PAGES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Optimización E-Commerce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 julio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22 fichas de producto sin año/ISBN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precio Guías Elarqa ($15.000 — posible error)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854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bundles nuevos (Pack Arte, Pack Regalo Arquitecto…)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609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de captura email en /tienda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363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Anuarios 2008–2022 si existen en bodega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mención de tienda en newsletters AXXIS/Diners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Responsables: Ernesto Rodriguez (textos) · Nicolas Serna (producto)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6858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5 Landing Pages Nuevas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005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sin competencia · Posicionamiento en 60–90 días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29844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252542"/>
          </a:solidFill>
          <a:ln w="6350">
            <a:solidFill>
              <a:srgbClr val="A07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29844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/publicar-libro-arquitectura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80136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252542"/>
          </a:solidFill>
          <a:ln w="6350">
            <a:solidFill>
              <a:srgbClr val="A07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8013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/publicar-libro-arte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30428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252542"/>
          </a:solidFill>
          <a:ln w="6350">
            <a:solidFill>
              <a:srgbClr val="A078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042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/publicar-libro-turismo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80720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252542"/>
          </a:solidFill>
          <a:ln w="6350">
            <a:solidFill>
              <a:srgbClr val="A078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8072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/publicar-libro-cocina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31012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252542"/>
          </a:solidFill>
          <a:ln w="6350">
            <a:solidFill>
              <a:srgbClr val="A07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101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/publicar-libro-crianza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858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Contenido: propuesta de valor + ejemplo del catálogo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proceso editorial en 5 pasos + formulario de contacto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Responsables: Ernesto (texto) · Lina (diseño) · Web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Y RELACIONES — MEDIOS, EVENTOS Y ALIANZAS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Medios de Comunicación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064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Espectador — Cultura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124712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24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344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mejores libros de arte colombiano"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46504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0EBE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80136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Arcadia (supl. El Espectador)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819656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19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039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 Abel Rodríguez o Ethel Gilmour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41448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496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/ La República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2514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7340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"Libros como regalo corporativo premium"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36392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0EBE0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191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AXXIS (propio)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320954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209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libro del catálogo en sección fija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31336"/>
            <a:ext cx="39319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8862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Diners (propio)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904488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904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ed.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1239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libro del catálogo en sección fija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713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Posicionamiento de Autoridad Editorial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105156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12700">
            <a:solidFill>
              <a:srgbClr val="2525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1124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 de prensa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13807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el primer proyecto OBJ2 → medios de negocios (Portafolio, La República)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984248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12700">
            <a:solidFill>
              <a:srgbClr val="2525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2057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Congreso ANDI — Septiembre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313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asiste con kit por categoría · Apertura de puertas a directores de comunicaciones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916936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12700">
            <a:solidFill>
              <a:srgbClr val="2525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2990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ARTBO — Octubre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32461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con colección Arte · Consignación de libros en la feria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49624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A1A2E"/>
          </a:solidFill>
          <a:ln w="12700">
            <a:solidFill>
              <a:srgbClr val="252542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3922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propio — Septiembre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17880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"Ediciones Gamma publica su historia" · 30 invitados · 5 categorías · Coctel de lanzamiento B2B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REDES SOCIALES — INSTAGRAM (OBJ1) · LINKEDIN (OBJ2)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069080" cy="425196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— OBJ 1 Detal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7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 del feed antes del 15 julio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7F3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533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Producto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3472" y="1371600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371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semana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627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editorial fondo neutro · precio · link en bio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02996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7F3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848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Cultural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33472" y="2103120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21031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semana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3591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sobre el artista o chef · sin precio · solo valor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76148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7F3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81635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Aspiracional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33472" y="2834640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33472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semana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0906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libro en ambiente de diseño · para descubrimiento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49300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7F3E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478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diarias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33472" y="3566160"/>
            <a:ext cx="1417320" cy="182880"/>
          </a:xfrm>
          <a:prstGeom prst="roundRect">
            <a:avLst>
              <a:gd name="adj" fmla="val 20000"/>
            </a:avLst>
          </a:prstGeom>
          <a:solidFill>
            <a:srgbClr val="C9A96E">
              <a:alpha val="80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33472" y="35661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8221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directo al producto · rotación todo el catálogo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2519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prioritarios: Unboxing Anuario 2026 · Páginas Abel Rodríguez · Receta Andrés Carne de Res · Video Ethel Gilmour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685800"/>
            <a:ext cx="4069080" cy="4251960"/>
          </a:xfrm>
          <a:prstGeom prst="roundRect">
            <a:avLst>
              <a:gd name="adj" fmla="val 2247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(Nicolas Serna) — OBJ 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1024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del perfil antes del 10 julio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12801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Serie: «Colombia tiene historia»  ·  2 posts/semana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1554480"/>
            <a:ext cx="3749040" cy="420624"/>
          </a:xfrm>
          <a:prstGeom prst="roundRect">
            <a:avLst>
              <a:gd name="adj" fmla="val 13043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1600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Equipo de Mazzanti y su monografía pendiente"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83880" y="1627632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1627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83480" y="180136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Mecánica: nombrar prospectos públicamente genera inbound orgánico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2057400"/>
            <a:ext cx="3749040" cy="420624"/>
          </a:xfrm>
          <a:prstGeom prst="roundRect">
            <a:avLst>
              <a:gd name="adj" fmla="val 13043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chef colombiano entre los 50 mejores del mundo — sin libro"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83880" y="2130552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2130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3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983480" y="230428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Mecánica: nombrar prospectos públicamente genera inbound orgánico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2560320"/>
            <a:ext cx="3749040" cy="420624"/>
          </a:xfrm>
          <a:prstGeom prst="roundRect">
            <a:avLst>
              <a:gd name="adj" fmla="val 13043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2606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"¿Cuánto cuesta publicar un libro en Colombia?"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83880" y="2633472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26334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983480" y="28072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Mecánica: nombrar prospectos públicamente genera inbound orgánico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3063240"/>
            <a:ext cx="3749040" cy="420624"/>
          </a:xfrm>
          <a:prstGeom prst="roundRect">
            <a:avLst>
              <a:gd name="adj" fmla="val 13043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3480" y="3108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"Ecopetrol cumple 75 años. ¿Ya tienen libro?"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83880" y="3136392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31363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983480" y="331012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Mecánica: nombrar prospectos públicamente genera inbound orgánico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46320" y="3566160"/>
            <a:ext cx="3749040" cy="420624"/>
          </a:xfrm>
          <a:prstGeom prst="roundRect">
            <a:avLst>
              <a:gd name="adj" fmla="val 13043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6118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 destinos colombianos que merecen un libro"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183880" y="3639312"/>
            <a:ext cx="320040" cy="256032"/>
          </a:xfrm>
          <a:prstGeom prst="roundRect">
            <a:avLst>
              <a:gd name="adj" fmla="val 14286"/>
            </a:avLst>
          </a:prstGeom>
          <a:solidFill>
            <a:srgbClr val="C9A96E">
              <a:alpha val="85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36393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983480" y="38130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Mecánica: nombrar prospectos públicamente genera inbound orgánico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46320" y="42519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+500 seguidores · 15 reuniones discovery H2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RESPONSABILIDADES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13232"/>
          <a:ext cx="8412480" cy="416052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Persona / Rol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 1 — Venta Catálogo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OBJ 2 — Nuevas Publicaciones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Nicolas Serna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Comercial Libros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Consignación, lotes corporativos, coordinación AXXIS/Diners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Prospectos B2B por categoría, pipeline HubSpot, LinkedIn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Ernesto Rodriguez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 y SEO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Fichas de producto, "Libro del mes" mensual, artículos blog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 landings por categoría, artículos SEO, propuestas PDF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Paola Gordillo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/ Redes Sociales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Parrilla Instagram, stories diarias, campañas estacionales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 "Así se hace un libro" en Instagram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Gráfico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Plantillas feed, bundles, materiales campañas navidenas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propuestas PDF por categoría, 5 landing pages visuales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Camilo / Mateo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Reels unboxing, video Ethel Gilmour, fotos editoriales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del proceso editorial (imprenta, diagramación)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Ramirez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 y Apertura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Supervisión, apertura canal Davivienda y empresas grandes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Apertura puertas ProColombia, gobernaciones, Grupo Bolívar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EJECUCIÓN — JULIO A DICIEMBRE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583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298448" cy="37673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146304" cy="146304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7043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demo físico listo (Jul 10)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146304" cy="146304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Ecopetrol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146304" cy="146304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2374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Restructura feed Instagram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146304" cy="146304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e-commerce completas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146304" cy="146304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87705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Nicolas Serna activo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83080" y="658368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252542"/>
          </a:solidFill>
          <a:ln w="12700">
            <a:solidFill>
              <a:srgbClr val="2525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6583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783080" y="1078992"/>
            <a:ext cx="1298448" cy="37673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74520" y="1261872"/>
            <a:ext cx="146304" cy="146304"/>
          </a:xfrm>
          <a:prstGeom prst="ellipse">
            <a:avLst/>
          </a:prstGeom>
          <a:solidFill>
            <a:srgbClr val="252542"/>
          </a:solidFill>
          <a:ln w="12700">
            <a:solidFill>
              <a:srgbClr val="252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117043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landings OBJ2 publicadas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74520" y="1938528"/>
            <a:ext cx="146304" cy="146304"/>
          </a:xfrm>
          <a:prstGeom prst="ellipse">
            <a:avLst/>
          </a:prstGeom>
          <a:solidFill>
            <a:srgbClr val="252542"/>
          </a:solidFill>
          <a:ln w="12700">
            <a:solidFill>
              <a:srgbClr val="252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18470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Ethel Gilmour grabado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615184"/>
            <a:ext cx="146304" cy="146304"/>
          </a:xfrm>
          <a:prstGeom prst="ellipse">
            <a:avLst/>
          </a:prstGeom>
          <a:solidFill>
            <a:srgbClr val="252542"/>
          </a:solidFill>
          <a:ln w="12700">
            <a:solidFill>
              <a:srgbClr val="2525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252374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El Espectador Cultura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74520" y="3291840"/>
            <a:ext cx="146304" cy="146304"/>
          </a:xfrm>
          <a:prstGeom prst="ellipse">
            <a:avLst/>
          </a:prstGeom>
          <a:solidFill>
            <a:srgbClr val="252542"/>
          </a:solidFill>
          <a:ln w="12700">
            <a:solidFill>
              <a:srgbClr val="252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32004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PDF por categoría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74520" y="3968496"/>
            <a:ext cx="146304" cy="146304"/>
          </a:xfrm>
          <a:prstGeom prst="ellipse">
            <a:avLst/>
          </a:prstGeom>
          <a:solidFill>
            <a:srgbClr val="252542"/>
          </a:solidFill>
          <a:ln w="12700">
            <a:solidFill>
              <a:srgbClr val="252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387705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Campana Amor y Amistad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658368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6583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00400" y="1078992"/>
            <a:ext cx="1298448" cy="37673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1261872"/>
            <a:ext cx="146304" cy="146304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117043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30 invitados OBJ2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1938528"/>
            <a:ext cx="146304" cy="146304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18470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landings restantes live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2615184"/>
            <a:ext cx="146304" cy="146304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52374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1era propuesta OBJ2 enviada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3291840"/>
            <a:ext cx="146304" cy="146304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32004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Inscripción FILBo 2027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3968496"/>
            <a:ext cx="146304" cy="146304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387705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lotes corporativos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658368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6583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617720" y="1078992"/>
            <a:ext cx="1298448" cy="37673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1261872"/>
            <a:ext cx="146304" cy="146304"/>
          </a:xfrm>
          <a:prstGeom prst="ellipse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117043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ARTBO feria arte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09160" y="1938528"/>
            <a:ext cx="146304" cy="146304"/>
          </a:xfrm>
          <a:prstGeom prst="ellipse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8470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Campana regalos ejecutivos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2615184"/>
            <a:ext cx="146304" cy="146304"/>
          </a:xfrm>
          <a:prstGeom prst="ellipse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252374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1era propuesta OBJ2 en cierre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09160" y="3291840"/>
            <a:ext cx="146304" cy="146304"/>
          </a:xfrm>
          <a:prstGeom prst="ellipse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2004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Congreso CAMACOL networking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658368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7A3B3B"/>
          </a:solidFill>
          <a:ln w="12700">
            <a:solidFill>
              <a:srgbClr val="7A3B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6583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035040" y="1078992"/>
            <a:ext cx="1298448" cy="37673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26480" y="1261872"/>
            <a:ext cx="146304" cy="146304"/>
          </a:xfrm>
          <a:prstGeom prst="ellipse">
            <a:avLst/>
          </a:prstGeom>
          <a:solidFill>
            <a:srgbClr val="7A3B3B"/>
          </a:solidFill>
          <a:ln w="12700">
            <a:solidFill>
              <a:srgbClr val="7A3B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09360" y="117043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"12 libros 12 días" IG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26480" y="1938528"/>
            <a:ext cx="146304" cy="146304"/>
          </a:xfrm>
          <a:prstGeom prst="ellipse">
            <a:avLst/>
          </a:prstGeom>
          <a:solidFill>
            <a:srgbClr val="7A3B3B"/>
          </a:solidFill>
          <a:ln w="12700">
            <a:solidFill>
              <a:srgbClr val="7A3B3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18470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Portafolio regalo corp.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2615184"/>
            <a:ext cx="146304" cy="146304"/>
          </a:xfrm>
          <a:prstGeom prst="ellipse">
            <a:avLst/>
          </a:prstGeom>
          <a:solidFill>
            <a:srgbClr val="7A3B3B"/>
          </a:solidFill>
          <a:ln w="12700">
            <a:solidFill>
              <a:srgbClr val="7A3B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9360" y="252374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proyectos OBJ2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26480" y="3291840"/>
            <a:ext cx="146304" cy="146304"/>
          </a:xfrm>
          <a:prstGeom prst="ellipse">
            <a:avLst/>
          </a:prstGeom>
          <a:solidFill>
            <a:srgbClr val="7A3B3B"/>
          </a:solidFill>
          <a:ln w="12700">
            <a:solidFill>
              <a:srgbClr val="7A3B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09360" y="32004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 contactos corp.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52360" y="658368"/>
            <a:ext cx="1298448" cy="384048"/>
          </a:xfrm>
          <a:prstGeom prst="roundRect">
            <a:avLst>
              <a:gd name="adj" fmla="val 1428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52360" y="65836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452360" y="1078992"/>
            <a:ext cx="1298448" cy="376732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543800" y="1261872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26680" y="117043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navideña final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543800" y="1938528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26680" y="18470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KPIs H2 2026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543800" y="2615184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26680" y="252374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2027 (10 prospectos)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43800" y="3291840"/>
            <a:ext cx="146304" cy="146304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26680" y="320040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FILBo 2027 confirmado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65760" y="4773168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292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Alerta crítica: el 25 de agosto Ecopetrol cumple 75 años. Si Gamma no llegó en julio, Villegas ya cerró.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METAS — DICIEMBRE 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1 — Venta Catálogo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25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426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$150M COP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92224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47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IG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0482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 → 1,500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sitio desde IG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670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 → 500/mes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035808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90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Suscriptores email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500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consignación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913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79392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34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corporativos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5354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5 empresas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68580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C9A96E"/>
          </a:solidFill>
          <a:ln w="12700">
            <a:solidFill>
              <a:srgbClr val="A07840"/>
            </a:solidFill>
            <a:prstDash val="solid"/>
          </a:ln>
          <a:effectLst>
            <a:outerShdw sx="100000" sy="100000" kx="0" ky="0" algn="bl" rotWithShape="0" blurRad="889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777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2 — Nuevas Publicaciones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1170432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B8924A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225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14264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$200M COP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83480" y="1792224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B8924A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18470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cerrados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0482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2 –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2414016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B8924A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discovery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26700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15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83480" y="3035808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B8924A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0906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enviadas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329184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8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83480" y="3657600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B8924A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37124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inbound web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39136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→ 10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83480" y="4279392"/>
            <a:ext cx="3566160" cy="512064"/>
          </a:xfrm>
          <a:prstGeom prst="roundRect">
            <a:avLst>
              <a:gd name="adj" fmla="val 10714"/>
            </a:avLst>
          </a:prstGeom>
          <a:solidFill>
            <a:srgbClr val="B8924A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334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LinkedIn Nicolas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45354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ESTIMADO H2 2026 — $24M COP (~6.8% DEL TARGET DE REVENUE)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13232"/>
          <a:ext cx="4389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877824"/>
            <a:ext cx="274320" cy="2743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85232" y="841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Pauta digital Meta Ads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841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13648" y="8412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0" y="1353312"/>
            <a:ext cx="4206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517904"/>
            <a:ext cx="274320" cy="274320"/>
          </a:xfrm>
          <a:prstGeom prst="ellipse">
            <a:avLst/>
          </a:prstGeom>
          <a:solidFill>
            <a:srgbClr val="A07840"/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85232" y="1481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contenido (videos, fotos)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14813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13648" y="14813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37760" y="1993392"/>
            <a:ext cx="4206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37760" y="2157984"/>
            <a:ext cx="274320" cy="274320"/>
          </a:xfrm>
          <a:prstGeom prst="ellipse">
            <a:avLst/>
          </a:prstGeom>
          <a:solidFill>
            <a:srgbClr val="5C4B8A"/>
          </a:solidFill>
          <a:ln w="12700">
            <a:solidFill>
              <a:srgbClr val="5C4B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85232" y="2121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OBJ2 "Ediciones Gamma publica su historia"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55280" y="2121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$5M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613648" y="21214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2633472"/>
            <a:ext cx="4206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37760" y="2798064"/>
            <a:ext cx="274320" cy="274320"/>
          </a:xfrm>
          <a:prstGeom prst="ellipse">
            <a:avLst/>
          </a:prstGeom>
          <a:solidFill>
            <a:srgbClr val="7A3B3B"/>
          </a:solidFill>
          <a:ln w="12700">
            <a:solidFill>
              <a:srgbClr val="7A3B3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85232" y="2761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ventas OBJ2 (brochures + kit)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55280" y="27614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613648" y="27614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937760" y="3273552"/>
            <a:ext cx="4206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3438144"/>
            <a:ext cx="274320" cy="2743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85232" y="34015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ARTBO feria de arte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955280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$2.5M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613648" y="34015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937760" y="3913632"/>
            <a:ext cx="4206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37760" y="4078224"/>
            <a:ext cx="274320" cy="274320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85232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puntos de consignación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955280" y="40416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$1.5M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613648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37760" y="4681728"/>
            <a:ext cx="411480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74920" y="4681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 proyecto OBJ2 de $80M = retorno 16x sobre el presupuesto total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Villegas no tiene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Villegas Editores = competidor principal · 50 años · "la editorial oficial de Colombia"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revistas premium con 20,000+ lectores — Villegas no tiene medios propios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57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Anunciantes de AXXIS y Diners ya confían en Gamma — upsell natural para OBJ2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arquitecto que aparece en AXXIS es el prospecto natural de OBJ2 Arquitectura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15468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chef que aparece en Diners es el prospecto natural de OBJ2 Cocina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1304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digital propia + newsletter con audiencia cualificada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C9A96E">
              <a:alpha val="88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0624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"Villegas entrega un libro en una caja. Nosotros entregamos el libro y lo ponemos en circulación."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C9A96E">
              <a:alpha val="9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Acciones Antes del 15 de Julio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89888"/>
            <a:ext cx="402336" cy="40233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3350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físico de demostración listo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353312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2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35331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03720" y="1353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+ Nicolas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160934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libros del catálogo + brochure por categoría · Lina + Nicolas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121408"/>
            <a:ext cx="402336" cy="40233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0665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contacto Ecopetrol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60720" y="2084832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2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20848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+ Nicolas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234086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años el 25 de agosto — Villegas ya va a proponer. Hay que llegar primero.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2852928"/>
            <a:ext cx="402336" cy="40233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27980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perfil LinkedIn Nicolas Serna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2816352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2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28163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03720" y="2816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307238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Headline, banner y sección Acerca de orientados a OBJ2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3584448"/>
            <a:ext cx="402336" cy="40233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84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35295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Restructura feed Instagram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60720" y="3547872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2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354787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03720" y="354787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 + Paola 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24128" y="380390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visual + 3 plantillas fijas (Producto / Cultural / Aspiracional)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20624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252542"/>
          </a:solidFill>
          <a:ln w="12700">
            <a:solidFill>
              <a:srgbClr val="2E2E4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920" y="4315968"/>
            <a:ext cx="402336" cy="402336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024128" y="426110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fichas e-commerce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60720" y="4279392"/>
            <a:ext cx="1051560" cy="201168"/>
          </a:xfrm>
          <a:prstGeom prst="roundRect">
            <a:avLst>
              <a:gd name="adj" fmla="val 18182"/>
            </a:avLst>
          </a:prstGeom>
          <a:solidFill>
            <a:srgbClr val="C9A96E">
              <a:alpha val="82000"/>
            </a:srgbClr>
          </a:solidFill>
          <a:ln w="12700">
            <a:solidFill>
              <a:srgbClr val="A078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42793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31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42793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Ernesto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24128" y="453542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títulos sin año, ISBN ni descripción editorial — OBJ1 no funciona sin esto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Estratégico Libros H2 2026 — Ediciones Gamma</dc:title>
  <dc:subject>PptxGenJS Presentation</dc:subject>
  <dc:creator>Ediciones Gamma</dc:creator>
  <cp:lastModifiedBy>Ediciones Gamma</cp:lastModifiedBy>
  <cp:revision>1</cp:revision>
  <dcterms:created xsi:type="dcterms:W3CDTF">2026-06-22T09:21:00Z</dcterms:created>
  <dcterms:modified xsi:type="dcterms:W3CDTF">2026-06-22T09:21:00Z</dcterms:modified>
</cp:coreProperties>
</file>