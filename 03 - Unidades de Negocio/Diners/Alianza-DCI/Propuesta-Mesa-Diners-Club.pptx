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tada.jpg"/>
          <p:cNvPicPr>
            <a:picLocks noChangeAspect="1"/>
          </p:cNvPicPr>
          <p:nvPr/>
        </p:nvPicPr>
        <p:blipFill>
          <a:blip r:embed="rId2"/>
          <a:stretch>
            <a:fillRect/>
          </a:stretch>
        </p:blipFill>
        <p:spPr>
          <a:xfrm>
            <a:off x="6903720" y="0"/>
            <a:ext cx="5285232" cy="6858000"/>
          </a:xfrm>
          <a:prstGeom prst="rect">
            <a:avLst/>
          </a:prstGeom>
        </p:spPr>
      </p:pic>
      <p:sp>
        <p:nvSpPr>
          <p:cNvPr id="4" name="Rectangle 3"/>
          <p:cNvSpPr/>
          <p:nvPr/>
        </p:nvSpPr>
        <p:spPr>
          <a:xfrm>
            <a:off x="6903720" y="0"/>
            <a:ext cx="5285232" cy="6858000"/>
          </a:xfrm>
          <a:prstGeom prst="rect">
            <a:avLst/>
          </a:prstGeom>
          <a:solidFill>
            <a:srgbClr val="0A254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78040" y="5486400"/>
            <a:ext cx="4736592" cy="914400"/>
          </a:xfrm>
          <a:prstGeom prst="rect">
            <a:avLst/>
          </a:prstGeom>
          <a:noFill/>
        </p:spPr>
        <p:txBody>
          <a:bodyPr wrap="square" lIns="0" rIns="0" tIns="0" bIns="0" anchor="b">
            <a:spAutoFit/>
          </a:bodyPr>
          <a:lstStyle/>
          <a:p>
            <a:pPr algn="l">
              <a:lnSpc>
                <a:spcPct val="114000"/>
              </a:lnSpc>
              <a:spcAft>
                <a:spcPts val="0"/>
              </a:spcAft>
            </a:pPr>
            <a:r>
              <a:rPr sz="1900" b="0">
                <a:solidFill>
                  <a:srgbClr val="FFFFFF"/>
                </a:solidFill>
                <a:latin typeface="Georgia"/>
              </a:rPr>
              <a:t>La tarjeta que inventó
la idea de pertenecer</a:t>
            </a:r>
          </a:p>
        </p:txBody>
      </p:sp>
      <p:sp>
        <p:nvSpPr>
          <p:cNvPr id="6" name="TextBox 5"/>
          <p:cNvSpPr txBox="1"/>
          <p:nvPr/>
        </p:nvSpPr>
        <p:spPr>
          <a:xfrm>
            <a:off x="7178040" y="6400800"/>
            <a:ext cx="4736592" cy="274320"/>
          </a:xfrm>
          <a:prstGeom prst="rect">
            <a:avLst/>
          </a:prstGeom>
          <a:noFill/>
        </p:spPr>
        <p:txBody>
          <a:bodyPr wrap="square" lIns="0" rIns="0" tIns="0" bIns="0" anchor="t">
            <a:spAutoFit/>
          </a:bodyPr>
          <a:lstStyle/>
          <a:p>
            <a:pPr algn="l">
              <a:lnSpc>
                <a:spcPct val="108000"/>
              </a:lnSpc>
              <a:spcAft>
                <a:spcPts val="0"/>
              </a:spcAft>
            </a:pPr>
            <a:r>
              <a:rPr sz="850" b="0">
                <a:solidFill>
                  <a:srgbClr val="C9CED6"/>
                </a:solidFill>
                <a:latin typeface="Helvetica Neue"/>
              </a:rPr>
              <a:t>NUEVA YORK, 1950 · BOGOTÁ, 1963</a:t>
            </a:r>
          </a:p>
        </p:txBody>
      </p:sp>
      <p:sp>
        <p:nvSpPr>
          <p:cNvPr id="7" name="TextBox 6"/>
          <p:cNvSpPr txBox="1"/>
          <p:nvPr/>
        </p:nvSpPr>
        <p:spPr>
          <a:xfrm>
            <a:off x="777240" y="68580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DINERS CLUB INTERNATIONAL &amp; EDICIONES GAMMA</a:t>
            </a:r>
          </a:p>
        </p:txBody>
      </p:sp>
      <p:sp>
        <p:nvSpPr>
          <p:cNvPr id="8" name="TextBox 7"/>
          <p:cNvSpPr txBox="1"/>
          <p:nvPr/>
        </p:nvSpPr>
        <p:spPr>
          <a:xfrm>
            <a:off x="777240" y="1143000"/>
            <a:ext cx="5669280" cy="1280160"/>
          </a:xfrm>
          <a:prstGeom prst="rect">
            <a:avLst/>
          </a:prstGeom>
          <a:noFill/>
        </p:spPr>
        <p:txBody>
          <a:bodyPr wrap="square" lIns="0" rIns="0" tIns="0" bIns="0" anchor="t">
            <a:spAutoFit/>
          </a:bodyPr>
          <a:lstStyle/>
          <a:p>
            <a:pPr algn="l">
              <a:lnSpc>
                <a:spcPct val="102000"/>
              </a:lnSpc>
              <a:spcAft>
                <a:spcPts val="0"/>
              </a:spcAft>
            </a:pPr>
            <a:r>
              <a:rPr sz="4000" b="0">
                <a:solidFill>
                  <a:srgbClr val="0A2540"/>
                </a:solidFill>
                <a:latin typeface="Georgia"/>
              </a:rPr>
              <a:t>Medios y experiencias:
una propuesta de
tres capas</a:t>
            </a:r>
          </a:p>
        </p:txBody>
      </p:sp>
      <p:sp>
        <p:nvSpPr>
          <p:cNvPr id="9" name="TextBox 8"/>
          <p:cNvSpPr txBox="1"/>
          <p:nvPr/>
        </p:nvSpPr>
        <p:spPr>
          <a:xfrm>
            <a:off x="777240" y="3566160"/>
            <a:ext cx="5577840" cy="914400"/>
          </a:xfrm>
          <a:prstGeom prst="rect">
            <a:avLst/>
          </a:prstGeom>
          <a:noFill/>
        </p:spPr>
        <p:txBody>
          <a:bodyPr wrap="square" lIns="0" rIns="0" tIns="0" bIns="0" anchor="t">
            <a:spAutoFit/>
          </a:bodyPr>
          <a:lstStyle/>
          <a:p>
            <a:pPr algn="l">
              <a:lnSpc>
                <a:spcPct val="130000"/>
              </a:lnSpc>
              <a:spcAft>
                <a:spcPts val="0"/>
              </a:spcAft>
            </a:pPr>
            <a:r>
              <a:rPr sz="1100" b="0">
                <a:solidFill>
                  <a:srgbClr val="75808F"/>
                </a:solidFill>
                <a:latin typeface="Helvetica Neue"/>
              </a:rPr>
              <a:t>Respuesta al direccionamiento de combinar medios con experiencias, activar mecánicas como Modo Tasty y construir una colección curada. Tres paquetes, un año de operación.</a:t>
            </a:r>
          </a:p>
        </p:txBody>
      </p:sp>
      <p:sp>
        <p:nvSpPr>
          <p:cNvPr id="10" name="Rectangle 9"/>
          <p:cNvSpPr/>
          <p:nvPr/>
        </p:nvSpPr>
        <p:spPr>
          <a:xfrm>
            <a:off x="777240" y="4709160"/>
            <a:ext cx="1828800" cy="105156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4873752"/>
            <a:ext cx="1600200" cy="411480"/>
          </a:xfrm>
          <a:prstGeom prst="rect">
            <a:avLst/>
          </a:prstGeom>
          <a:noFill/>
        </p:spPr>
        <p:txBody>
          <a:bodyPr wrap="square" lIns="0" rIns="0" tIns="0" bIns="0" anchor="t">
            <a:spAutoFit/>
          </a:bodyPr>
          <a:lstStyle/>
          <a:p>
            <a:pPr algn="l">
              <a:lnSpc>
                <a:spcPct val="108000"/>
              </a:lnSpc>
              <a:spcAft>
                <a:spcPts val="0"/>
              </a:spcAft>
            </a:pPr>
            <a:r>
              <a:rPr sz="1900" b="1">
                <a:solidFill>
                  <a:srgbClr val="0A2540"/>
                </a:solidFill>
                <a:latin typeface="Georgia"/>
              </a:rPr>
              <a:t>169K</a:t>
            </a:r>
          </a:p>
        </p:txBody>
      </p:sp>
      <p:sp>
        <p:nvSpPr>
          <p:cNvPr id="12" name="TextBox 11"/>
          <p:cNvSpPr txBox="1"/>
          <p:nvPr/>
        </p:nvSpPr>
        <p:spPr>
          <a:xfrm>
            <a:off x="923544" y="5321808"/>
            <a:ext cx="1600200" cy="365760"/>
          </a:xfrm>
          <a:prstGeom prst="rect">
            <a:avLst/>
          </a:prstGeom>
          <a:noFill/>
        </p:spPr>
        <p:txBody>
          <a:bodyPr wrap="square" lIns="0" rIns="0" tIns="0" bIns="0" anchor="t">
            <a:spAutoFit/>
          </a:bodyPr>
          <a:lstStyle/>
          <a:p>
            <a:pPr algn="l">
              <a:lnSpc>
                <a:spcPct val="120000"/>
              </a:lnSpc>
              <a:spcAft>
                <a:spcPts val="0"/>
              </a:spcAft>
            </a:pPr>
            <a:r>
              <a:rPr sz="750" b="0">
                <a:solidFill>
                  <a:srgbClr val="75808F"/>
                </a:solidFill>
                <a:latin typeface="Helvetica Neue"/>
              </a:rPr>
              <a:t>Tarjetahabientes · 18.4K Black</a:t>
            </a:r>
          </a:p>
        </p:txBody>
      </p:sp>
      <p:sp>
        <p:nvSpPr>
          <p:cNvPr id="13" name="Rectangle 12"/>
          <p:cNvSpPr/>
          <p:nvPr/>
        </p:nvSpPr>
        <p:spPr>
          <a:xfrm>
            <a:off x="2743200" y="4709160"/>
            <a:ext cx="1828800" cy="105156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4873752"/>
            <a:ext cx="1600200" cy="411480"/>
          </a:xfrm>
          <a:prstGeom prst="rect">
            <a:avLst/>
          </a:prstGeom>
          <a:noFill/>
        </p:spPr>
        <p:txBody>
          <a:bodyPr wrap="square" lIns="0" rIns="0" tIns="0" bIns="0" anchor="t">
            <a:spAutoFit/>
          </a:bodyPr>
          <a:lstStyle/>
          <a:p>
            <a:pPr algn="l">
              <a:lnSpc>
                <a:spcPct val="108000"/>
              </a:lnSpc>
              <a:spcAft>
                <a:spcPts val="0"/>
              </a:spcAft>
            </a:pPr>
            <a:r>
              <a:rPr sz="1900" b="1">
                <a:solidFill>
                  <a:srgbClr val="0A2540"/>
                </a:solidFill>
                <a:latin typeface="Georgia"/>
              </a:rPr>
              <a:t>1.133.000</a:t>
            </a:r>
          </a:p>
        </p:txBody>
      </p:sp>
      <p:sp>
        <p:nvSpPr>
          <p:cNvPr id="15" name="TextBox 14"/>
          <p:cNvSpPr txBox="1"/>
          <p:nvPr/>
        </p:nvSpPr>
        <p:spPr>
          <a:xfrm>
            <a:off x="2889504" y="5321808"/>
            <a:ext cx="1600200" cy="365760"/>
          </a:xfrm>
          <a:prstGeom prst="rect">
            <a:avLst/>
          </a:prstGeom>
          <a:noFill/>
        </p:spPr>
        <p:txBody>
          <a:bodyPr wrap="square" lIns="0" rIns="0" tIns="0" bIns="0" anchor="t">
            <a:spAutoFit/>
          </a:bodyPr>
          <a:lstStyle/>
          <a:p>
            <a:pPr algn="l">
              <a:lnSpc>
                <a:spcPct val="120000"/>
              </a:lnSpc>
              <a:spcAft>
                <a:spcPts val="0"/>
              </a:spcAft>
            </a:pPr>
            <a:r>
              <a:rPr sz="750" b="0">
                <a:solidFill>
                  <a:srgbClr val="75808F"/>
                </a:solidFill>
                <a:latin typeface="Helvetica Neue"/>
              </a:rPr>
              <a:t>Alcance mensual</a:t>
            </a:r>
          </a:p>
        </p:txBody>
      </p:sp>
      <p:sp>
        <p:nvSpPr>
          <p:cNvPr id="16" name="Rectangle 15"/>
          <p:cNvSpPr/>
          <p:nvPr/>
        </p:nvSpPr>
        <p:spPr>
          <a:xfrm>
            <a:off x="4709159" y="4709160"/>
            <a:ext cx="1828800" cy="105156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4873752"/>
            <a:ext cx="1600200" cy="411480"/>
          </a:xfrm>
          <a:prstGeom prst="rect">
            <a:avLst/>
          </a:prstGeom>
          <a:noFill/>
        </p:spPr>
        <p:txBody>
          <a:bodyPr wrap="square" lIns="0" rIns="0" tIns="0" bIns="0" anchor="t">
            <a:spAutoFit/>
          </a:bodyPr>
          <a:lstStyle/>
          <a:p>
            <a:pPr algn="l">
              <a:lnSpc>
                <a:spcPct val="108000"/>
              </a:lnSpc>
              <a:spcAft>
                <a:spcPts val="0"/>
              </a:spcAft>
            </a:pPr>
            <a:r>
              <a:rPr sz="1900" b="1">
                <a:solidFill>
                  <a:srgbClr val="0A2540"/>
                </a:solidFill>
                <a:latin typeface="Georgia"/>
              </a:rPr>
              <a:t>146.000</a:t>
            </a:r>
          </a:p>
        </p:txBody>
      </p:sp>
      <p:sp>
        <p:nvSpPr>
          <p:cNvPr id="18" name="TextBox 17"/>
          <p:cNvSpPr txBox="1"/>
          <p:nvPr/>
        </p:nvSpPr>
        <p:spPr>
          <a:xfrm>
            <a:off x="4855464" y="5321808"/>
            <a:ext cx="1600200" cy="365760"/>
          </a:xfrm>
          <a:prstGeom prst="rect">
            <a:avLst/>
          </a:prstGeom>
          <a:noFill/>
        </p:spPr>
        <p:txBody>
          <a:bodyPr wrap="square" lIns="0" rIns="0" tIns="0" bIns="0" anchor="t">
            <a:spAutoFit/>
          </a:bodyPr>
          <a:lstStyle/>
          <a:p>
            <a:pPr algn="l">
              <a:lnSpc>
                <a:spcPct val="120000"/>
              </a:lnSpc>
              <a:spcAft>
                <a:spcPts val="0"/>
              </a:spcAft>
            </a:pPr>
            <a:r>
              <a:rPr sz="750" b="0">
                <a:solidFill>
                  <a:srgbClr val="75808F"/>
                </a:solidFill>
                <a:latin typeface="Helvetica Neue"/>
              </a:rPr>
              <a:t>Suscriptores de la revista</a:t>
            </a:r>
          </a:p>
        </p:txBody>
      </p:sp>
      <p:sp>
        <p:nvSpPr>
          <p:cNvPr id="19" name="TextBox 18"/>
          <p:cNvSpPr txBox="1"/>
          <p:nvPr/>
        </p:nvSpPr>
        <p:spPr>
          <a:xfrm>
            <a:off x="777240" y="6291072"/>
            <a:ext cx="5486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EDICIONES GAMMA · DOCUMENTO CONFIDENCIAL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LA ARQUITECTURA</a:t>
            </a:r>
          </a:p>
        </p:txBody>
      </p:sp>
      <p:sp>
        <p:nvSpPr>
          <p:cNvPr id="4" name="TextBox 3"/>
          <p:cNvSpPr txBox="1"/>
          <p:nvPr/>
        </p:nvSpPr>
        <p:spPr>
          <a:xfrm>
            <a:off x="777240" y="960120"/>
            <a:ext cx="7863840" cy="1280160"/>
          </a:xfrm>
          <a:prstGeom prst="rect">
            <a:avLst/>
          </a:prstGeom>
          <a:noFill/>
        </p:spPr>
        <p:txBody>
          <a:bodyPr wrap="square" lIns="0" rIns="0" tIns="0" bIns="0" anchor="t">
            <a:spAutoFit/>
          </a:bodyPr>
          <a:lstStyle/>
          <a:p>
            <a:pPr algn="l">
              <a:lnSpc>
                <a:spcPct val="102000"/>
              </a:lnSpc>
              <a:spcAft>
                <a:spcPts val="0"/>
              </a:spcAft>
            </a:pPr>
            <a:r>
              <a:rPr sz="3400" b="0">
                <a:solidFill>
                  <a:srgbClr val="0A2540"/>
                </a:solidFill>
                <a:latin typeface="Georgia"/>
              </a:rPr>
              <a:t>Las tres capas</a:t>
            </a:r>
          </a:p>
        </p:txBody>
      </p:sp>
      <p:sp>
        <p:nvSpPr>
          <p:cNvPr id="5" name="Rectangle 4"/>
          <p:cNvSpPr/>
          <p:nvPr/>
        </p:nvSpPr>
        <p:spPr>
          <a:xfrm>
            <a:off x="777240" y="1783080"/>
            <a:ext cx="10637215"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10058400" cy="502920"/>
          </a:xfrm>
          <a:prstGeom prst="rect">
            <a:avLst/>
          </a:prstGeom>
          <a:noFill/>
        </p:spPr>
        <p:txBody>
          <a:bodyPr wrap="square" lIns="0" rIns="0" tIns="0" bIns="0" anchor="t">
            <a:spAutoFit/>
          </a:bodyPr>
          <a:lstStyle/>
          <a:p>
            <a:pPr algn="l">
              <a:lnSpc>
                <a:spcPct val="130000"/>
              </a:lnSpc>
              <a:spcAft>
                <a:spcPts val="0"/>
              </a:spcAft>
            </a:pPr>
            <a:r>
              <a:rPr sz="1100" b="0">
                <a:solidFill>
                  <a:srgbClr val="75808F"/>
                </a:solidFill>
                <a:latin typeface="Helvetica Neue"/>
              </a:rPr>
              <a:t>Medios y experiencias no son dos líneas separadas de un presupuesto. Son tres capas que se refuerzan: una da el beneficio, otra lo hace descubrible y la tercera da estatus. Ninguna funciona sola.</a:t>
            </a:r>
          </a:p>
        </p:txBody>
      </p:sp>
      <p:sp>
        <p:nvSpPr>
          <p:cNvPr id="7" name="Rectangle 6"/>
          <p:cNvSpPr/>
          <p:nvPr/>
        </p:nvSpPr>
        <p:spPr>
          <a:xfrm>
            <a:off x="777240" y="2697480"/>
            <a:ext cx="3401568" cy="33375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852928"/>
            <a:ext cx="3017520" cy="411480"/>
          </a:xfrm>
          <a:prstGeom prst="rect">
            <a:avLst/>
          </a:prstGeom>
          <a:noFill/>
        </p:spPr>
        <p:txBody>
          <a:bodyPr wrap="square" lIns="0" rIns="0" tIns="0" bIns="0" anchor="t">
            <a:spAutoFit/>
          </a:bodyPr>
          <a:lstStyle/>
          <a:p>
            <a:pPr algn="l">
              <a:lnSpc>
                <a:spcPct val="108000"/>
              </a:lnSpc>
              <a:spcAft>
                <a:spcPts val="0"/>
              </a:spcAft>
            </a:pPr>
            <a:r>
              <a:rPr sz="2000" b="1">
                <a:solidFill>
                  <a:srgbClr val="D2A855"/>
                </a:solidFill>
                <a:latin typeface="Helvetica Neue"/>
              </a:rPr>
              <a:t>01</a:t>
            </a:r>
          </a:p>
        </p:txBody>
      </p:sp>
      <p:sp>
        <p:nvSpPr>
          <p:cNvPr id="9" name="TextBox 8"/>
          <p:cNvSpPr txBox="1"/>
          <p:nvPr/>
        </p:nvSpPr>
        <p:spPr>
          <a:xfrm>
            <a:off x="978408" y="3310128"/>
            <a:ext cx="3017520" cy="182880"/>
          </a:xfrm>
          <a:prstGeom prst="rect">
            <a:avLst/>
          </a:prstGeom>
          <a:noFill/>
        </p:spPr>
        <p:txBody>
          <a:bodyPr wrap="square" lIns="0" rIns="0" tIns="0" bIns="0" anchor="t">
            <a:spAutoFit/>
          </a:bodyPr>
          <a:lstStyle/>
          <a:p>
            <a:pPr algn="l">
              <a:lnSpc>
                <a:spcPct val="108000"/>
              </a:lnSpc>
              <a:spcAft>
                <a:spcPts val="0"/>
              </a:spcAft>
            </a:pPr>
            <a:r>
              <a:rPr sz="750" b="1">
                <a:solidFill>
                  <a:srgbClr val="D2A855"/>
                </a:solidFill>
                <a:latin typeface="Helvetica Neue"/>
              </a:rPr>
              <a:t>EL BENEFICIO</a:t>
            </a:r>
          </a:p>
        </p:txBody>
      </p:sp>
      <p:sp>
        <p:nvSpPr>
          <p:cNvPr id="10" name="TextBox 9"/>
          <p:cNvSpPr txBox="1"/>
          <p:nvPr/>
        </p:nvSpPr>
        <p:spPr>
          <a:xfrm>
            <a:off x="978408" y="3529584"/>
            <a:ext cx="3017520" cy="457200"/>
          </a:xfrm>
          <a:prstGeom prst="rect">
            <a:avLst/>
          </a:prstGeom>
          <a:noFill/>
        </p:spPr>
        <p:txBody>
          <a:bodyPr wrap="square" lIns="0" rIns="0" tIns="0" bIns="0" anchor="t">
            <a:spAutoFit/>
          </a:bodyPr>
          <a:lstStyle/>
          <a:p>
            <a:pPr algn="l">
              <a:lnSpc>
                <a:spcPct val="106000"/>
              </a:lnSpc>
              <a:spcAft>
                <a:spcPts val="0"/>
              </a:spcAft>
            </a:pPr>
            <a:r>
              <a:rPr sz="1400" b="1">
                <a:solidFill>
                  <a:srgbClr val="FFFFFF"/>
                </a:solidFill>
                <a:latin typeface="Georgia"/>
              </a:rPr>
              <a:t>Mesa Diners Club</a:t>
            </a:r>
          </a:p>
        </p:txBody>
      </p:sp>
      <p:sp>
        <p:nvSpPr>
          <p:cNvPr id="11" name="TextBox 10"/>
          <p:cNvSpPr txBox="1"/>
          <p:nvPr/>
        </p:nvSpPr>
        <p:spPr>
          <a:xfrm>
            <a:off x="978408" y="4041648"/>
            <a:ext cx="3017520" cy="868680"/>
          </a:xfrm>
          <a:prstGeom prst="rect">
            <a:avLst/>
          </a:prstGeom>
          <a:noFill/>
        </p:spPr>
        <p:txBody>
          <a:bodyPr wrap="square" lIns="0" rIns="0" tIns="0" bIns="0" anchor="t">
            <a:spAutoFit/>
          </a:bodyPr>
          <a:lstStyle/>
          <a:p>
            <a:pPr algn="l">
              <a:lnSpc>
                <a:spcPct val="126000"/>
              </a:lnSpc>
              <a:spcAft>
                <a:spcPts val="0"/>
              </a:spcAft>
            </a:pPr>
            <a:r>
              <a:rPr sz="900" b="0">
                <a:solidFill>
                  <a:srgbClr val="D8DDE4"/>
                </a:solidFill>
                <a:latin typeface="Helvetica Neue"/>
              </a:rPr>
              <a:t>El beneficio gastronómico recurrente. Da una razón concreta para usar la tarjeta en una fecha previsible, sobre una lista curada de aliados verificados.</a:t>
            </a:r>
          </a:p>
        </p:txBody>
      </p:sp>
      <p:sp>
        <p:nvSpPr>
          <p:cNvPr id="12" name="TextBox 11"/>
          <p:cNvSpPr txBox="1"/>
          <p:nvPr/>
        </p:nvSpPr>
        <p:spPr>
          <a:xfrm>
            <a:off x="978408" y="5029200"/>
            <a:ext cx="3017520" cy="914400"/>
          </a:xfrm>
          <a:prstGeom prst="rect">
            <a:avLst/>
          </a:prstGeom>
          <a:noFill/>
        </p:spPr>
        <p:txBody>
          <a:bodyPr wrap="square" lIns="0" rIns="0" tIns="0" bIns="0" anchor="t">
            <a:spAutoFit/>
          </a:bodyPr>
          <a:lstStyle/>
          <a:p>
            <a:pPr algn="l">
              <a:lnSpc>
                <a:spcPct val="120000"/>
              </a:lnSpc>
              <a:spcAft>
                <a:spcPts val="350"/>
              </a:spcAft>
            </a:pPr>
            <a:r>
              <a:rPr sz="900" b="0">
                <a:solidFill>
                  <a:srgbClr val="D8DDE4"/>
                </a:solidFill>
                <a:latin typeface="Helvetica Neue"/>
              </a:rPr>
              <a:t>•  Día fijo semanal</a:t>
            </a:r>
          </a:p>
          <a:p>
            <a:pPr algn="l">
              <a:lnSpc>
                <a:spcPct val="120000"/>
              </a:lnSpc>
              <a:spcAft>
                <a:spcPts val="350"/>
              </a:spcAft>
            </a:pPr>
            <a:r>
              <a:rPr sz="900" b="0">
                <a:solidFill>
                  <a:srgbClr val="D8DDE4"/>
                </a:solidFill>
                <a:latin typeface="Helvetica Neue"/>
              </a:rPr>
              <a:t>•  Restaurantes con datáfono verificado</a:t>
            </a:r>
          </a:p>
          <a:p>
            <a:pPr algn="l">
              <a:lnSpc>
                <a:spcPct val="120000"/>
              </a:lnSpc>
              <a:spcAft>
                <a:spcPts val="350"/>
              </a:spcAft>
            </a:pPr>
            <a:r>
              <a:rPr sz="900" b="0">
                <a:solidFill>
                  <a:srgbClr val="D8DDE4"/>
                </a:solidFill>
                <a:latin typeface="Helvetica Neue"/>
              </a:rPr>
              <a:t>•  Bogotá en el año uno</a:t>
            </a:r>
          </a:p>
        </p:txBody>
      </p:sp>
      <p:sp>
        <p:nvSpPr>
          <p:cNvPr id="13" name="Rectangle 12"/>
          <p:cNvSpPr/>
          <p:nvPr/>
        </p:nvSpPr>
        <p:spPr>
          <a:xfrm>
            <a:off x="4370832" y="2697480"/>
            <a:ext cx="3401568" cy="33375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852928"/>
            <a:ext cx="3017520" cy="411480"/>
          </a:xfrm>
          <a:prstGeom prst="rect">
            <a:avLst/>
          </a:prstGeom>
          <a:noFill/>
        </p:spPr>
        <p:txBody>
          <a:bodyPr wrap="square" lIns="0" rIns="0" tIns="0" bIns="0" anchor="t">
            <a:spAutoFit/>
          </a:bodyPr>
          <a:lstStyle/>
          <a:p>
            <a:pPr algn="l">
              <a:lnSpc>
                <a:spcPct val="108000"/>
              </a:lnSpc>
              <a:spcAft>
                <a:spcPts val="0"/>
              </a:spcAft>
            </a:pPr>
            <a:r>
              <a:rPr sz="2000" b="1">
                <a:solidFill>
                  <a:srgbClr val="D2A855"/>
                </a:solidFill>
                <a:latin typeface="Helvetica Neue"/>
              </a:rPr>
              <a:t>02</a:t>
            </a:r>
          </a:p>
        </p:txBody>
      </p:sp>
      <p:sp>
        <p:nvSpPr>
          <p:cNvPr id="15" name="TextBox 14"/>
          <p:cNvSpPr txBox="1"/>
          <p:nvPr/>
        </p:nvSpPr>
        <p:spPr>
          <a:xfrm>
            <a:off x="4572000" y="3310128"/>
            <a:ext cx="3017520" cy="182880"/>
          </a:xfrm>
          <a:prstGeom prst="rect">
            <a:avLst/>
          </a:prstGeom>
          <a:noFill/>
        </p:spPr>
        <p:txBody>
          <a:bodyPr wrap="square" lIns="0" rIns="0" tIns="0" bIns="0" anchor="t">
            <a:spAutoFit/>
          </a:bodyPr>
          <a:lstStyle/>
          <a:p>
            <a:pPr algn="l">
              <a:lnSpc>
                <a:spcPct val="108000"/>
              </a:lnSpc>
              <a:spcAft>
                <a:spcPts val="0"/>
              </a:spcAft>
            </a:pPr>
            <a:r>
              <a:rPr sz="750" b="1">
                <a:solidFill>
                  <a:srgbClr val="D2A855"/>
                </a:solidFill>
                <a:latin typeface="Helvetica Neue"/>
              </a:rPr>
              <a:t>EL DESCUBRIMIENTO</a:t>
            </a:r>
          </a:p>
        </p:txBody>
      </p:sp>
      <p:sp>
        <p:nvSpPr>
          <p:cNvPr id="16" name="TextBox 15"/>
          <p:cNvSpPr txBox="1"/>
          <p:nvPr/>
        </p:nvSpPr>
        <p:spPr>
          <a:xfrm>
            <a:off x="4572000" y="3529584"/>
            <a:ext cx="3017520" cy="457200"/>
          </a:xfrm>
          <a:prstGeom prst="rect">
            <a:avLst/>
          </a:prstGeom>
          <a:noFill/>
        </p:spPr>
        <p:txBody>
          <a:bodyPr wrap="square" lIns="0" rIns="0" tIns="0" bIns="0" anchor="t">
            <a:spAutoFit/>
          </a:bodyPr>
          <a:lstStyle/>
          <a:p>
            <a:pPr algn="l">
              <a:lnSpc>
                <a:spcPct val="106000"/>
              </a:lnSpc>
              <a:spcAft>
                <a:spcPts val="0"/>
              </a:spcAft>
            </a:pPr>
            <a:r>
              <a:rPr sz="1400" b="1">
                <a:solidFill>
                  <a:srgbClr val="FFFFFF"/>
                </a:solidFill>
                <a:latin typeface="Georgia"/>
              </a:rPr>
              <a:t>La Mesa Diners</a:t>
            </a:r>
          </a:p>
        </p:txBody>
      </p:sp>
      <p:sp>
        <p:nvSpPr>
          <p:cNvPr id="17" name="TextBox 16"/>
          <p:cNvSpPr txBox="1"/>
          <p:nvPr/>
        </p:nvSpPr>
        <p:spPr>
          <a:xfrm>
            <a:off x="4572000" y="4041648"/>
            <a:ext cx="3017520" cy="868680"/>
          </a:xfrm>
          <a:prstGeom prst="rect">
            <a:avLst/>
          </a:prstGeom>
          <a:noFill/>
        </p:spPr>
        <p:txBody>
          <a:bodyPr wrap="square" lIns="0" rIns="0" tIns="0" bIns="0" anchor="t">
            <a:spAutoFit/>
          </a:bodyPr>
          <a:lstStyle/>
          <a:p>
            <a:pPr algn="l">
              <a:lnSpc>
                <a:spcPct val="126000"/>
              </a:lnSpc>
              <a:spcAft>
                <a:spcPts val="0"/>
              </a:spcAft>
            </a:pPr>
            <a:r>
              <a:rPr sz="900" b="0">
                <a:solidFill>
                  <a:srgbClr val="D8DDE4"/>
                </a:solidFill>
                <a:latin typeface="Helvetica Neue"/>
              </a:rPr>
              <a:t>La sección editorial donde vive el beneficio. Convierte el descuento en criterio: es la recomendación de quien lleva 60 años cubriendo el buen comer.</a:t>
            </a:r>
          </a:p>
        </p:txBody>
      </p:sp>
      <p:sp>
        <p:nvSpPr>
          <p:cNvPr id="18" name="TextBox 17"/>
          <p:cNvSpPr txBox="1"/>
          <p:nvPr/>
        </p:nvSpPr>
        <p:spPr>
          <a:xfrm>
            <a:off x="4572000" y="5029200"/>
            <a:ext cx="3017520" cy="914400"/>
          </a:xfrm>
          <a:prstGeom prst="rect">
            <a:avLst/>
          </a:prstGeom>
          <a:noFill/>
        </p:spPr>
        <p:txBody>
          <a:bodyPr wrap="square" lIns="0" rIns="0" tIns="0" bIns="0" anchor="t">
            <a:spAutoFit/>
          </a:bodyPr>
          <a:lstStyle/>
          <a:p>
            <a:pPr algn="l">
              <a:lnSpc>
                <a:spcPct val="120000"/>
              </a:lnSpc>
              <a:spcAft>
                <a:spcPts val="350"/>
              </a:spcAft>
            </a:pPr>
            <a:r>
              <a:rPr sz="900" b="0">
                <a:solidFill>
                  <a:srgbClr val="D8DDE4"/>
                </a:solidFill>
                <a:latin typeface="Helvetica Neue"/>
              </a:rPr>
              <a:t>•  Sección fija mensual en la revista</a:t>
            </a:r>
          </a:p>
          <a:p>
            <a:pPr algn="l">
              <a:lnSpc>
                <a:spcPct val="120000"/>
              </a:lnSpc>
              <a:spcAft>
                <a:spcPts val="350"/>
              </a:spcAft>
            </a:pPr>
            <a:r>
              <a:rPr sz="900" b="0">
                <a:solidFill>
                  <a:srgbClr val="D8DDE4"/>
                </a:solidFill>
                <a:latin typeface="Helvetica Neue"/>
              </a:rPr>
              <a:t>•  Sección permanente en web</a:t>
            </a:r>
          </a:p>
          <a:p>
            <a:pPr algn="l">
              <a:lnSpc>
                <a:spcPct val="120000"/>
              </a:lnSpc>
              <a:spcAft>
                <a:spcPts val="350"/>
              </a:spcAft>
            </a:pPr>
            <a:r>
              <a:rPr sz="900" b="0">
                <a:solidFill>
                  <a:srgbClr val="D8DDE4"/>
                </a:solidFill>
                <a:latin typeface="Helvetica Neue"/>
              </a:rPr>
              <a:t>•  Serie de videos</a:t>
            </a:r>
          </a:p>
        </p:txBody>
      </p:sp>
      <p:sp>
        <p:nvSpPr>
          <p:cNvPr id="19" name="Rectangle 18"/>
          <p:cNvSpPr/>
          <p:nvPr/>
        </p:nvSpPr>
        <p:spPr>
          <a:xfrm>
            <a:off x="7964424" y="2697480"/>
            <a:ext cx="3401568" cy="33375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852928"/>
            <a:ext cx="3017520" cy="411480"/>
          </a:xfrm>
          <a:prstGeom prst="rect">
            <a:avLst/>
          </a:prstGeom>
          <a:noFill/>
        </p:spPr>
        <p:txBody>
          <a:bodyPr wrap="square" lIns="0" rIns="0" tIns="0" bIns="0" anchor="t">
            <a:spAutoFit/>
          </a:bodyPr>
          <a:lstStyle/>
          <a:p>
            <a:pPr algn="l">
              <a:lnSpc>
                <a:spcPct val="108000"/>
              </a:lnSpc>
              <a:spcAft>
                <a:spcPts val="0"/>
              </a:spcAft>
            </a:pPr>
            <a:r>
              <a:rPr sz="2000" b="1">
                <a:solidFill>
                  <a:srgbClr val="D2A855"/>
                </a:solidFill>
                <a:latin typeface="Helvetica Neue"/>
              </a:rPr>
              <a:t>03</a:t>
            </a:r>
          </a:p>
        </p:txBody>
      </p:sp>
      <p:sp>
        <p:nvSpPr>
          <p:cNvPr id="21" name="TextBox 20"/>
          <p:cNvSpPr txBox="1"/>
          <p:nvPr/>
        </p:nvSpPr>
        <p:spPr>
          <a:xfrm>
            <a:off x="8165592" y="3310128"/>
            <a:ext cx="3017520" cy="182880"/>
          </a:xfrm>
          <a:prstGeom prst="rect">
            <a:avLst/>
          </a:prstGeom>
          <a:noFill/>
        </p:spPr>
        <p:txBody>
          <a:bodyPr wrap="square" lIns="0" rIns="0" tIns="0" bIns="0" anchor="t">
            <a:spAutoFit/>
          </a:bodyPr>
          <a:lstStyle/>
          <a:p>
            <a:pPr algn="l">
              <a:lnSpc>
                <a:spcPct val="108000"/>
              </a:lnSpc>
              <a:spcAft>
                <a:spcPts val="0"/>
              </a:spcAft>
            </a:pPr>
            <a:r>
              <a:rPr sz="750" b="1">
                <a:solidFill>
                  <a:srgbClr val="D2A855"/>
                </a:solidFill>
                <a:latin typeface="Helvetica Neue"/>
              </a:rPr>
              <a:t>EL ESTATUS</a:t>
            </a:r>
          </a:p>
        </p:txBody>
      </p:sp>
      <p:sp>
        <p:nvSpPr>
          <p:cNvPr id="22" name="TextBox 21"/>
          <p:cNvSpPr txBox="1"/>
          <p:nvPr/>
        </p:nvSpPr>
        <p:spPr>
          <a:xfrm>
            <a:off x="8165592" y="3529584"/>
            <a:ext cx="3017520" cy="457200"/>
          </a:xfrm>
          <a:prstGeom prst="rect">
            <a:avLst/>
          </a:prstGeom>
          <a:noFill/>
        </p:spPr>
        <p:txBody>
          <a:bodyPr wrap="square" lIns="0" rIns="0" tIns="0" bIns="0" anchor="t">
            <a:spAutoFit/>
          </a:bodyPr>
          <a:lstStyle/>
          <a:p>
            <a:pPr algn="l">
              <a:lnSpc>
                <a:spcPct val="106000"/>
              </a:lnSpc>
              <a:spcAft>
                <a:spcPts val="0"/>
              </a:spcAft>
            </a:pPr>
            <a:r>
              <a:rPr sz="1400" b="1">
                <a:solidFill>
                  <a:srgbClr val="FFFFFF"/>
                </a:solidFill>
                <a:latin typeface="Georgia"/>
              </a:rPr>
              <a:t>Experiencias OBI</a:t>
            </a:r>
          </a:p>
        </p:txBody>
      </p:sp>
      <p:sp>
        <p:nvSpPr>
          <p:cNvPr id="23" name="TextBox 22"/>
          <p:cNvSpPr txBox="1"/>
          <p:nvPr/>
        </p:nvSpPr>
        <p:spPr>
          <a:xfrm>
            <a:off x="8165592" y="4041648"/>
            <a:ext cx="3017520" cy="868680"/>
          </a:xfrm>
          <a:prstGeom prst="rect">
            <a:avLst/>
          </a:prstGeom>
          <a:noFill/>
        </p:spPr>
        <p:txBody>
          <a:bodyPr wrap="square" lIns="0" rIns="0" tIns="0" bIns="0" anchor="t">
            <a:spAutoFit/>
          </a:bodyPr>
          <a:lstStyle/>
          <a:p>
            <a:pPr algn="l">
              <a:lnSpc>
                <a:spcPct val="126000"/>
              </a:lnSpc>
              <a:spcAft>
                <a:spcPts val="0"/>
              </a:spcAft>
            </a:pPr>
            <a:r>
              <a:rPr sz="900" b="0">
                <a:solidFill>
                  <a:srgbClr val="D8DDE4"/>
                </a:solidFill>
                <a:latin typeface="Helvetica Neue"/>
              </a:rPr>
              <a:t>Only By Invitation. Acceso limitado a experiencias que no se compran. Es el beneficio que ningún competidor replica con descuentos.</a:t>
            </a:r>
          </a:p>
        </p:txBody>
      </p:sp>
      <p:sp>
        <p:nvSpPr>
          <p:cNvPr id="24" name="TextBox 23"/>
          <p:cNvSpPr txBox="1"/>
          <p:nvPr/>
        </p:nvSpPr>
        <p:spPr>
          <a:xfrm>
            <a:off x="8165592" y="5029200"/>
            <a:ext cx="3017520" cy="914400"/>
          </a:xfrm>
          <a:prstGeom prst="rect">
            <a:avLst/>
          </a:prstGeom>
          <a:noFill/>
        </p:spPr>
        <p:txBody>
          <a:bodyPr wrap="square" lIns="0" rIns="0" tIns="0" bIns="0" anchor="t">
            <a:spAutoFit/>
          </a:bodyPr>
          <a:lstStyle/>
          <a:p>
            <a:pPr algn="l">
              <a:lnSpc>
                <a:spcPct val="120000"/>
              </a:lnSpc>
              <a:spcAft>
                <a:spcPts val="350"/>
              </a:spcAft>
            </a:pPr>
            <a:r>
              <a:rPr sz="900" b="0">
                <a:solidFill>
                  <a:srgbClr val="D8DDE4"/>
                </a:solidFill>
                <a:latin typeface="Helvetica Neue"/>
              </a:rPr>
              <a:t>•  8 experiencias al año</a:t>
            </a:r>
          </a:p>
          <a:p>
            <a:pPr algn="l">
              <a:lnSpc>
                <a:spcPct val="120000"/>
              </a:lnSpc>
              <a:spcAft>
                <a:spcPts val="350"/>
              </a:spcAft>
            </a:pPr>
            <a:r>
              <a:rPr sz="900" b="0">
                <a:solidFill>
                  <a:srgbClr val="D8DDE4"/>
                </a:solidFill>
                <a:latin typeface="Helvetica Neue"/>
              </a:rPr>
              <a:t>•  Cupo corto, por invitación</a:t>
            </a:r>
          </a:p>
          <a:p>
            <a:pPr algn="l">
              <a:lnSpc>
                <a:spcPct val="120000"/>
              </a:lnSpc>
              <a:spcAft>
                <a:spcPts val="350"/>
              </a:spcAft>
            </a:pPr>
            <a:r>
              <a:rPr sz="900" b="0">
                <a:solidFill>
                  <a:srgbClr val="D8DDE4"/>
                </a:solidFill>
                <a:latin typeface="Helvetica Neue"/>
              </a:rPr>
              <a:t>•  Cubrimiento editorial incluido</a:t>
            </a:r>
          </a:p>
        </p:txBody>
      </p:sp>
      <p:sp>
        <p:nvSpPr>
          <p:cNvPr id="25" name="TextBox 24"/>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LAS TRES CAPAS SE VENDEN JUNTAS</a:t>
            </a:r>
          </a:p>
        </p:txBody>
      </p:sp>
      <p:sp>
        <p:nvSpPr>
          <p:cNvPr id="26" name="TextBox 25"/>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uraduria.jpg"/>
          <p:cNvPicPr>
            <a:picLocks noChangeAspect="1"/>
          </p:cNvPicPr>
          <p:nvPr/>
        </p:nvPicPr>
        <p:blipFill>
          <a:blip r:embed="rId2"/>
          <a:stretch>
            <a:fillRect/>
          </a:stretch>
        </p:blipFill>
        <p:spPr>
          <a:xfrm>
            <a:off x="8138160" y="0"/>
            <a:ext cx="4050791" cy="6858000"/>
          </a:xfrm>
          <a:prstGeom prst="rect">
            <a:avLst/>
          </a:prstGeom>
        </p:spPr>
      </p:pic>
      <p:sp>
        <p:nvSpPr>
          <p:cNvPr id="4" name="Rectangle 3"/>
          <p:cNvSpPr/>
          <p:nvPr/>
        </p:nvSpPr>
        <p:spPr>
          <a:xfrm>
            <a:off x="8138160" y="0"/>
            <a:ext cx="4050791" cy="6858000"/>
          </a:xfrm>
          <a:prstGeom prst="rect">
            <a:avLst/>
          </a:prstGeom>
          <a:solidFill>
            <a:srgbClr val="0A254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5486400"/>
            <a:ext cx="3502151" cy="914400"/>
          </a:xfrm>
          <a:prstGeom prst="rect">
            <a:avLst/>
          </a:prstGeom>
          <a:noFill/>
        </p:spPr>
        <p:txBody>
          <a:bodyPr wrap="square" lIns="0" rIns="0" tIns="0" bIns="0" anchor="b">
            <a:spAutoFit/>
          </a:bodyPr>
          <a:lstStyle/>
          <a:p>
            <a:pPr algn="l">
              <a:lnSpc>
                <a:spcPct val="114000"/>
              </a:lnSpc>
              <a:spcAft>
                <a:spcPts val="0"/>
              </a:spcAft>
            </a:pPr>
            <a:r>
              <a:rPr sz="1900" b="0">
                <a:solidFill>
                  <a:srgbClr val="FFFFFF"/>
                </a:solidFill>
                <a:latin typeface="Georgia"/>
              </a:rPr>
              <a:t>Un día fijo.
Una lista corta.</a:t>
            </a:r>
          </a:p>
        </p:txBody>
      </p:sp>
      <p:sp>
        <p:nvSpPr>
          <p:cNvPr id="6" name="TextBox 5"/>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CAPA 1 · EL BENEFICIO</a:t>
            </a:r>
          </a:p>
        </p:txBody>
      </p:sp>
      <p:sp>
        <p:nvSpPr>
          <p:cNvPr id="7" name="TextBox 6"/>
          <p:cNvSpPr txBox="1"/>
          <p:nvPr/>
        </p:nvSpPr>
        <p:spPr>
          <a:xfrm>
            <a:off x="777240" y="960120"/>
            <a:ext cx="6858000" cy="1280160"/>
          </a:xfrm>
          <a:prstGeom prst="rect">
            <a:avLst/>
          </a:prstGeom>
          <a:noFill/>
        </p:spPr>
        <p:txBody>
          <a:bodyPr wrap="square" lIns="0" rIns="0" tIns="0" bIns="0" anchor="t">
            <a:spAutoFit/>
          </a:bodyPr>
          <a:lstStyle/>
          <a:p>
            <a:pPr algn="l">
              <a:lnSpc>
                <a:spcPct val="102000"/>
              </a:lnSpc>
              <a:spcAft>
                <a:spcPts val="0"/>
              </a:spcAft>
            </a:pPr>
            <a:r>
              <a:rPr sz="3200" b="0">
                <a:solidFill>
                  <a:srgbClr val="0A2540"/>
                </a:solidFill>
                <a:latin typeface="Georgia"/>
              </a:rPr>
              <a:t>Mesa Diners Club</a:t>
            </a:r>
          </a:p>
        </p:txBody>
      </p:sp>
      <p:sp>
        <p:nvSpPr>
          <p:cNvPr id="8" name="Rectangle 7"/>
          <p:cNvSpPr/>
          <p:nvPr/>
        </p:nvSpPr>
        <p:spPr>
          <a:xfrm>
            <a:off x="777240" y="1783080"/>
            <a:ext cx="6675120"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38528"/>
            <a:ext cx="6675120" cy="64008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El beneficio recurrente. Da una razón concreta para usar la tarjeta en una fecha previsible, sobre una lista curada de aliados verificados. Toma como referencia la mecánica que Banco Diners Club del Ecuador opera como Modo Tasty.</a:t>
            </a:r>
          </a:p>
        </p:txBody>
      </p:sp>
      <p:sp>
        <p:nvSpPr>
          <p:cNvPr id="10" name="Rectangle 9"/>
          <p:cNvSpPr/>
          <p:nvPr/>
        </p:nvSpPr>
        <p:spPr>
          <a:xfrm>
            <a:off x="777240" y="2743200"/>
            <a:ext cx="3200400" cy="3108960"/>
          </a:xfrm>
          <a:prstGeom prst="rect">
            <a:avLst/>
          </a:prstGeom>
          <a:solidFill>
            <a:srgbClr val="FFFDF9"/>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916936"/>
            <a:ext cx="2852928"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LA REFERENCIA · ECUADOR</a:t>
            </a:r>
          </a:p>
        </p:txBody>
      </p:sp>
      <p:sp>
        <p:nvSpPr>
          <p:cNvPr id="12" name="TextBox 11"/>
          <p:cNvSpPr txBox="1"/>
          <p:nvPr/>
        </p:nvSpPr>
        <p:spPr>
          <a:xfrm>
            <a:off x="950976" y="3154680"/>
            <a:ext cx="2852928" cy="457200"/>
          </a:xfrm>
          <a:prstGeom prst="rect">
            <a:avLst/>
          </a:prstGeom>
          <a:noFill/>
        </p:spPr>
        <p:txBody>
          <a:bodyPr wrap="square" lIns="0" rIns="0" tIns="0" bIns="0" anchor="t">
            <a:spAutoFit/>
          </a:bodyPr>
          <a:lstStyle/>
          <a:p>
            <a:pPr algn="l">
              <a:lnSpc>
                <a:spcPct val="106000"/>
              </a:lnSpc>
              <a:spcAft>
                <a:spcPts val="0"/>
              </a:spcAft>
            </a:pPr>
            <a:r>
              <a:rPr sz="1300" b="1">
                <a:solidFill>
                  <a:srgbClr val="0A2540"/>
                </a:solidFill>
                <a:latin typeface="Georgia"/>
              </a:rPr>
              <a:t>Cómo opera Modo Tasty</a:t>
            </a:r>
          </a:p>
        </p:txBody>
      </p:sp>
      <p:sp>
        <p:nvSpPr>
          <p:cNvPr id="13" name="TextBox 12"/>
          <p:cNvSpPr txBox="1"/>
          <p:nvPr/>
        </p:nvSpPr>
        <p:spPr>
          <a:xfrm>
            <a:off x="950976" y="3566160"/>
            <a:ext cx="2852928" cy="2148839"/>
          </a:xfrm>
          <a:prstGeom prst="rect">
            <a:avLst/>
          </a:prstGeom>
          <a:noFill/>
        </p:spPr>
        <p:txBody>
          <a:bodyPr wrap="square" lIns="0" rIns="0" tIns="0" bIns="0" anchor="t">
            <a:spAutoFit/>
          </a:bodyPr>
          <a:lstStyle/>
          <a:p>
            <a:pPr algn="l">
              <a:lnSpc>
                <a:spcPct val="120000"/>
              </a:lnSpc>
              <a:spcAft>
                <a:spcPts val="350"/>
              </a:spcAft>
            </a:pPr>
            <a:r>
              <a:rPr sz="950" b="0">
                <a:solidFill>
                  <a:srgbClr val="14263D"/>
                </a:solidFill>
                <a:latin typeface="Helvetica Neue"/>
              </a:rPr>
              <a:t>•  Beneficio: 50% sobre la cuenta</a:t>
            </a:r>
          </a:p>
          <a:p>
            <a:pPr algn="l">
              <a:lnSpc>
                <a:spcPct val="120000"/>
              </a:lnSpc>
              <a:spcAft>
                <a:spcPts val="350"/>
              </a:spcAft>
            </a:pPr>
            <a:r>
              <a:rPr sz="950" b="0">
                <a:solidFill>
                  <a:srgbClr val="14263D"/>
                </a:solidFill>
                <a:latin typeface="Helvetica Neue"/>
              </a:rPr>
              <a:t>•  Frecuencia: solo los miércoles</a:t>
            </a:r>
          </a:p>
          <a:p>
            <a:pPr algn="l">
              <a:lnSpc>
                <a:spcPct val="120000"/>
              </a:lnSpc>
              <a:spcAft>
                <a:spcPts val="350"/>
              </a:spcAft>
            </a:pPr>
            <a:r>
              <a:rPr sz="950" b="0">
                <a:solidFill>
                  <a:srgbClr val="14263D"/>
                </a:solidFill>
                <a:latin typeface="Helvetica Neue"/>
              </a:rPr>
              <a:t>•  Cobertura: más de 150 restaurantes</a:t>
            </a:r>
          </a:p>
          <a:p>
            <a:pPr algn="l">
              <a:lnSpc>
                <a:spcPct val="120000"/>
              </a:lnSpc>
              <a:spcAft>
                <a:spcPts val="350"/>
              </a:spcAft>
            </a:pPr>
            <a:r>
              <a:rPr sz="950" b="0">
                <a:solidFill>
                  <a:srgbClr val="14263D"/>
                </a:solidFill>
                <a:latin typeface="Helvetica Neue"/>
              </a:rPr>
              <a:t>•  Condiciones: reserva obligatoria</a:t>
            </a:r>
          </a:p>
        </p:txBody>
      </p:sp>
      <p:sp>
        <p:nvSpPr>
          <p:cNvPr id="14" name="Rectangle 13"/>
          <p:cNvSpPr/>
          <p:nvPr/>
        </p:nvSpPr>
        <p:spPr>
          <a:xfrm>
            <a:off x="4251960" y="2743200"/>
            <a:ext cx="3200400" cy="310896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916936"/>
            <a:ext cx="2852928" cy="201168"/>
          </a:xfrm>
          <a:prstGeom prst="rect">
            <a:avLst/>
          </a:prstGeom>
          <a:noFill/>
        </p:spPr>
        <p:txBody>
          <a:bodyPr wrap="square" lIns="0" rIns="0" tIns="0" bIns="0" anchor="t">
            <a:spAutoFit/>
          </a:bodyPr>
          <a:lstStyle/>
          <a:p>
            <a:pPr algn="l">
              <a:lnSpc>
                <a:spcPct val="108000"/>
              </a:lnSpc>
              <a:spcAft>
                <a:spcPts val="0"/>
              </a:spcAft>
            </a:pPr>
            <a:r>
              <a:rPr sz="750" b="1">
                <a:solidFill>
                  <a:srgbClr val="8A6B1F"/>
                </a:solidFill>
                <a:latin typeface="Helvetica Neue"/>
              </a:rPr>
              <a:t>LA ADAPTACIÓN · COLOMBIA</a:t>
            </a:r>
          </a:p>
        </p:txBody>
      </p:sp>
      <p:sp>
        <p:nvSpPr>
          <p:cNvPr id="16" name="TextBox 15"/>
          <p:cNvSpPr txBox="1"/>
          <p:nvPr/>
        </p:nvSpPr>
        <p:spPr>
          <a:xfrm>
            <a:off x="4425696" y="3154680"/>
            <a:ext cx="2852928" cy="457200"/>
          </a:xfrm>
          <a:prstGeom prst="rect">
            <a:avLst/>
          </a:prstGeom>
          <a:noFill/>
        </p:spPr>
        <p:txBody>
          <a:bodyPr wrap="square" lIns="0" rIns="0" tIns="0" bIns="0" anchor="t">
            <a:spAutoFit/>
          </a:bodyPr>
          <a:lstStyle/>
          <a:p>
            <a:pPr algn="l">
              <a:lnSpc>
                <a:spcPct val="106000"/>
              </a:lnSpc>
              <a:spcAft>
                <a:spcPts val="0"/>
              </a:spcAft>
            </a:pPr>
            <a:r>
              <a:rPr sz="1300" b="1">
                <a:solidFill>
                  <a:srgbClr val="0A2540"/>
                </a:solidFill>
                <a:latin typeface="Georgia"/>
              </a:rPr>
              <a:t>Qué proponemos</a:t>
            </a:r>
          </a:p>
        </p:txBody>
      </p:sp>
      <p:sp>
        <p:nvSpPr>
          <p:cNvPr id="17" name="TextBox 16"/>
          <p:cNvSpPr txBox="1"/>
          <p:nvPr/>
        </p:nvSpPr>
        <p:spPr>
          <a:xfrm>
            <a:off x="4425696" y="3566160"/>
            <a:ext cx="2852928" cy="2148839"/>
          </a:xfrm>
          <a:prstGeom prst="rect">
            <a:avLst/>
          </a:prstGeom>
          <a:noFill/>
        </p:spPr>
        <p:txBody>
          <a:bodyPr wrap="square" lIns="0" rIns="0" tIns="0" bIns="0" anchor="t">
            <a:spAutoFit/>
          </a:bodyPr>
          <a:lstStyle/>
          <a:p>
            <a:pPr algn="l">
              <a:lnSpc>
                <a:spcPct val="120000"/>
              </a:lnSpc>
              <a:spcAft>
                <a:spcPts val="350"/>
              </a:spcAft>
            </a:pPr>
            <a:r>
              <a:rPr sz="950" b="0">
                <a:solidFill>
                  <a:srgbClr val="14263D"/>
                </a:solidFill>
                <a:latin typeface="Helvetica Neue"/>
              </a:rPr>
              <a:t>•  Día fijo semanal, para construir hábito</a:t>
            </a:r>
          </a:p>
          <a:p>
            <a:pPr algn="l">
              <a:lnSpc>
                <a:spcPct val="120000"/>
              </a:lnSpc>
              <a:spcAft>
                <a:spcPts val="350"/>
              </a:spcAft>
            </a:pPr>
            <a:r>
              <a:rPr sz="950" b="0">
                <a:solidFill>
                  <a:srgbClr val="14263D"/>
                </a:solidFill>
                <a:latin typeface="Helvetica Neue"/>
              </a:rPr>
              <a:t>•  Aliados con datáfono verificado</a:t>
            </a:r>
          </a:p>
          <a:p>
            <a:pPr algn="l">
              <a:lnSpc>
                <a:spcPct val="120000"/>
              </a:lnSpc>
              <a:spcAft>
                <a:spcPts val="350"/>
              </a:spcAft>
            </a:pPr>
            <a:r>
              <a:rPr sz="950" b="0">
                <a:solidFill>
                  <a:srgbClr val="14263D"/>
                </a:solidFill>
                <a:latin typeface="Helvetica Neue"/>
              </a:rPr>
              <a:t>•  El aliado paga la visibilidad</a:t>
            </a:r>
          </a:p>
          <a:p>
            <a:pPr algn="l">
              <a:lnSpc>
                <a:spcPct val="120000"/>
              </a:lnSpc>
              <a:spcAft>
                <a:spcPts val="350"/>
              </a:spcAft>
            </a:pPr>
            <a:r>
              <a:rPr sz="950" b="0">
                <a:solidFill>
                  <a:srgbClr val="14263D"/>
                </a:solidFill>
                <a:latin typeface="Helvetica Neue"/>
              </a:rPr>
              <a:t>•  Descubrimiento editorial, no catálogo</a:t>
            </a:r>
          </a:p>
          <a:p>
            <a:pPr algn="l">
              <a:lnSpc>
                <a:spcPct val="120000"/>
              </a:lnSpc>
              <a:spcAft>
                <a:spcPts val="350"/>
              </a:spcAft>
            </a:pPr>
            <a:r>
              <a:rPr sz="950" b="0">
                <a:solidFill>
                  <a:srgbClr val="14263D"/>
                </a:solidFill>
                <a:latin typeface="Helvetica Neue"/>
              </a:rPr>
              <a:t>•  Bogotá en el año uno, con ruta de apertura</a:t>
            </a:r>
          </a:p>
        </p:txBody>
      </p:sp>
      <p:sp>
        <p:nvSpPr>
          <p:cNvPr id="18" name="TextBox 17"/>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ABIERTOS A MODELAR LA ALTERNATIVA DE DESCUENTO FINANCIADO</a:t>
            </a:r>
          </a:p>
        </p:txBody>
      </p:sp>
      <p:sp>
        <p:nvSpPr>
          <p:cNvPr id="19" name="TextBox 18"/>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jpg"/>
          <p:cNvPicPr>
            <a:picLocks noChangeAspect="1"/>
          </p:cNvPicPr>
          <p:nvPr/>
        </p:nvPicPr>
        <p:blipFill>
          <a:blip r:embed="rId2"/>
          <a:stretch>
            <a:fillRect/>
          </a:stretch>
        </p:blipFill>
        <p:spPr>
          <a:xfrm>
            <a:off x="0" y="0"/>
            <a:ext cx="4050791" cy="6858000"/>
          </a:xfrm>
          <a:prstGeom prst="rect">
            <a:avLst/>
          </a:prstGeom>
        </p:spPr>
      </p:pic>
      <p:sp>
        <p:nvSpPr>
          <p:cNvPr id="4" name="Rectangle 3"/>
          <p:cNvSpPr/>
          <p:nvPr/>
        </p:nvSpPr>
        <p:spPr>
          <a:xfrm>
            <a:off x="0" y="0"/>
            <a:ext cx="4050791" cy="6858000"/>
          </a:xfrm>
          <a:prstGeom prst="rect">
            <a:avLst/>
          </a:prstGeom>
          <a:solidFill>
            <a:srgbClr val="0A254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00"/>
            <a:ext cx="3502151" cy="914400"/>
          </a:xfrm>
          <a:prstGeom prst="rect">
            <a:avLst/>
          </a:prstGeom>
          <a:noFill/>
        </p:spPr>
        <p:txBody>
          <a:bodyPr wrap="square" lIns="0" rIns="0" tIns="0" bIns="0" anchor="b">
            <a:spAutoFit/>
          </a:bodyPr>
          <a:lstStyle/>
          <a:p>
            <a:pPr algn="l">
              <a:lnSpc>
                <a:spcPct val="114000"/>
              </a:lnSpc>
              <a:spcAft>
                <a:spcPts val="0"/>
              </a:spcAft>
            </a:pPr>
            <a:r>
              <a:rPr sz="1900" b="0">
                <a:solidFill>
                  <a:srgbClr val="FFFFFF"/>
                </a:solidFill>
                <a:latin typeface="Georgia"/>
              </a:rPr>
              <a:t>Un descuento
no se recuerda.
Un criterio sí.</a:t>
            </a:r>
          </a:p>
        </p:txBody>
      </p:sp>
      <p:sp>
        <p:nvSpPr>
          <p:cNvPr id="6" name="TextBox 5"/>
          <p:cNvSpPr txBox="1"/>
          <p:nvPr/>
        </p:nvSpPr>
        <p:spPr>
          <a:xfrm>
            <a:off x="4526280" y="640080"/>
            <a:ext cx="7116775"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CAPA 2 · EL DESCUBRIMIENTO</a:t>
            </a:r>
          </a:p>
        </p:txBody>
      </p:sp>
      <p:sp>
        <p:nvSpPr>
          <p:cNvPr id="7" name="TextBox 6"/>
          <p:cNvSpPr txBox="1"/>
          <p:nvPr/>
        </p:nvSpPr>
        <p:spPr>
          <a:xfrm>
            <a:off x="4526280" y="960120"/>
            <a:ext cx="6858000" cy="1280160"/>
          </a:xfrm>
          <a:prstGeom prst="rect">
            <a:avLst/>
          </a:prstGeom>
          <a:noFill/>
        </p:spPr>
        <p:txBody>
          <a:bodyPr wrap="square" lIns="0" rIns="0" tIns="0" bIns="0" anchor="t">
            <a:spAutoFit/>
          </a:bodyPr>
          <a:lstStyle/>
          <a:p>
            <a:pPr algn="l">
              <a:lnSpc>
                <a:spcPct val="102000"/>
              </a:lnSpc>
              <a:spcAft>
                <a:spcPts val="0"/>
              </a:spcAft>
            </a:pPr>
            <a:r>
              <a:rPr sz="3200" b="0">
                <a:solidFill>
                  <a:srgbClr val="0A2540"/>
                </a:solidFill>
                <a:latin typeface="Georgia"/>
              </a:rPr>
              <a:t>La Mesa Diners</a:t>
            </a:r>
          </a:p>
        </p:txBody>
      </p:sp>
      <p:sp>
        <p:nvSpPr>
          <p:cNvPr id="8" name="Rectangle 7"/>
          <p:cNvSpPr/>
          <p:nvPr/>
        </p:nvSpPr>
        <p:spPr>
          <a:xfrm>
            <a:off x="4526280" y="1783080"/>
            <a:ext cx="6858000"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38528"/>
            <a:ext cx="6858000" cy="68580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Si la tarjeta no se recibe en todas partes, escoger bien tiene que ser el producto. La Mesa Diners es la selección curada de los lugares, cocineros y rituales que definen el buen comer en Bogotá, con el estándar editorial de la Revista Diners.</a:t>
            </a:r>
          </a:p>
        </p:txBody>
      </p:sp>
      <p:sp>
        <p:nvSpPr>
          <p:cNvPr id="10" name="Rectangle 9"/>
          <p:cNvSpPr/>
          <p:nvPr/>
        </p:nvSpPr>
        <p:spPr>
          <a:xfrm>
            <a:off x="4526280" y="2788920"/>
            <a:ext cx="2212848" cy="1920240"/>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0016" y="2962656"/>
            <a:ext cx="1865376" cy="201168"/>
          </a:xfrm>
          <a:prstGeom prst="rect">
            <a:avLst/>
          </a:prstGeom>
          <a:noFill/>
        </p:spPr>
        <p:txBody>
          <a:bodyPr wrap="square" lIns="0" rIns="0" tIns="0" bIns="0" anchor="t">
            <a:spAutoFit/>
          </a:bodyPr>
          <a:lstStyle/>
          <a:p>
            <a:pPr algn="l">
              <a:lnSpc>
                <a:spcPct val="108000"/>
              </a:lnSpc>
              <a:spcAft>
                <a:spcPts val="0"/>
              </a:spcAft>
            </a:pPr>
            <a:r>
              <a:rPr sz="750" b="1">
                <a:solidFill>
                  <a:srgbClr val="8A6B1F"/>
                </a:solidFill>
                <a:latin typeface="Helvetica Neue"/>
              </a:rPr>
              <a:t>SOPORTE 1 · EL CORAZÓN</a:t>
            </a:r>
          </a:p>
        </p:txBody>
      </p:sp>
      <p:sp>
        <p:nvSpPr>
          <p:cNvPr id="12" name="TextBox 11"/>
          <p:cNvSpPr txBox="1"/>
          <p:nvPr/>
        </p:nvSpPr>
        <p:spPr>
          <a:xfrm>
            <a:off x="4700016" y="3200400"/>
            <a:ext cx="186537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La sección fija mensual</a:t>
            </a:r>
          </a:p>
        </p:txBody>
      </p:sp>
      <p:sp>
        <p:nvSpPr>
          <p:cNvPr id="13" name="TextBox 12"/>
          <p:cNvSpPr txBox="1"/>
          <p:nvPr/>
        </p:nvSpPr>
        <p:spPr>
          <a:xfrm>
            <a:off x="4700016" y="3803904"/>
            <a:ext cx="1865376" cy="768095"/>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Sección nueva, complementaria al programa. No ocupa espacio existente.</a:t>
            </a:r>
          </a:p>
        </p:txBody>
      </p:sp>
      <p:sp>
        <p:nvSpPr>
          <p:cNvPr id="14" name="Rectangle 13"/>
          <p:cNvSpPr/>
          <p:nvPr/>
        </p:nvSpPr>
        <p:spPr>
          <a:xfrm>
            <a:off x="6858000" y="2788920"/>
            <a:ext cx="2212848" cy="19202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31736" y="2962656"/>
            <a:ext cx="1865376"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SOPORTE 2</a:t>
            </a:r>
          </a:p>
        </p:txBody>
      </p:sp>
      <p:sp>
        <p:nvSpPr>
          <p:cNvPr id="16" name="TextBox 15"/>
          <p:cNvSpPr txBox="1"/>
          <p:nvPr/>
        </p:nvSpPr>
        <p:spPr>
          <a:xfrm>
            <a:off x="7031736" y="3200400"/>
            <a:ext cx="186537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Sección permanente en web</a:t>
            </a:r>
          </a:p>
        </p:txBody>
      </p:sp>
      <p:sp>
        <p:nvSpPr>
          <p:cNvPr id="17" name="TextBox 16"/>
          <p:cNvSpPr txBox="1"/>
          <p:nvPr/>
        </p:nvSpPr>
        <p:spPr>
          <a:xfrm>
            <a:off x="7031736" y="3803904"/>
            <a:ext cx="1865376" cy="768095"/>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La colección viva y buscable, enlazada con los aliados verificados.</a:t>
            </a:r>
          </a:p>
        </p:txBody>
      </p:sp>
      <p:sp>
        <p:nvSpPr>
          <p:cNvPr id="18" name="Rectangle 17"/>
          <p:cNvSpPr/>
          <p:nvPr/>
        </p:nvSpPr>
        <p:spPr>
          <a:xfrm>
            <a:off x="9189720" y="2788920"/>
            <a:ext cx="2212848" cy="192024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6" y="2962656"/>
            <a:ext cx="1865376"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SOPORTE 3</a:t>
            </a:r>
          </a:p>
        </p:txBody>
      </p:sp>
      <p:sp>
        <p:nvSpPr>
          <p:cNvPr id="20" name="TextBox 19"/>
          <p:cNvSpPr txBox="1"/>
          <p:nvPr/>
        </p:nvSpPr>
        <p:spPr>
          <a:xfrm>
            <a:off x="9363456" y="3200400"/>
            <a:ext cx="186537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Video y compendio anual</a:t>
            </a:r>
          </a:p>
        </p:txBody>
      </p:sp>
      <p:sp>
        <p:nvSpPr>
          <p:cNvPr id="21" name="TextBox 20"/>
          <p:cNvSpPr txBox="1"/>
          <p:nvPr/>
        </p:nvSpPr>
        <p:spPr>
          <a:xfrm>
            <a:off x="9363456" y="3803904"/>
            <a:ext cx="1865376" cy="768095"/>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La pieza coleccionable se produce una vez al año, no cada mes.</a:t>
            </a:r>
          </a:p>
        </p:txBody>
      </p:sp>
      <p:sp>
        <p:nvSpPr>
          <p:cNvPr id="22" name="Rectangle 21"/>
          <p:cNvSpPr/>
          <p:nvPr/>
        </p:nvSpPr>
        <p:spPr>
          <a:xfrm>
            <a:off x="4526280" y="4892040"/>
            <a:ext cx="6876288" cy="114300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0016" y="5065776"/>
            <a:ext cx="6528816" cy="201168"/>
          </a:xfrm>
          <a:prstGeom prst="rect">
            <a:avLst/>
          </a:prstGeom>
          <a:noFill/>
        </p:spPr>
        <p:txBody>
          <a:bodyPr wrap="square" lIns="0" rIns="0" tIns="0" bIns="0" anchor="t">
            <a:spAutoFit/>
          </a:bodyPr>
          <a:lstStyle/>
          <a:p>
            <a:pPr algn="l">
              <a:lnSpc>
                <a:spcPct val="108000"/>
              </a:lnSpc>
              <a:spcAft>
                <a:spcPts val="0"/>
              </a:spcAft>
            </a:pPr>
            <a:r>
              <a:rPr sz="750" b="1">
                <a:solidFill>
                  <a:srgbClr val="D2A855"/>
                </a:solidFill>
                <a:latin typeface="Helvetica Neue"/>
              </a:rPr>
              <a:t>LA REGLA QUE PROTEGE LA CURADURÍA</a:t>
            </a:r>
          </a:p>
        </p:txBody>
      </p:sp>
      <p:sp>
        <p:nvSpPr>
          <p:cNvPr id="24" name="TextBox 23"/>
          <p:cNvSpPr txBox="1"/>
          <p:nvPr/>
        </p:nvSpPr>
        <p:spPr>
          <a:xfrm>
            <a:off x="4700016" y="5303520"/>
            <a:ext cx="6528816" cy="457200"/>
          </a:xfrm>
          <a:prstGeom prst="rect">
            <a:avLst/>
          </a:prstGeom>
          <a:noFill/>
        </p:spPr>
        <p:txBody>
          <a:bodyPr wrap="square" lIns="0" rIns="0" tIns="0" bIns="0" anchor="t">
            <a:spAutoFit/>
          </a:bodyPr>
          <a:lstStyle/>
          <a:p>
            <a:pPr algn="l">
              <a:lnSpc>
                <a:spcPct val="106000"/>
              </a:lnSpc>
              <a:spcAft>
                <a:spcPts val="0"/>
              </a:spcAft>
            </a:pPr>
            <a:r>
              <a:rPr sz="1200" b="1">
                <a:solidFill>
                  <a:srgbClr val="FFFFFF"/>
                </a:solidFill>
                <a:latin typeface="Georgia"/>
              </a:rPr>
              <a:t>La entrada la define el editor</a:t>
            </a:r>
          </a:p>
        </p:txBody>
      </p:sp>
      <p:sp>
        <p:nvSpPr>
          <p:cNvPr id="25" name="TextBox 24"/>
          <p:cNvSpPr txBox="1"/>
          <p:nvPr/>
        </p:nvSpPr>
        <p:spPr>
          <a:xfrm>
            <a:off x="4700016" y="5715000"/>
            <a:ext cx="6528816" cy="182879"/>
          </a:xfrm>
          <a:prstGeom prst="rect">
            <a:avLst/>
          </a:prstGeom>
          <a:noFill/>
        </p:spPr>
        <p:txBody>
          <a:bodyPr wrap="square" lIns="0" rIns="0" tIns="0" bIns="0" anchor="t">
            <a:spAutoFit/>
          </a:bodyPr>
          <a:lstStyle/>
          <a:p>
            <a:pPr algn="l">
              <a:lnSpc>
                <a:spcPct val="126000"/>
              </a:lnSpc>
              <a:spcAft>
                <a:spcPts val="0"/>
              </a:spcAft>
            </a:pPr>
            <a:r>
              <a:rPr sz="900" b="0">
                <a:solidFill>
                  <a:srgbClr val="D8DDE4"/>
                </a:solidFill>
                <a:latin typeface="Helvetica Neue"/>
              </a:rPr>
              <a:t>Pagar amplía la ficha, no compra el lugar en La Mesa Diners. Sin esa regla la sección se lee como publirreportaje y se cae el diferencial.</a:t>
            </a:r>
          </a:p>
        </p:txBody>
      </p:sp>
      <p:sp>
        <p:nvSpPr>
          <p:cNvPr id="26" name="TextBox 25"/>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EL EQUIVALENTE COLOMBIANO DE ORÍGENES</a:t>
            </a:r>
          </a:p>
        </p:txBody>
      </p:sp>
      <p:sp>
        <p:nvSpPr>
          <p:cNvPr id="27" name="TextBox 26"/>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bi.jpg"/>
          <p:cNvPicPr>
            <a:picLocks noChangeAspect="1"/>
          </p:cNvPicPr>
          <p:nvPr/>
        </p:nvPicPr>
        <p:blipFill>
          <a:blip r:embed="rId2"/>
          <a:stretch>
            <a:fillRect/>
          </a:stretch>
        </p:blipFill>
        <p:spPr>
          <a:xfrm>
            <a:off x="8321040" y="0"/>
            <a:ext cx="3867912" cy="6858000"/>
          </a:xfrm>
          <a:prstGeom prst="rect">
            <a:avLst/>
          </a:prstGeom>
        </p:spPr>
      </p:pic>
      <p:sp>
        <p:nvSpPr>
          <p:cNvPr id="4" name="Rectangle 3"/>
          <p:cNvSpPr/>
          <p:nvPr/>
        </p:nvSpPr>
        <p:spPr>
          <a:xfrm>
            <a:off x="8321040" y="0"/>
            <a:ext cx="3867912" cy="6858000"/>
          </a:xfrm>
          <a:prstGeom prst="rect">
            <a:avLst/>
          </a:prstGeom>
          <a:solidFill>
            <a:srgbClr val="0A254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0" y="5486400"/>
            <a:ext cx="3319272" cy="914400"/>
          </a:xfrm>
          <a:prstGeom prst="rect">
            <a:avLst/>
          </a:prstGeom>
          <a:noFill/>
        </p:spPr>
        <p:txBody>
          <a:bodyPr wrap="square" lIns="0" rIns="0" tIns="0" bIns="0" anchor="b">
            <a:spAutoFit/>
          </a:bodyPr>
          <a:lstStyle/>
          <a:p>
            <a:pPr algn="l">
              <a:lnSpc>
                <a:spcPct val="114000"/>
              </a:lnSpc>
              <a:spcAft>
                <a:spcPts val="0"/>
              </a:spcAft>
            </a:pPr>
            <a:r>
              <a:rPr sz="1900" b="0">
                <a:solidFill>
                  <a:srgbClr val="FFFFFF"/>
                </a:solidFill>
                <a:latin typeface="Georgia"/>
              </a:rPr>
              <a:t>Lo que se reparte
a todos deja de
distinguir a alguien</a:t>
            </a:r>
          </a:p>
        </p:txBody>
      </p:sp>
      <p:sp>
        <p:nvSpPr>
          <p:cNvPr id="6" name="TextBox 5"/>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CAPA 3 · EL ESTATUS</a:t>
            </a:r>
          </a:p>
        </p:txBody>
      </p:sp>
      <p:sp>
        <p:nvSpPr>
          <p:cNvPr id="7" name="TextBox 6"/>
          <p:cNvSpPr txBox="1"/>
          <p:nvPr/>
        </p:nvSpPr>
        <p:spPr>
          <a:xfrm>
            <a:off x="777240" y="960120"/>
            <a:ext cx="7040880" cy="1280160"/>
          </a:xfrm>
          <a:prstGeom prst="rect">
            <a:avLst/>
          </a:prstGeom>
          <a:noFill/>
        </p:spPr>
        <p:txBody>
          <a:bodyPr wrap="square" lIns="0" rIns="0" tIns="0" bIns="0" anchor="t">
            <a:spAutoFit/>
          </a:bodyPr>
          <a:lstStyle/>
          <a:p>
            <a:pPr algn="l">
              <a:lnSpc>
                <a:spcPct val="102000"/>
              </a:lnSpc>
              <a:spcAft>
                <a:spcPts val="0"/>
              </a:spcAft>
            </a:pPr>
            <a:r>
              <a:rPr sz="3000" b="0">
                <a:solidFill>
                  <a:srgbClr val="0A2540"/>
                </a:solidFill>
                <a:latin typeface="Georgia"/>
              </a:rPr>
              <a:t>Experiencias Only By Invitation</a:t>
            </a:r>
          </a:p>
        </p:txBody>
      </p:sp>
      <p:sp>
        <p:nvSpPr>
          <p:cNvPr id="8" name="Rectangle 7"/>
          <p:cNvSpPr/>
          <p:nvPr/>
        </p:nvSpPr>
        <p:spPr>
          <a:xfrm>
            <a:off x="777240" y="1783080"/>
            <a:ext cx="6858000"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38528"/>
            <a:ext cx="6858000" cy="64008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Seis experiencias gastronómicas en el año, con cupo limitado y acceso por invitación. Catas privadas con maridaje de autor, cenas a cuatro manos, mesas con cocineros que no abren al público.</a:t>
            </a:r>
          </a:p>
        </p:txBody>
      </p:sp>
      <p:sp>
        <p:nvSpPr>
          <p:cNvPr id="10" name="Rectangle 9"/>
          <p:cNvSpPr/>
          <p:nvPr/>
        </p:nvSpPr>
        <p:spPr>
          <a:xfrm>
            <a:off x="777240" y="2743200"/>
            <a:ext cx="6858000" cy="987552"/>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916936"/>
            <a:ext cx="6510528" cy="201168"/>
          </a:xfrm>
          <a:prstGeom prst="rect">
            <a:avLst/>
          </a:prstGeom>
          <a:noFill/>
        </p:spPr>
        <p:txBody>
          <a:bodyPr wrap="square" lIns="0" rIns="0" tIns="0" bIns="0" anchor="t">
            <a:spAutoFit/>
          </a:bodyPr>
          <a:lstStyle/>
          <a:p>
            <a:pPr algn="l">
              <a:lnSpc>
                <a:spcPct val="108000"/>
              </a:lnSpc>
              <a:spcAft>
                <a:spcPts val="0"/>
              </a:spcAft>
            </a:pPr>
            <a:r>
              <a:rPr sz="750" b="1">
                <a:solidFill>
                  <a:srgbClr val="8A6B1F"/>
                </a:solidFill>
                <a:latin typeface="Helvetica Neue"/>
              </a:rPr>
              <a:t>LA ESCASEZ ES EL PUNTO</a:t>
            </a:r>
          </a:p>
        </p:txBody>
      </p:sp>
      <p:sp>
        <p:nvSpPr>
          <p:cNvPr id="12" name="TextBox 11"/>
          <p:cNvSpPr txBox="1"/>
          <p:nvPr/>
        </p:nvSpPr>
        <p:spPr>
          <a:xfrm>
            <a:off x="950976" y="3154680"/>
            <a:ext cx="6510528" cy="457200"/>
          </a:xfrm>
          <a:prstGeom prst="rect">
            <a:avLst/>
          </a:prstGeom>
          <a:noFill/>
        </p:spPr>
        <p:txBody>
          <a:bodyPr wrap="square" lIns="0" rIns="0" tIns="0" bIns="0" anchor="t">
            <a:spAutoFit/>
          </a:bodyPr>
          <a:lstStyle/>
          <a:p>
            <a:pPr algn="l">
              <a:lnSpc>
                <a:spcPct val="106000"/>
              </a:lnSpc>
              <a:spcAft>
                <a:spcPts val="0"/>
              </a:spcAft>
            </a:pPr>
            <a:r>
              <a:rPr sz="1200" b="1">
                <a:solidFill>
                  <a:srgbClr val="0A2540"/>
                </a:solidFill>
                <a:latin typeface="Georgia"/>
              </a:rPr>
              <a:t>18.400 Black · 150 cupos</a:t>
            </a:r>
          </a:p>
        </p:txBody>
      </p:sp>
      <p:sp>
        <p:nvSpPr>
          <p:cNvPr id="13" name="TextBox 12"/>
          <p:cNvSpPr txBox="1"/>
          <p:nvPr/>
        </p:nvSpPr>
        <p:spPr>
          <a:xfrm>
            <a:off x="950976" y="3566160"/>
            <a:ext cx="6510528" cy="27431"/>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El cupo corto no es un problema de logística. Es el beneficio.</a:t>
            </a:r>
          </a:p>
        </p:txBody>
      </p:sp>
      <p:sp>
        <p:nvSpPr>
          <p:cNvPr id="14" name="Rectangle 13"/>
          <p:cNvSpPr/>
          <p:nvPr/>
        </p:nvSpPr>
        <p:spPr>
          <a:xfrm>
            <a:off x="777240" y="3840480"/>
            <a:ext cx="6858000" cy="987552"/>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4014216"/>
            <a:ext cx="6510528"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RENDIMIENTO TRIPLE</a:t>
            </a:r>
          </a:p>
        </p:txBody>
      </p:sp>
      <p:sp>
        <p:nvSpPr>
          <p:cNvPr id="16" name="TextBox 15"/>
          <p:cNvSpPr txBox="1"/>
          <p:nvPr/>
        </p:nvSpPr>
        <p:spPr>
          <a:xfrm>
            <a:off x="950976" y="4251960"/>
            <a:ext cx="6510528" cy="457200"/>
          </a:xfrm>
          <a:prstGeom prst="rect">
            <a:avLst/>
          </a:prstGeom>
          <a:noFill/>
        </p:spPr>
        <p:txBody>
          <a:bodyPr wrap="square" lIns="0" rIns="0" tIns="0" bIns="0" anchor="t">
            <a:spAutoFit/>
          </a:bodyPr>
          <a:lstStyle/>
          <a:p>
            <a:pPr algn="l">
              <a:lnSpc>
                <a:spcPct val="106000"/>
              </a:lnSpc>
              <a:spcAft>
                <a:spcPts val="0"/>
              </a:spcAft>
            </a:pPr>
            <a:r>
              <a:rPr sz="1200" b="1">
                <a:solidFill>
                  <a:srgbClr val="0A2540"/>
                </a:solidFill>
                <a:latin typeface="Georgia"/>
              </a:rPr>
              <a:t>Se paga una vez, se cuenta tres</a:t>
            </a:r>
          </a:p>
        </p:txBody>
      </p:sp>
      <p:sp>
        <p:nvSpPr>
          <p:cNvPr id="17" name="TextBox 16"/>
          <p:cNvSpPr txBox="1"/>
          <p:nvPr/>
        </p:nvSpPr>
        <p:spPr>
          <a:xfrm>
            <a:off x="950976" y="4663440"/>
            <a:ext cx="6510528" cy="27431"/>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Evento, reel de cubrimiento y artículo permanente. El contenido alcanza a quien no estuvo.</a:t>
            </a:r>
          </a:p>
        </p:txBody>
      </p:sp>
      <p:sp>
        <p:nvSpPr>
          <p:cNvPr id="18" name="Rectangle 17"/>
          <p:cNvSpPr/>
          <p:nvPr/>
        </p:nvSpPr>
        <p:spPr>
          <a:xfrm>
            <a:off x="777240" y="4937760"/>
            <a:ext cx="6858000" cy="987552"/>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5111496"/>
            <a:ext cx="6510528"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LO QUE SE CUENTA DESPUÉS</a:t>
            </a:r>
          </a:p>
        </p:txBody>
      </p:sp>
      <p:sp>
        <p:nvSpPr>
          <p:cNvPr id="20" name="TextBox 19"/>
          <p:cNvSpPr txBox="1"/>
          <p:nvPr/>
        </p:nvSpPr>
        <p:spPr>
          <a:xfrm>
            <a:off x="950976" y="5349240"/>
            <a:ext cx="6510528" cy="457200"/>
          </a:xfrm>
          <a:prstGeom prst="rect">
            <a:avLst/>
          </a:prstGeom>
          <a:noFill/>
        </p:spPr>
        <p:txBody>
          <a:bodyPr wrap="square" lIns="0" rIns="0" tIns="0" bIns="0" anchor="t">
            <a:spAutoFit/>
          </a:bodyPr>
          <a:lstStyle/>
          <a:p>
            <a:pPr algn="l">
              <a:lnSpc>
                <a:spcPct val="106000"/>
              </a:lnSpc>
              <a:spcAft>
                <a:spcPts val="0"/>
              </a:spcAft>
            </a:pPr>
            <a:r>
              <a:rPr sz="1200" b="1">
                <a:solidFill>
                  <a:srgbClr val="0A2540"/>
                </a:solidFill>
                <a:latin typeface="Georgia"/>
              </a:rPr>
              <a:t>Conversación, no impresiones</a:t>
            </a:r>
          </a:p>
        </p:txBody>
      </p:sp>
      <p:sp>
        <p:nvSpPr>
          <p:cNvPr id="21" name="TextBox 20"/>
          <p:cNvSpPr txBox="1"/>
          <p:nvPr/>
        </p:nvSpPr>
        <p:spPr>
          <a:xfrm>
            <a:off x="950976" y="5760720"/>
            <a:ext cx="6510528" cy="27431"/>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Un grupo corto y bien escogido hace hablar más que decenas de miles de impresiones.</a:t>
            </a:r>
          </a:p>
        </p:txBody>
      </p:sp>
      <p:sp>
        <p:nvSpPr>
          <p:cNvPr id="22" name="TextBox 21"/>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6 EXPERIENCIAS · CUPO CORTO POR INVITACIÓN</a:t>
            </a:r>
          </a:p>
        </p:txBody>
      </p:sp>
      <p:sp>
        <p:nvSpPr>
          <p:cNvPr id="23" name="TextBox 22"/>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erfil.jpg"/>
          <p:cNvPicPr>
            <a:picLocks noChangeAspect="1"/>
          </p:cNvPicPr>
          <p:nvPr/>
        </p:nvPicPr>
        <p:blipFill>
          <a:blip r:embed="rId2"/>
          <a:stretch>
            <a:fillRect/>
          </a:stretch>
        </p:blipFill>
        <p:spPr>
          <a:xfrm>
            <a:off x="8229600" y="0"/>
            <a:ext cx="3959352" cy="6858000"/>
          </a:xfrm>
          <a:prstGeom prst="rect">
            <a:avLst/>
          </a:prstGeom>
        </p:spPr>
      </p:pic>
      <p:sp>
        <p:nvSpPr>
          <p:cNvPr id="4" name="Rectangle 3"/>
          <p:cNvSpPr/>
          <p:nvPr/>
        </p:nvSpPr>
        <p:spPr>
          <a:xfrm>
            <a:off x="8229600" y="0"/>
            <a:ext cx="3959352" cy="6858000"/>
          </a:xfrm>
          <a:prstGeom prst="rect">
            <a:avLst/>
          </a:prstGeom>
          <a:solidFill>
            <a:srgbClr val="0A254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5486400"/>
            <a:ext cx="3410712" cy="914400"/>
          </a:xfrm>
          <a:prstGeom prst="rect">
            <a:avLst/>
          </a:prstGeom>
          <a:noFill/>
        </p:spPr>
        <p:txBody>
          <a:bodyPr wrap="square" lIns="0" rIns="0" tIns="0" bIns="0" anchor="b">
            <a:spAutoFit/>
          </a:bodyPr>
          <a:lstStyle/>
          <a:p>
            <a:pPr algn="l">
              <a:lnSpc>
                <a:spcPct val="114000"/>
              </a:lnSpc>
              <a:spcAft>
                <a:spcPts val="0"/>
              </a:spcAft>
            </a:pPr>
            <a:r>
              <a:rPr sz="1900" b="0">
                <a:solidFill>
                  <a:srgbClr val="FFFFFF"/>
                </a:solidFill>
                <a:latin typeface="Georgia"/>
              </a:rPr>
              <a:t>El medio de menor costo
del plan está en la
puerta del aliado</a:t>
            </a:r>
          </a:p>
        </p:txBody>
      </p:sp>
      <p:sp>
        <p:nvSpPr>
          <p:cNvPr id="6" name="TextBox 5"/>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LA IDEA QUE SOSTIENE EL PLAN</a:t>
            </a:r>
          </a:p>
        </p:txBody>
      </p:sp>
      <p:sp>
        <p:nvSpPr>
          <p:cNvPr id="7" name="TextBox 6"/>
          <p:cNvSpPr txBox="1"/>
          <p:nvPr/>
        </p:nvSpPr>
        <p:spPr>
          <a:xfrm>
            <a:off x="777240" y="960120"/>
            <a:ext cx="6949440" cy="1280160"/>
          </a:xfrm>
          <a:prstGeom prst="rect">
            <a:avLst/>
          </a:prstGeom>
          <a:noFill/>
        </p:spPr>
        <p:txBody>
          <a:bodyPr wrap="square" lIns="0" rIns="0" tIns="0" bIns="0" anchor="t">
            <a:spAutoFit/>
          </a:bodyPr>
          <a:lstStyle/>
          <a:p>
            <a:pPr algn="l">
              <a:lnSpc>
                <a:spcPct val="102000"/>
              </a:lnSpc>
              <a:spcAft>
                <a:spcPts val="0"/>
              </a:spcAft>
            </a:pPr>
            <a:r>
              <a:rPr sz="3200" b="0">
                <a:solidFill>
                  <a:srgbClr val="0A2540"/>
                </a:solidFill>
                <a:latin typeface="Georgia"/>
              </a:rPr>
              <a:t>Un sello en la vitrina</a:t>
            </a:r>
          </a:p>
        </p:txBody>
      </p:sp>
      <p:sp>
        <p:nvSpPr>
          <p:cNvPr id="8" name="Rectangle 7"/>
          <p:cNvSpPr/>
          <p:nvPr/>
        </p:nvSpPr>
        <p:spPr>
          <a:xfrm>
            <a:off x="777240" y="1783080"/>
            <a:ext cx="6766560"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38528"/>
            <a:ext cx="6766560" cy="64008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Una placa física en la entrada de cada aliado verificado. Es la pieza de menor costo unitario del plan y la de mayor rendimiento, porque resuelve cuatro problemas distintos con una sola producción.</a:t>
            </a:r>
          </a:p>
        </p:txBody>
      </p:sp>
      <p:sp>
        <p:nvSpPr>
          <p:cNvPr id="10" name="Rectangle 9"/>
          <p:cNvSpPr/>
          <p:nvPr/>
        </p:nvSpPr>
        <p:spPr>
          <a:xfrm>
            <a:off x="777240" y="2743200"/>
            <a:ext cx="3264408" cy="148132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916936"/>
            <a:ext cx="2916936" cy="201168"/>
          </a:xfrm>
          <a:prstGeom prst="rect">
            <a:avLst/>
          </a:prstGeom>
          <a:noFill/>
        </p:spPr>
        <p:txBody>
          <a:bodyPr wrap="square" lIns="0" rIns="0" tIns="0" bIns="0" anchor="t">
            <a:spAutoFit/>
          </a:bodyPr>
          <a:lstStyle/>
          <a:p>
            <a:pPr algn="l">
              <a:lnSpc>
                <a:spcPct val="108000"/>
              </a:lnSpc>
              <a:spcAft>
                <a:spcPts val="0"/>
              </a:spcAft>
            </a:pPr>
            <a:r>
              <a:rPr sz="750" b="1">
                <a:solidFill>
                  <a:srgbClr val="8A6B1F"/>
                </a:solidFill>
                <a:latin typeface="Helvetica Neue"/>
              </a:rPr>
              <a:t>RESUELVE 1</a:t>
            </a:r>
          </a:p>
        </p:txBody>
      </p:sp>
      <p:sp>
        <p:nvSpPr>
          <p:cNvPr id="12" name="TextBox 11"/>
          <p:cNvSpPr txBox="1"/>
          <p:nvPr/>
        </p:nvSpPr>
        <p:spPr>
          <a:xfrm>
            <a:off x="950976" y="3154680"/>
            <a:ext cx="29169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Dice dónde sí funciona</a:t>
            </a:r>
          </a:p>
        </p:txBody>
      </p:sp>
      <p:sp>
        <p:nvSpPr>
          <p:cNvPr id="13" name="TextBox 12"/>
          <p:cNvSpPr txBox="1"/>
          <p:nvPr/>
        </p:nvSpPr>
        <p:spPr>
          <a:xfrm>
            <a:off x="950976" y="3566160"/>
            <a:ext cx="2916936" cy="521207"/>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El tarjetahabiente ve el sello antes de entrar y sabe que ahí la reciben. Respuesta física al problema de aceptación.</a:t>
            </a:r>
          </a:p>
        </p:txBody>
      </p:sp>
      <p:sp>
        <p:nvSpPr>
          <p:cNvPr id="14" name="Rectangle 13"/>
          <p:cNvSpPr/>
          <p:nvPr/>
        </p:nvSpPr>
        <p:spPr>
          <a:xfrm>
            <a:off x="4233672" y="2743200"/>
            <a:ext cx="3264408" cy="148132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2916936"/>
            <a:ext cx="2916936" cy="201168"/>
          </a:xfrm>
          <a:prstGeom prst="rect">
            <a:avLst/>
          </a:prstGeom>
          <a:noFill/>
        </p:spPr>
        <p:txBody>
          <a:bodyPr wrap="square" lIns="0" rIns="0" tIns="0" bIns="0" anchor="t">
            <a:spAutoFit/>
          </a:bodyPr>
          <a:lstStyle/>
          <a:p>
            <a:pPr algn="l">
              <a:lnSpc>
                <a:spcPct val="108000"/>
              </a:lnSpc>
              <a:spcAft>
                <a:spcPts val="0"/>
              </a:spcAft>
            </a:pPr>
            <a:r>
              <a:rPr sz="750" b="1">
                <a:solidFill>
                  <a:srgbClr val="8A6B1F"/>
                </a:solidFill>
                <a:latin typeface="Helvetica Neue"/>
              </a:rPr>
              <a:t>RESUELVE 2</a:t>
            </a:r>
          </a:p>
        </p:txBody>
      </p:sp>
      <p:sp>
        <p:nvSpPr>
          <p:cNvPr id="16" name="TextBox 15"/>
          <p:cNvSpPr txBox="1"/>
          <p:nvPr/>
        </p:nvSpPr>
        <p:spPr>
          <a:xfrm>
            <a:off x="4407408" y="3154680"/>
            <a:ext cx="29169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Convierte la lista en estatus</a:t>
            </a:r>
          </a:p>
        </p:txBody>
      </p:sp>
      <p:sp>
        <p:nvSpPr>
          <p:cNvPr id="17" name="TextBox 16"/>
          <p:cNvSpPr txBox="1"/>
          <p:nvPr/>
        </p:nvSpPr>
        <p:spPr>
          <a:xfrm>
            <a:off x="4407408" y="3758184"/>
            <a:ext cx="2916936" cy="329183"/>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Estar en la selección prestigia al restaurante. No es publicidad que tolera, es reconocimiento que exhibe.</a:t>
            </a:r>
          </a:p>
        </p:txBody>
      </p:sp>
      <p:sp>
        <p:nvSpPr>
          <p:cNvPr id="18" name="Rectangle 17"/>
          <p:cNvSpPr/>
          <p:nvPr/>
        </p:nvSpPr>
        <p:spPr>
          <a:xfrm>
            <a:off x="777240" y="4343400"/>
            <a:ext cx="3264408" cy="1481328"/>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517136"/>
            <a:ext cx="2916936"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RESUELVE 3</a:t>
            </a:r>
          </a:p>
        </p:txBody>
      </p:sp>
      <p:sp>
        <p:nvSpPr>
          <p:cNvPr id="20" name="TextBox 19"/>
          <p:cNvSpPr txBox="1"/>
          <p:nvPr/>
        </p:nvSpPr>
        <p:spPr>
          <a:xfrm>
            <a:off x="950976" y="4754880"/>
            <a:ext cx="29169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Paga la red de aliados</a:t>
            </a:r>
          </a:p>
        </p:txBody>
      </p:sp>
      <p:sp>
        <p:nvSpPr>
          <p:cNvPr id="21" name="TextBox 20"/>
          <p:cNvSpPr txBox="1"/>
          <p:nvPr/>
        </p:nvSpPr>
        <p:spPr>
          <a:xfrm>
            <a:off x="950976" y="5166360"/>
            <a:ext cx="2916936" cy="521207"/>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Lo que compra el aliado no es un banner: es pertenecer a una lista firmada por la Revista Diners.</a:t>
            </a:r>
          </a:p>
        </p:txBody>
      </p:sp>
      <p:sp>
        <p:nvSpPr>
          <p:cNvPr id="22" name="Rectangle 21"/>
          <p:cNvSpPr/>
          <p:nvPr/>
        </p:nvSpPr>
        <p:spPr>
          <a:xfrm>
            <a:off x="4233672" y="4343400"/>
            <a:ext cx="3264408" cy="1481328"/>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07408" y="4517136"/>
            <a:ext cx="2916936"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RESUELVE 4</a:t>
            </a:r>
          </a:p>
        </p:txBody>
      </p:sp>
      <p:sp>
        <p:nvSpPr>
          <p:cNvPr id="24" name="TextBox 23"/>
          <p:cNvSpPr txBox="1"/>
          <p:nvPr/>
        </p:nvSpPr>
        <p:spPr>
          <a:xfrm>
            <a:off x="4407408" y="4754880"/>
            <a:ext cx="2916936" cy="457200"/>
          </a:xfrm>
          <a:prstGeom prst="rect">
            <a:avLst/>
          </a:prstGeom>
          <a:noFill/>
        </p:spPr>
        <p:txBody>
          <a:bodyPr wrap="square" lIns="0" rIns="0" tIns="0" bIns="0" anchor="t">
            <a:spAutoFit/>
          </a:bodyPr>
          <a:lstStyle/>
          <a:p>
            <a:pPr algn="l">
              <a:lnSpc>
                <a:spcPct val="106000"/>
              </a:lnSpc>
              <a:spcAft>
                <a:spcPts val="0"/>
              </a:spcAft>
            </a:pPr>
            <a:r>
              <a:rPr sz="1150" b="1">
                <a:solidFill>
                  <a:srgbClr val="0A2540"/>
                </a:solidFill>
                <a:latin typeface="Georgia"/>
              </a:rPr>
              <a:t>40 vitrinas sin costo de pauta</a:t>
            </a:r>
          </a:p>
        </p:txBody>
      </p:sp>
      <p:sp>
        <p:nvSpPr>
          <p:cNvPr id="25" name="TextBox 24"/>
          <p:cNvSpPr txBox="1"/>
          <p:nvPr/>
        </p:nvSpPr>
        <p:spPr>
          <a:xfrm>
            <a:off x="4407408" y="5358384"/>
            <a:ext cx="2916936" cy="329183"/>
          </a:xfrm>
          <a:prstGeom prst="rect">
            <a:avLst/>
          </a:prstGeom>
          <a:noFill/>
        </p:spPr>
        <p:txBody>
          <a:bodyPr wrap="square" lIns="0" rIns="0" tIns="0" bIns="0" anchor="t">
            <a:spAutoFit/>
          </a:bodyPr>
          <a:lstStyle/>
          <a:p>
            <a:pPr algn="l">
              <a:lnSpc>
                <a:spcPct val="126000"/>
              </a:lnSpc>
              <a:spcAft>
                <a:spcPts val="0"/>
              </a:spcAft>
            </a:pPr>
            <a:r>
              <a:rPr sz="850" b="0">
                <a:solidFill>
                  <a:srgbClr val="14263D"/>
                </a:solidFill>
                <a:latin typeface="Helvetica Neue"/>
              </a:rPr>
              <a:t>En las mejores zonas de Bogotá, visible todo el día, todo el año, frente al público exacto.</a:t>
            </a:r>
          </a:p>
        </p:txBody>
      </p:sp>
      <p:sp>
        <p:nvSpPr>
          <p:cNvPr id="26" name="TextBox 25"/>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PRODUCCIÓN UNA VEZ · EXHIBICIÓN PERMANENTE</a:t>
            </a:r>
          </a:p>
        </p:txBody>
      </p:sp>
      <p:sp>
        <p:nvSpPr>
          <p:cNvPr id="27" name="TextBox 26"/>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EFICIENCIA DEL MODELO</a:t>
            </a:r>
          </a:p>
        </p:txBody>
      </p:sp>
      <p:sp>
        <p:nvSpPr>
          <p:cNvPr id="4" name="TextBox 3"/>
          <p:cNvSpPr txBox="1"/>
          <p:nvPr/>
        </p:nvSpPr>
        <p:spPr>
          <a:xfrm>
            <a:off x="777240" y="960120"/>
            <a:ext cx="7863840" cy="1280160"/>
          </a:xfrm>
          <a:prstGeom prst="rect">
            <a:avLst/>
          </a:prstGeom>
          <a:noFill/>
        </p:spPr>
        <p:txBody>
          <a:bodyPr wrap="square" lIns="0" rIns="0" tIns="0" bIns="0" anchor="t">
            <a:spAutoFit/>
          </a:bodyPr>
          <a:lstStyle/>
          <a:p>
            <a:pPr algn="l">
              <a:lnSpc>
                <a:spcPct val="102000"/>
              </a:lnSpc>
              <a:spcAft>
                <a:spcPts val="0"/>
              </a:spcAft>
            </a:pPr>
            <a:r>
              <a:rPr sz="3400" b="0">
                <a:solidFill>
                  <a:srgbClr val="0A2540"/>
                </a:solidFill>
                <a:latin typeface="Georgia"/>
              </a:rPr>
              <a:t>Multiplicadores de la inversión</a:t>
            </a:r>
          </a:p>
        </p:txBody>
      </p:sp>
      <p:sp>
        <p:nvSpPr>
          <p:cNvPr id="5" name="Rectangle 4"/>
          <p:cNvSpPr/>
          <p:nvPr/>
        </p:nvSpPr>
        <p:spPr>
          <a:xfrm>
            <a:off x="777240" y="1783080"/>
            <a:ext cx="10637215"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10332720" cy="41148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Seis mecanismos que hacen que una misma inversión produzca resultado en más de un frente. Están incorporados en los tres paquetes, no son adicionales.</a:t>
            </a:r>
          </a:p>
        </p:txBody>
      </p:sp>
      <p:sp>
        <p:nvSpPr>
          <p:cNvPr id="7" name="Rectangle 6"/>
          <p:cNvSpPr/>
          <p:nvPr/>
        </p:nvSpPr>
        <p:spPr>
          <a:xfrm>
            <a:off x="777240" y="2514600"/>
            <a:ext cx="3401568" cy="1664208"/>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60904"/>
            <a:ext cx="3017520" cy="274320"/>
          </a:xfrm>
          <a:prstGeom prst="rect">
            <a:avLst/>
          </a:prstGeom>
          <a:noFill/>
        </p:spPr>
        <p:txBody>
          <a:bodyPr wrap="square" lIns="0" rIns="0" tIns="0" bIns="0" anchor="t">
            <a:spAutoFit/>
          </a:bodyPr>
          <a:lstStyle/>
          <a:p>
            <a:pPr algn="l">
              <a:lnSpc>
                <a:spcPct val="108000"/>
              </a:lnSpc>
              <a:spcAft>
                <a:spcPts val="0"/>
              </a:spcAft>
            </a:pPr>
            <a:r>
              <a:rPr sz="1500" b="1">
                <a:solidFill>
                  <a:srgbClr val="D2A855"/>
                </a:solidFill>
                <a:latin typeface="Helvetica Neue"/>
              </a:rPr>
              <a:t>01</a:t>
            </a:r>
          </a:p>
        </p:txBody>
      </p:sp>
      <p:sp>
        <p:nvSpPr>
          <p:cNvPr id="9" name="TextBox 8"/>
          <p:cNvSpPr txBox="1"/>
          <p:nvPr/>
        </p:nvSpPr>
        <p:spPr>
          <a:xfrm>
            <a:off x="960120" y="2971800"/>
            <a:ext cx="3017520"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RENDIMIENTO POR PIEZA</a:t>
            </a:r>
          </a:p>
        </p:txBody>
      </p:sp>
      <p:sp>
        <p:nvSpPr>
          <p:cNvPr id="10" name="TextBox 9"/>
          <p:cNvSpPr txBox="1"/>
          <p:nvPr/>
        </p:nvSpPr>
        <p:spPr>
          <a:xfrm>
            <a:off x="960120" y="3172968"/>
            <a:ext cx="3017520" cy="320040"/>
          </a:xfrm>
          <a:prstGeom prst="rect">
            <a:avLst/>
          </a:prstGeom>
          <a:noFill/>
        </p:spPr>
        <p:txBody>
          <a:bodyPr wrap="square" lIns="0" rIns="0" tIns="0" bIns="0" anchor="t">
            <a:spAutoFit/>
          </a:bodyPr>
          <a:lstStyle/>
          <a:p>
            <a:pPr algn="l">
              <a:lnSpc>
                <a:spcPct val="105000"/>
              </a:lnSpc>
              <a:spcAft>
                <a:spcPts val="0"/>
              </a:spcAft>
            </a:pPr>
            <a:r>
              <a:rPr sz="1150" b="1">
                <a:solidFill>
                  <a:srgbClr val="FFFFFF"/>
                </a:solidFill>
                <a:latin typeface="Georgia"/>
              </a:rPr>
              <a:t>Una experiencia, cinco salidas</a:t>
            </a:r>
          </a:p>
        </p:txBody>
      </p:sp>
      <p:sp>
        <p:nvSpPr>
          <p:cNvPr id="11" name="TextBox 10"/>
          <p:cNvSpPr txBox="1"/>
          <p:nvPr/>
        </p:nvSpPr>
        <p:spPr>
          <a:xfrm>
            <a:off x="960120" y="3557015"/>
            <a:ext cx="3017520" cy="566928"/>
          </a:xfrm>
          <a:prstGeom prst="rect">
            <a:avLst/>
          </a:prstGeom>
          <a:noFill/>
        </p:spPr>
        <p:txBody>
          <a:bodyPr wrap="square" lIns="0" rIns="0" tIns="0" bIns="0" anchor="t">
            <a:spAutoFit/>
          </a:bodyPr>
          <a:lstStyle/>
          <a:p>
            <a:pPr algn="l">
              <a:lnSpc>
                <a:spcPct val="124000"/>
              </a:lnSpc>
              <a:spcAft>
                <a:spcPts val="0"/>
              </a:spcAft>
            </a:pPr>
            <a:r>
              <a:rPr sz="830" b="0">
                <a:solidFill>
                  <a:srgbClr val="D8DDE4"/>
                </a:solidFill>
                <a:latin typeface="Helvetica Neue"/>
              </a:rPr>
              <a:t>Un costo de producción, cinco superficies de contacto: evento, reel, artículo, La Mesa Diners y newsletter.</a:t>
            </a:r>
          </a:p>
        </p:txBody>
      </p:sp>
      <p:sp>
        <p:nvSpPr>
          <p:cNvPr id="12" name="Rectangle 11"/>
          <p:cNvSpPr/>
          <p:nvPr/>
        </p:nvSpPr>
        <p:spPr>
          <a:xfrm>
            <a:off x="4370832" y="2514600"/>
            <a:ext cx="3401568" cy="1664208"/>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660904"/>
            <a:ext cx="3017520" cy="274320"/>
          </a:xfrm>
          <a:prstGeom prst="rect">
            <a:avLst/>
          </a:prstGeom>
          <a:noFill/>
        </p:spPr>
        <p:txBody>
          <a:bodyPr wrap="square" lIns="0" rIns="0" tIns="0" bIns="0" anchor="t">
            <a:spAutoFit/>
          </a:bodyPr>
          <a:lstStyle/>
          <a:p>
            <a:pPr algn="l">
              <a:lnSpc>
                <a:spcPct val="108000"/>
              </a:lnSpc>
              <a:spcAft>
                <a:spcPts val="0"/>
              </a:spcAft>
            </a:pPr>
            <a:r>
              <a:rPr sz="1500" b="1">
                <a:solidFill>
                  <a:srgbClr val="D2A855"/>
                </a:solidFill>
                <a:latin typeface="Helvetica Neue"/>
              </a:rPr>
              <a:t>02</a:t>
            </a:r>
          </a:p>
        </p:txBody>
      </p:sp>
      <p:sp>
        <p:nvSpPr>
          <p:cNvPr id="14" name="TextBox 13"/>
          <p:cNvSpPr txBox="1"/>
          <p:nvPr/>
        </p:nvSpPr>
        <p:spPr>
          <a:xfrm>
            <a:off x="4553712" y="2971800"/>
            <a:ext cx="3017520"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TRASLADO DE COSTO</a:t>
            </a:r>
          </a:p>
        </p:txBody>
      </p:sp>
      <p:sp>
        <p:nvSpPr>
          <p:cNvPr id="15" name="TextBox 14"/>
          <p:cNvSpPr txBox="1"/>
          <p:nvPr/>
        </p:nvSpPr>
        <p:spPr>
          <a:xfrm>
            <a:off x="4553712" y="3172968"/>
            <a:ext cx="3017520" cy="320040"/>
          </a:xfrm>
          <a:prstGeom prst="rect">
            <a:avLst/>
          </a:prstGeom>
          <a:noFill/>
        </p:spPr>
        <p:txBody>
          <a:bodyPr wrap="square" lIns="0" rIns="0" tIns="0" bIns="0" anchor="t">
            <a:spAutoFit/>
          </a:bodyPr>
          <a:lstStyle/>
          <a:p>
            <a:pPr algn="l">
              <a:lnSpc>
                <a:spcPct val="105000"/>
              </a:lnSpc>
              <a:spcAft>
                <a:spcPts val="0"/>
              </a:spcAft>
            </a:pPr>
            <a:r>
              <a:rPr sz="1150" b="1">
                <a:solidFill>
                  <a:srgbClr val="FFFFFF"/>
                </a:solidFill>
                <a:latin typeface="Georgia"/>
              </a:rPr>
              <a:t>El aliado produce la experiencia</a:t>
            </a:r>
          </a:p>
        </p:txBody>
      </p:sp>
      <p:sp>
        <p:nvSpPr>
          <p:cNvPr id="16" name="TextBox 15"/>
          <p:cNvSpPr txBox="1"/>
          <p:nvPr/>
        </p:nvSpPr>
        <p:spPr>
          <a:xfrm>
            <a:off x="4553712" y="3557015"/>
            <a:ext cx="3017520" cy="566928"/>
          </a:xfrm>
          <a:prstGeom prst="rect">
            <a:avLst/>
          </a:prstGeom>
          <a:noFill/>
        </p:spPr>
        <p:txBody>
          <a:bodyPr wrap="square" lIns="0" rIns="0" tIns="0" bIns="0" anchor="t">
            <a:spAutoFit/>
          </a:bodyPr>
          <a:lstStyle/>
          <a:p>
            <a:pPr algn="l">
              <a:lnSpc>
                <a:spcPct val="124000"/>
              </a:lnSpc>
              <a:spcAft>
                <a:spcPts val="0"/>
              </a:spcAft>
            </a:pPr>
            <a:r>
              <a:rPr sz="830" b="0">
                <a:solidFill>
                  <a:srgbClr val="D8DDE4"/>
                </a:solidFill>
                <a:latin typeface="Helvetica Neue"/>
              </a:rPr>
              <a:t>Aporta cocina, espacio y equipo a cambio del cubrimiento. La línea de mayor costo baja a coordinación.</a:t>
            </a:r>
          </a:p>
        </p:txBody>
      </p:sp>
      <p:sp>
        <p:nvSpPr>
          <p:cNvPr id="17" name="Rectangle 16"/>
          <p:cNvSpPr/>
          <p:nvPr/>
        </p:nvSpPr>
        <p:spPr>
          <a:xfrm>
            <a:off x="7964424" y="2514600"/>
            <a:ext cx="3401568" cy="1664208"/>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2660904"/>
            <a:ext cx="3017520" cy="274320"/>
          </a:xfrm>
          <a:prstGeom prst="rect">
            <a:avLst/>
          </a:prstGeom>
          <a:noFill/>
        </p:spPr>
        <p:txBody>
          <a:bodyPr wrap="square" lIns="0" rIns="0" tIns="0" bIns="0" anchor="t">
            <a:spAutoFit/>
          </a:bodyPr>
          <a:lstStyle/>
          <a:p>
            <a:pPr algn="l">
              <a:lnSpc>
                <a:spcPct val="108000"/>
              </a:lnSpc>
              <a:spcAft>
                <a:spcPts val="0"/>
              </a:spcAft>
            </a:pPr>
            <a:r>
              <a:rPr sz="1500" b="1">
                <a:solidFill>
                  <a:srgbClr val="D2A855"/>
                </a:solidFill>
                <a:latin typeface="Helvetica Neue"/>
              </a:rPr>
              <a:t>03</a:t>
            </a:r>
          </a:p>
        </p:txBody>
      </p:sp>
      <p:sp>
        <p:nvSpPr>
          <p:cNvPr id="19" name="TextBox 18"/>
          <p:cNvSpPr txBox="1"/>
          <p:nvPr/>
        </p:nvSpPr>
        <p:spPr>
          <a:xfrm>
            <a:off x="8147304" y="2971800"/>
            <a:ext cx="3017520" cy="182880"/>
          </a:xfrm>
          <a:prstGeom prst="rect">
            <a:avLst/>
          </a:prstGeom>
          <a:noFill/>
        </p:spPr>
        <p:txBody>
          <a:bodyPr wrap="square" lIns="0" rIns="0" tIns="0" bIns="0" anchor="t">
            <a:spAutoFit/>
          </a:bodyPr>
          <a:lstStyle/>
          <a:p>
            <a:pPr algn="l">
              <a:lnSpc>
                <a:spcPct val="108000"/>
              </a:lnSpc>
              <a:spcAft>
                <a:spcPts val="0"/>
              </a:spcAft>
            </a:pPr>
            <a:r>
              <a:rPr sz="700" b="1">
                <a:solidFill>
                  <a:srgbClr val="D2A855"/>
                </a:solidFill>
                <a:latin typeface="Helvetica Neue"/>
              </a:rPr>
              <a:t>ACTIVO EXISTENTE</a:t>
            </a:r>
          </a:p>
        </p:txBody>
      </p:sp>
      <p:sp>
        <p:nvSpPr>
          <p:cNvPr id="20" name="TextBox 19"/>
          <p:cNvSpPr txBox="1"/>
          <p:nvPr/>
        </p:nvSpPr>
        <p:spPr>
          <a:xfrm>
            <a:off x="8147304" y="3172968"/>
            <a:ext cx="3017520" cy="320040"/>
          </a:xfrm>
          <a:prstGeom prst="rect">
            <a:avLst/>
          </a:prstGeom>
          <a:noFill/>
        </p:spPr>
        <p:txBody>
          <a:bodyPr wrap="square" lIns="0" rIns="0" tIns="0" bIns="0" anchor="t">
            <a:spAutoFit/>
          </a:bodyPr>
          <a:lstStyle/>
          <a:p>
            <a:pPr algn="l">
              <a:lnSpc>
                <a:spcPct val="105000"/>
              </a:lnSpc>
              <a:spcAft>
                <a:spcPts val="0"/>
              </a:spcAft>
            </a:pPr>
            <a:r>
              <a:rPr sz="1150" b="1">
                <a:solidFill>
                  <a:srgbClr val="FFFFFF"/>
                </a:solidFill>
                <a:latin typeface="Georgia"/>
              </a:rPr>
              <a:t>El Índice Diners</a:t>
            </a:r>
          </a:p>
        </p:txBody>
      </p:sp>
      <p:sp>
        <p:nvSpPr>
          <p:cNvPr id="21" name="TextBox 20"/>
          <p:cNvSpPr txBox="1"/>
          <p:nvPr/>
        </p:nvSpPr>
        <p:spPr>
          <a:xfrm>
            <a:off x="8147304" y="3557015"/>
            <a:ext cx="3017520" cy="566928"/>
          </a:xfrm>
          <a:prstGeom prst="rect">
            <a:avLst/>
          </a:prstGeom>
          <a:noFill/>
        </p:spPr>
        <p:txBody>
          <a:bodyPr wrap="square" lIns="0" rIns="0" tIns="0" bIns="0" anchor="t">
            <a:spAutoFit/>
          </a:bodyPr>
          <a:lstStyle/>
          <a:p>
            <a:pPr algn="l">
              <a:lnSpc>
                <a:spcPct val="124000"/>
              </a:lnSpc>
              <a:spcAft>
                <a:spcPts val="0"/>
              </a:spcAft>
            </a:pPr>
            <a:r>
              <a:rPr sz="830" b="0">
                <a:solidFill>
                  <a:srgbClr val="D8DDE4"/>
                </a:solidFill>
                <a:latin typeface="Helvetica Neue"/>
              </a:rPr>
              <a:t>Sesenta años de archivo y los datos del programa como publicación anual con potencial de prensa.</a:t>
            </a:r>
          </a:p>
        </p:txBody>
      </p:sp>
      <p:sp>
        <p:nvSpPr>
          <p:cNvPr id="22" name="Rectangle 21"/>
          <p:cNvSpPr/>
          <p:nvPr/>
        </p:nvSpPr>
        <p:spPr>
          <a:xfrm>
            <a:off x="777240" y="4297680"/>
            <a:ext cx="3401568" cy="166420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443984"/>
            <a:ext cx="3017520" cy="274320"/>
          </a:xfrm>
          <a:prstGeom prst="rect">
            <a:avLst/>
          </a:prstGeom>
          <a:noFill/>
        </p:spPr>
        <p:txBody>
          <a:bodyPr wrap="square" lIns="0" rIns="0" tIns="0" bIns="0" anchor="t">
            <a:spAutoFit/>
          </a:bodyPr>
          <a:lstStyle/>
          <a:p>
            <a:pPr algn="l">
              <a:lnSpc>
                <a:spcPct val="108000"/>
              </a:lnSpc>
              <a:spcAft>
                <a:spcPts val="0"/>
              </a:spcAft>
            </a:pPr>
            <a:r>
              <a:rPr sz="1500" b="1">
                <a:solidFill>
                  <a:srgbClr val="8A6B1F"/>
                </a:solidFill>
                <a:latin typeface="Helvetica Neue"/>
              </a:rPr>
              <a:t>04</a:t>
            </a:r>
          </a:p>
        </p:txBody>
      </p:sp>
      <p:sp>
        <p:nvSpPr>
          <p:cNvPr id="24" name="TextBox 23"/>
          <p:cNvSpPr txBox="1"/>
          <p:nvPr/>
        </p:nvSpPr>
        <p:spPr>
          <a:xfrm>
            <a:off x="960120" y="4754880"/>
            <a:ext cx="3017520"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RED COMO CANAL</a:t>
            </a:r>
          </a:p>
        </p:txBody>
      </p:sp>
      <p:sp>
        <p:nvSpPr>
          <p:cNvPr id="25" name="TextBox 24"/>
          <p:cNvSpPr txBox="1"/>
          <p:nvPr/>
        </p:nvSpPr>
        <p:spPr>
          <a:xfrm>
            <a:off x="960120" y="4956048"/>
            <a:ext cx="3017520" cy="320040"/>
          </a:xfrm>
          <a:prstGeom prst="rect">
            <a:avLst/>
          </a:prstGeom>
          <a:noFill/>
        </p:spPr>
        <p:txBody>
          <a:bodyPr wrap="square" lIns="0" rIns="0" tIns="0" bIns="0" anchor="t">
            <a:spAutoFit/>
          </a:bodyPr>
          <a:lstStyle/>
          <a:p>
            <a:pPr algn="l">
              <a:lnSpc>
                <a:spcPct val="105000"/>
              </a:lnSpc>
              <a:spcAft>
                <a:spcPts val="0"/>
              </a:spcAft>
            </a:pPr>
            <a:r>
              <a:rPr sz="1150" b="1">
                <a:solidFill>
                  <a:srgbClr val="0A2540"/>
                </a:solidFill>
                <a:latin typeface="Georgia"/>
              </a:rPr>
              <a:t>40 cuentas publicando</a:t>
            </a:r>
          </a:p>
        </p:txBody>
      </p:sp>
      <p:sp>
        <p:nvSpPr>
          <p:cNvPr id="26" name="TextBox 25"/>
          <p:cNvSpPr txBox="1"/>
          <p:nvPr/>
        </p:nvSpPr>
        <p:spPr>
          <a:xfrm>
            <a:off x="960120" y="5340096"/>
            <a:ext cx="3017520" cy="566928"/>
          </a:xfrm>
          <a:prstGeom prst="rect">
            <a:avLst/>
          </a:prstGeom>
          <a:noFill/>
        </p:spPr>
        <p:txBody>
          <a:bodyPr wrap="square" lIns="0" rIns="0" tIns="0" bIns="0" anchor="t">
            <a:spAutoFit/>
          </a:bodyPr>
          <a:lstStyle/>
          <a:p>
            <a:pPr algn="l">
              <a:lnSpc>
                <a:spcPct val="124000"/>
              </a:lnSpc>
              <a:spcAft>
                <a:spcPts val="0"/>
              </a:spcAft>
            </a:pPr>
            <a:r>
              <a:rPr sz="830" b="0">
                <a:solidFill>
                  <a:srgbClr val="14263D"/>
                </a:solidFill>
                <a:latin typeface="Helvetica Neue"/>
              </a:rPr>
              <a:t>Cada aliado promueve el beneficio porque le genera tráfico de alto ticket. Distribución sin inversión.</a:t>
            </a:r>
          </a:p>
        </p:txBody>
      </p:sp>
      <p:sp>
        <p:nvSpPr>
          <p:cNvPr id="27" name="Rectangle 26"/>
          <p:cNvSpPr/>
          <p:nvPr/>
        </p:nvSpPr>
        <p:spPr>
          <a:xfrm>
            <a:off x="4370832" y="4297680"/>
            <a:ext cx="3401568" cy="166420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53712" y="4443984"/>
            <a:ext cx="3017520" cy="274320"/>
          </a:xfrm>
          <a:prstGeom prst="rect">
            <a:avLst/>
          </a:prstGeom>
          <a:noFill/>
        </p:spPr>
        <p:txBody>
          <a:bodyPr wrap="square" lIns="0" rIns="0" tIns="0" bIns="0" anchor="t">
            <a:spAutoFit/>
          </a:bodyPr>
          <a:lstStyle/>
          <a:p>
            <a:pPr algn="l">
              <a:lnSpc>
                <a:spcPct val="108000"/>
              </a:lnSpc>
              <a:spcAft>
                <a:spcPts val="0"/>
              </a:spcAft>
            </a:pPr>
            <a:r>
              <a:rPr sz="1500" b="1">
                <a:solidFill>
                  <a:srgbClr val="8A6B1F"/>
                </a:solidFill>
                <a:latin typeface="Helvetica Neue"/>
              </a:rPr>
              <a:t>05</a:t>
            </a:r>
          </a:p>
        </p:txBody>
      </p:sp>
      <p:sp>
        <p:nvSpPr>
          <p:cNvPr id="29" name="TextBox 28"/>
          <p:cNvSpPr txBox="1"/>
          <p:nvPr/>
        </p:nvSpPr>
        <p:spPr>
          <a:xfrm>
            <a:off x="4553712" y="4754880"/>
            <a:ext cx="3017520"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AJUSTE SIN DESCUENTO</a:t>
            </a:r>
          </a:p>
        </p:txBody>
      </p:sp>
      <p:sp>
        <p:nvSpPr>
          <p:cNvPr id="30" name="TextBox 29"/>
          <p:cNvSpPr txBox="1"/>
          <p:nvPr/>
        </p:nvSpPr>
        <p:spPr>
          <a:xfrm>
            <a:off x="4553712" y="4956048"/>
            <a:ext cx="3017520" cy="320040"/>
          </a:xfrm>
          <a:prstGeom prst="rect">
            <a:avLst/>
          </a:prstGeom>
          <a:noFill/>
        </p:spPr>
        <p:txBody>
          <a:bodyPr wrap="square" lIns="0" rIns="0" tIns="0" bIns="0" anchor="t">
            <a:spAutoFit/>
          </a:bodyPr>
          <a:lstStyle/>
          <a:p>
            <a:pPr algn="l">
              <a:lnSpc>
                <a:spcPct val="105000"/>
              </a:lnSpc>
              <a:spcAft>
                <a:spcPts val="0"/>
              </a:spcAft>
            </a:pPr>
            <a:r>
              <a:rPr sz="1150" b="1">
                <a:solidFill>
                  <a:srgbClr val="0A2540"/>
                </a:solidFill>
                <a:latin typeface="Georgia"/>
              </a:rPr>
              <a:t>AXXIS como variable</a:t>
            </a:r>
          </a:p>
        </p:txBody>
      </p:sp>
      <p:sp>
        <p:nvSpPr>
          <p:cNvPr id="31" name="TextBox 30"/>
          <p:cNvSpPr txBox="1"/>
          <p:nvPr/>
        </p:nvSpPr>
        <p:spPr>
          <a:xfrm>
            <a:off x="4553712" y="5340096"/>
            <a:ext cx="3017520" cy="566928"/>
          </a:xfrm>
          <a:prstGeom prst="rect">
            <a:avLst/>
          </a:prstGeom>
          <a:noFill/>
        </p:spPr>
        <p:txBody>
          <a:bodyPr wrap="square" lIns="0" rIns="0" tIns="0" bIns="0" anchor="t">
            <a:spAutoFit/>
          </a:bodyPr>
          <a:lstStyle/>
          <a:p>
            <a:pPr algn="l">
              <a:lnSpc>
                <a:spcPct val="124000"/>
              </a:lnSpc>
              <a:spcAft>
                <a:spcPts val="0"/>
              </a:spcAft>
            </a:pPr>
            <a:r>
              <a:rPr sz="830" b="0">
                <a:solidFill>
                  <a:srgbClr val="14263D"/>
                </a:solidFill>
                <a:latin typeface="Helvetica Neue"/>
              </a:rPr>
              <a:t>Ficha idéntica con tarifa menor. Amplía cobertura redistribuyendo peso, sin afectar el valor del plan.</a:t>
            </a:r>
          </a:p>
        </p:txBody>
      </p:sp>
      <p:sp>
        <p:nvSpPr>
          <p:cNvPr id="32" name="Rectangle 31"/>
          <p:cNvSpPr/>
          <p:nvPr/>
        </p:nvSpPr>
        <p:spPr>
          <a:xfrm>
            <a:off x="7964424" y="4297680"/>
            <a:ext cx="3401568" cy="1664208"/>
          </a:xfrm>
          <a:prstGeom prst="rect">
            <a:avLst/>
          </a:prstGeom>
          <a:solidFill>
            <a:srgbClr val="F4EAD5"/>
          </a:solidFill>
          <a:ln w="12700">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47304" y="4443984"/>
            <a:ext cx="3017520" cy="274320"/>
          </a:xfrm>
          <a:prstGeom prst="rect">
            <a:avLst/>
          </a:prstGeom>
          <a:noFill/>
        </p:spPr>
        <p:txBody>
          <a:bodyPr wrap="square" lIns="0" rIns="0" tIns="0" bIns="0" anchor="t">
            <a:spAutoFit/>
          </a:bodyPr>
          <a:lstStyle/>
          <a:p>
            <a:pPr algn="l">
              <a:lnSpc>
                <a:spcPct val="108000"/>
              </a:lnSpc>
              <a:spcAft>
                <a:spcPts val="0"/>
              </a:spcAft>
            </a:pPr>
            <a:r>
              <a:rPr sz="1500" b="1">
                <a:solidFill>
                  <a:srgbClr val="8A6B1F"/>
                </a:solidFill>
                <a:latin typeface="Helvetica Neue"/>
              </a:rPr>
              <a:t>06</a:t>
            </a:r>
          </a:p>
        </p:txBody>
      </p:sp>
      <p:sp>
        <p:nvSpPr>
          <p:cNvPr id="34" name="TextBox 33"/>
          <p:cNvSpPr txBox="1"/>
          <p:nvPr/>
        </p:nvSpPr>
        <p:spPr>
          <a:xfrm>
            <a:off x="8147304" y="4754880"/>
            <a:ext cx="3017520" cy="182880"/>
          </a:xfrm>
          <a:prstGeom prst="rect">
            <a:avLst/>
          </a:prstGeom>
          <a:noFill/>
        </p:spPr>
        <p:txBody>
          <a:bodyPr wrap="square" lIns="0" rIns="0" tIns="0" bIns="0" anchor="t">
            <a:spAutoFit/>
          </a:bodyPr>
          <a:lstStyle/>
          <a:p>
            <a:pPr algn="l">
              <a:lnSpc>
                <a:spcPct val="108000"/>
              </a:lnSpc>
              <a:spcAft>
                <a:spcPts val="0"/>
              </a:spcAft>
            </a:pPr>
            <a:r>
              <a:rPr sz="700" b="1">
                <a:solidFill>
                  <a:srgbClr val="8A6B1F"/>
                </a:solidFill>
                <a:latin typeface="Helvetica Neue"/>
              </a:rPr>
              <a:t>CONTENIDO DEL SOCIO</a:t>
            </a:r>
          </a:p>
        </p:txBody>
      </p:sp>
      <p:sp>
        <p:nvSpPr>
          <p:cNvPr id="35" name="TextBox 34"/>
          <p:cNvSpPr txBox="1"/>
          <p:nvPr/>
        </p:nvSpPr>
        <p:spPr>
          <a:xfrm>
            <a:off x="8147304" y="4956048"/>
            <a:ext cx="3017520" cy="320040"/>
          </a:xfrm>
          <a:prstGeom prst="rect">
            <a:avLst/>
          </a:prstGeom>
          <a:noFill/>
        </p:spPr>
        <p:txBody>
          <a:bodyPr wrap="square" lIns="0" rIns="0" tIns="0" bIns="0" anchor="t">
            <a:spAutoFit/>
          </a:bodyPr>
          <a:lstStyle/>
          <a:p>
            <a:pPr algn="l">
              <a:lnSpc>
                <a:spcPct val="105000"/>
              </a:lnSpc>
              <a:spcAft>
                <a:spcPts val="0"/>
              </a:spcAft>
            </a:pPr>
            <a:r>
              <a:rPr sz="1150" b="1">
                <a:solidFill>
                  <a:srgbClr val="0A2540"/>
                </a:solidFill>
                <a:latin typeface="Georgia"/>
              </a:rPr>
              <a:t>La lista la nominan ellos</a:t>
            </a:r>
          </a:p>
        </p:txBody>
      </p:sp>
      <p:sp>
        <p:nvSpPr>
          <p:cNvPr id="36" name="TextBox 35"/>
          <p:cNvSpPr txBox="1"/>
          <p:nvPr/>
        </p:nvSpPr>
        <p:spPr>
          <a:xfrm>
            <a:off x="8147304" y="5340096"/>
            <a:ext cx="3017520" cy="566928"/>
          </a:xfrm>
          <a:prstGeom prst="rect">
            <a:avLst/>
          </a:prstGeom>
          <a:noFill/>
        </p:spPr>
        <p:txBody>
          <a:bodyPr wrap="square" lIns="0" rIns="0" tIns="0" bIns="0" anchor="t">
            <a:spAutoFit/>
          </a:bodyPr>
          <a:lstStyle/>
          <a:p>
            <a:pPr algn="l">
              <a:lnSpc>
                <a:spcPct val="124000"/>
              </a:lnSpc>
              <a:spcAft>
                <a:spcPts val="0"/>
              </a:spcAft>
            </a:pPr>
            <a:r>
              <a:rPr sz="830" b="0">
                <a:solidFill>
                  <a:srgbClr val="14263D"/>
                </a:solidFill>
                <a:latin typeface="Helvetica Neue"/>
              </a:rPr>
              <a:t>Contenido sin costo, datos de preferencia hoy inexistentes y pertenencia sobre la selección.</a:t>
            </a:r>
          </a:p>
        </p:txBody>
      </p:sp>
      <p:sp>
        <p:nvSpPr>
          <p:cNvPr id="37" name="TextBox 36"/>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LAS SEIS OPERAN EN LOS TRES PAQUETES</a:t>
            </a:r>
          </a:p>
        </p:txBody>
      </p:sp>
      <p:sp>
        <p:nvSpPr>
          <p:cNvPr id="38" name="TextBox 37"/>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LAS OPCIONES</a:t>
            </a:r>
          </a:p>
        </p:txBody>
      </p:sp>
      <p:sp>
        <p:nvSpPr>
          <p:cNvPr id="4" name="TextBox 3"/>
          <p:cNvSpPr txBox="1"/>
          <p:nvPr/>
        </p:nvSpPr>
        <p:spPr>
          <a:xfrm>
            <a:off x="777240" y="960120"/>
            <a:ext cx="7863840" cy="1280160"/>
          </a:xfrm>
          <a:prstGeom prst="rect">
            <a:avLst/>
          </a:prstGeom>
          <a:noFill/>
        </p:spPr>
        <p:txBody>
          <a:bodyPr wrap="square" lIns="0" rIns="0" tIns="0" bIns="0" anchor="t">
            <a:spAutoFit/>
          </a:bodyPr>
          <a:lstStyle/>
          <a:p>
            <a:pPr algn="l">
              <a:lnSpc>
                <a:spcPct val="102000"/>
              </a:lnSpc>
              <a:spcAft>
                <a:spcPts val="0"/>
              </a:spcAft>
            </a:pPr>
            <a:r>
              <a:rPr sz="3400" b="0">
                <a:solidFill>
                  <a:srgbClr val="0A2540"/>
                </a:solidFill>
                <a:latin typeface="Georgia"/>
              </a:rPr>
              <a:t>Tres paquetes</a:t>
            </a:r>
          </a:p>
        </p:txBody>
      </p:sp>
      <p:sp>
        <p:nvSpPr>
          <p:cNvPr id="5" name="Rectangle 4"/>
          <p:cNvSpPr/>
          <p:nvPr/>
        </p:nvSpPr>
        <p:spPr>
          <a:xfrm>
            <a:off x="777240" y="1783080"/>
            <a:ext cx="10637215"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10332720" cy="36576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La misma estrategia, en tres tamaños. Todos incluyen la suscripción a la Revista Diners con 60% de beneficio exclusivo y código de activación.</a:t>
            </a:r>
          </a:p>
        </p:txBody>
      </p:sp>
      <p:sp>
        <p:nvSpPr>
          <p:cNvPr id="7" name="Rectangle 6"/>
          <p:cNvSpPr/>
          <p:nvPr/>
        </p:nvSpPr>
        <p:spPr>
          <a:xfrm>
            <a:off x="777240" y="2468880"/>
            <a:ext cx="3401568" cy="365760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51760"/>
            <a:ext cx="3017520" cy="182880"/>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PAQUETE A</a:t>
            </a:r>
          </a:p>
        </p:txBody>
      </p:sp>
      <p:sp>
        <p:nvSpPr>
          <p:cNvPr id="9" name="TextBox 8"/>
          <p:cNvSpPr txBox="1"/>
          <p:nvPr/>
        </p:nvSpPr>
        <p:spPr>
          <a:xfrm>
            <a:off x="960120" y="2871216"/>
            <a:ext cx="3017520" cy="320040"/>
          </a:xfrm>
          <a:prstGeom prst="rect">
            <a:avLst/>
          </a:prstGeom>
          <a:noFill/>
        </p:spPr>
        <p:txBody>
          <a:bodyPr wrap="square" lIns="0" rIns="0" tIns="0" bIns="0" anchor="t">
            <a:spAutoFit/>
          </a:bodyPr>
          <a:lstStyle/>
          <a:p>
            <a:pPr algn="l">
              <a:lnSpc>
                <a:spcPct val="108000"/>
              </a:lnSpc>
              <a:spcAft>
                <a:spcPts val="0"/>
              </a:spcAft>
            </a:pPr>
            <a:r>
              <a:rPr sz="1600" b="1">
                <a:solidFill>
                  <a:srgbClr val="0A2540"/>
                </a:solidFill>
                <a:latin typeface="Georgia"/>
              </a:rPr>
              <a:t>Esencial</a:t>
            </a:r>
          </a:p>
        </p:txBody>
      </p:sp>
      <p:sp>
        <p:nvSpPr>
          <p:cNvPr id="10" name="TextBox 9"/>
          <p:cNvSpPr txBox="1"/>
          <p:nvPr/>
        </p:nvSpPr>
        <p:spPr>
          <a:xfrm>
            <a:off x="960120" y="3255264"/>
            <a:ext cx="3017520" cy="457200"/>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Instalar la marca y probar el programa sin comprometer el año entero.</a:t>
            </a:r>
          </a:p>
        </p:txBody>
      </p:sp>
      <p:sp>
        <p:nvSpPr>
          <p:cNvPr id="11" name="TextBox 10"/>
          <p:cNvSpPr txBox="1"/>
          <p:nvPr/>
        </p:nvSpPr>
        <p:spPr>
          <a:xfrm>
            <a:off x="960120" y="3730752"/>
            <a:ext cx="3063240" cy="2194560"/>
          </a:xfrm>
          <a:prstGeom prst="rect">
            <a:avLst/>
          </a:prstGeom>
          <a:noFill/>
        </p:spPr>
        <p:txBody>
          <a:bodyPr wrap="square" lIns="0" rIns="0" tIns="0" bIns="0" anchor="t">
            <a:spAutoFit/>
          </a:bodyPr>
          <a:lstStyle/>
          <a:p>
            <a:pPr algn="l">
              <a:lnSpc>
                <a:spcPct val="118000"/>
              </a:lnSpc>
              <a:spcAft>
                <a:spcPts val="400"/>
              </a:spcAft>
            </a:pPr>
            <a:r>
              <a:rPr sz="850" b="0">
                <a:solidFill>
                  <a:srgbClr val="14263D"/>
                </a:solidFill>
                <a:latin typeface="Helvetica Neue"/>
              </a:rPr>
              <a:t>•  Pauta dinámica los 12 meses</a:t>
            </a:r>
          </a:p>
          <a:p>
            <a:pPr algn="l">
              <a:lnSpc>
                <a:spcPct val="118000"/>
              </a:lnSpc>
              <a:spcAft>
                <a:spcPts val="400"/>
              </a:spcAft>
            </a:pPr>
            <a:r>
              <a:rPr sz="850" b="0">
                <a:solidFill>
                  <a:srgbClr val="14263D"/>
                </a:solidFill>
                <a:latin typeface="Helvetica Neue"/>
              </a:rPr>
              <a:t>•  Una pieza de alto impacto: portada falsa</a:t>
            </a:r>
          </a:p>
          <a:p>
            <a:pPr algn="l">
              <a:lnSpc>
                <a:spcPct val="118000"/>
              </a:lnSpc>
              <a:spcAft>
                <a:spcPts val="400"/>
              </a:spcAft>
            </a:pPr>
            <a:r>
              <a:rPr sz="850" b="0">
                <a:solidFill>
                  <a:srgbClr val="14263D"/>
                </a:solidFill>
                <a:latin typeface="Helvetica Neue"/>
              </a:rPr>
              <a:t>•  Mesa Diners Club en 20 aliados, Bogotá</a:t>
            </a:r>
          </a:p>
          <a:p>
            <a:pPr algn="l">
              <a:lnSpc>
                <a:spcPct val="118000"/>
              </a:lnSpc>
              <a:spcAft>
                <a:spcPts val="400"/>
              </a:spcAft>
            </a:pPr>
            <a:r>
              <a:rPr sz="850" b="0">
                <a:solidFill>
                  <a:srgbClr val="14263D"/>
                </a:solidFill>
                <a:latin typeface="Helvetica Neue"/>
              </a:rPr>
              <a:t>•  2 experiencias OBI</a:t>
            </a:r>
          </a:p>
          <a:p>
            <a:pPr algn="l">
              <a:lnSpc>
                <a:spcPct val="118000"/>
              </a:lnSpc>
              <a:spcAft>
                <a:spcPts val="400"/>
              </a:spcAft>
            </a:pPr>
            <a:r>
              <a:rPr sz="850" b="0">
                <a:solidFill>
                  <a:srgbClr val="14263D"/>
                </a:solidFill>
                <a:latin typeface="Helvetica Neue"/>
              </a:rPr>
              <a:t>•  Solo Revista Diners</a:t>
            </a:r>
          </a:p>
        </p:txBody>
      </p:sp>
      <p:sp>
        <p:nvSpPr>
          <p:cNvPr id="12" name="Rectangle 11"/>
          <p:cNvSpPr/>
          <p:nvPr/>
        </p:nvSpPr>
        <p:spPr>
          <a:xfrm>
            <a:off x="4370832" y="2468880"/>
            <a:ext cx="3401568" cy="3657600"/>
          </a:xfrm>
          <a:prstGeom prst="rect">
            <a:avLst/>
          </a:prstGeom>
          <a:solidFill>
            <a:srgbClr val="F4EAD5"/>
          </a:solidFill>
          <a:ln w="22225">
            <a:solidFill>
              <a:srgbClr val="C9B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53712" y="2651760"/>
            <a:ext cx="1051560" cy="237744"/>
          </a:xfrm>
          <a:prstGeom prst="rect">
            <a:avLst/>
          </a:prstGeom>
          <a:solidFill>
            <a:srgbClr val="8A6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6864" y="2697480"/>
            <a:ext cx="914400" cy="182880"/>
          </a:xfrm>
          <a:prstGeom prst="rect">
            <a:avLst/>
          </a:prstGeom>
          <a:noFill/>
        </p:spPr>
        <p:txBody>
          <a:bodyPr wrap="square" lIns="0" rIns="0" tIns="0" bIns="0" anchor="t">
            <a:spAutoFit/>
          </a:bodyPr>
          <a:lstStyle/>
          <a:p>
            <a:pPr algn="l">
              <a:lnSpc>
                <a:spcPct val="108000"/>
              </a:lnSpc>
              <a:spcAft>
                <a:spcPts val="0"/>
              </a:spcAft>
            </a:pPr>
            <a:r>
              <a:rPr sz="650" b="1">
                <a:solidFill>
                  <a:srgbClr val="FFFFFF"/>
                </a:solidFill>
                <a:latin typeface="Helvetica Neue"/>
              </a:rPr>
              <a:t>RECOMENDADO</a:t>
            </a:r>
          </a:p>
        </p:txBody>
      </p:sp>
      <p:sp>
        <p:nvSpPr>
          <p:cNvPr id="15" name="TextBox 14"/>
          <p:cNvSpPr txBox="1"/>
          <p:nvPr/>
        </p:nvSpPr>
        <p:spPr>
          <a:xfrm>
            <a:off x="4553712" y="2980944"/>
            <a:ext cx="3017520" cy="182880"/>
          </a:xfrm>
          <a:prstGeom prst="rect">
            <a:avLst/>
          </a:prstGeom>
          <a:noFill/>
        </p:spPr>
        <p:txBody>
          <a:bodyPr wrap="square" lIns="0" rIns="0" tIns="0" bIns="0" anchor="t">
            <a:spAutoFit/>
          </a:bodyPr>
          <a:lstStyle/>
          <a:p>
            <a:pPr algn="l">
              <a:lnSpc>
                <a:spcPct val="108000"/>
              </a:lnSpc>
              <a:spcAft>
                <a:spcPts val="0"/>
              </a:spcAft>
            </a:pPr>
            <a:r>
              <a:rPr sz="750" b="1">
                <a:solidFill>
                  <a:srgbClr val="8A6B1F"/>
                </a:solidFill>
                <a:latin typeface="Helvetica Neue"/>
              </a:rPr>
              <a:t>PAQUETE B</a:t>
            </a:r>
          </a:p>
        </p:txBody>
      </p:sp>
      <p:sp>
        <p:nvSpPr>
          <p:cNvPr id="16" name="TextBox 15"/>
          <p:cNvSpPr txBox="1"/>
          <p:nvPr/>
        </p:nvSpPr>
        <p:spPr>
          <a:xfrm>
            <a:off x="4553712" y="3200400"/>
            <a:ext cx="3017520" cy="320040"/>
          </a:xfrm>
          <a:prstGeom prst="rect">
            <a:avLst/>
          </a:prstGeom>
          <a:noFill/>
        </p:spPr>
        <p:txBody>
          <a:bodyPr wrap="square" lIns="0" rIns="0" tIns="0" bIns="0" anchor="t">
            <a:spAutoFit/>
          </a:bodyPr>
          <a:lstStyle/>
          <a:p>
            <a:pPr algn="l">
              <a:lnSpc>
                <a:spcPct val="108000"/>
              </a:lnSpc>
              <a:spcAft>
                <a:spcPts val="0"/>
              </a:spcAft>
            </a:pPr>
            <a:r>
              <a:rPr sz="1600" b="1">
                <a:solidFill>
                  <a:srgbClr val="0A2540"/>
                </a:solidFill>
                <a:latin typeface="Georgia"/>
              </a:rPr>
              <a:t>Completo</a:t>
            </a:r>
          </a:p>
        </p:txBody>
      </p:sp>
      <p:sp>
        <p:nvSpPr>
          <p:cNvPr id="17" name="TextBox 16"/>
          <p:cNvSpPr txBox="1"/>
          <p:nvPr/>
        </p:nvSpPr>
        <p:spPr>
          <a:xfrm>
            <a:off x="4553712" y="3584448"/>
            <a:ext cx="3017520" cy="457200"/>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El año completo con las tres capas operando y dato propio a escala.</a:t>
            </a:r>
          </a:p>
        </p:txBody>
      </p:sp>
      <p:sp>
        <p:nvSpPr>
          <p:cNvPr id="18" name="TextBox 17"/>
          <p:cNvSpPr txBox="1"/>
          <p:nvPr/>
        </p:nvSpPr>
        <p:spPr>
          <a:xfrm>
            <a:off x="4553712" y="4059935"/>
            <a:ext cx="3063240" cy="2194560"/>
          </a:xfrm>
          <a:prstGeom prst="rect">
            <a:avLst/>
          </a:prstGeom>
          <a:noFill/>
        </p:spPr>
        <p:txBody>
          <a:bodyPr wrap="square" lIns="0" rIns="0" tIns="0" bIns="0" anchor="t">
            <a:spAutoFit/>
          </a:bodyPr>
          <a:lstStyle/>
          <a:p>
            <a:pPr algn="l">
              <a:lnSpc>
                <a:spcPct val="118000"/>
              </a:lnSpc>
              <a:spcAft>
                <a:spcPts val="400"/>
              </a:spcAft>
            </a:pPr>
            <a:r>
              <a:rPr sz="850" b="0">
                <a:solidFill>
                  <a:srgbClr val="14263D"/>
                </a:solidFill>
                <a:latin typeface="Helvetica Neue"/>
              </a:rPr>
              <a:t>•  59 piezas en medios propios: Diners y AXXIS</a:t>
            </a:r>
          </a:p>
          <a:p>
            <a:pPr algn="l">
              <a:lnSpc>
                <a:spcPct val="118000"/>
              </a:lnSpc>
              <a:spcAft>
                <a:spcPts val="400"/>
              </a:spcAft>
            </a:pPr>
            <a:r>
              <a:rPr sz="850" b="0">
                <a:solidFill>
                  <a:srgbClr val="14263D"/>
                </a:solidFill>
                <a:latin typeface="Helvetica Neue"/>
              </a:rPr>
              <a:t>•  20 campañas digitales en 5 canales</a:t>
            </a:r>
          </a:p>
          <a:p>
            <a:pPr algn="l">
              <a:lnSpc>
                <a:spcPct val="118000"/>
              </a:lnSpc>
              <a:spcAft>
                <a:spcPts val="400"/>
              </a:spcAft>
            </a:pPr>
            <a:r>
              <a:rPr sz="850" b="0">
                <a:solidFill>
                  <a:srgbClr val="14263D"/>
                </a:solidFill>
                <a:latin typeface="Helvetica Neue"/>
              </a:rPr>
              <a:t>•  Portada falsa, carnet, gatefold, cintillo</a:t>
            </a:r>
          </a:p>
          <a:p>
            <a:pPr algn="l">
              <a:lnSpc>
                <a:spcPct val="118000"/>
              </a:lnSpc>
              <a:spcAft>
                <a:spcPts val="400"/>
              </a:spcAft>
            </a:pPr>
            <a:r>
              <a:rPr sz="850" b="0">
                <a:solidFill>
                  <a:srgbClr val="14263D"/>
                </a:solidFill>
                <a:latin typeface="Helvetica Neue"/>
              </a:rPr>
              <a:t>•  Mesa Diners Club en 40 aliados, Bogotá</a:t>
            </a:r>
          </a:p>
          <a:p>
            <a:pPr algn="l">
              <a:lnSpc>
                <a:spcPct val="118000"/>
              </a:lnSpc>
              <a:spcAft>
                <a:spcPts val="400"/>
              </a:spcAft>
            </a:pPr>
            <a:r>
              <a:rPr sz="850" b="0">
                <a:solidFill>
                  <a:srgbClr val="14263D"/>
                </a:solidFill>
                <a:latin typeface="Helvetica Neue"/>
              </a:rPr>
              <a:t>•  La Mesa Diners en los tres soportes</a:t>
            </a:r>
          </a:p>
          <a:p>
            <a:pPr algn="l">
              <a:lnSpc>
                <a:spcPct val="118000"/>
              </a:lnSpc>
              <a:spcAft>
                <a:spcPts val="400"/>
              </a:spcAft>
            </a:pPr>
            <a:r>
              <a:rPr sz="850" b="0">
                <a:solidFill>
                  <a:srgbClr val="14263D"/>
                </a:solidFill>
                <a:latin typeface="Helvetica Neue"/>
              </a:rPr>
              <a:t>•  6 experiencias OBI</a:t>
            </a:r>
          </a:p>
          <a:p>
            <a:pPr algn="l">
              <a:lnSpc>
                <a:spcPct val="118000"/>
              </a:lnSpc>
              <a:spcAft>
                <a:spcPts val="400"/>
              </a:spcAft>
            </a:pPr>
            <a:r>
              <a:rPr sz="850" b="0">
                <a:solidFill>
                  <a:srgbClr val="14263D"/>
                </a:solidFill>
                <a:latin typeface="Helvetica Neue"/>
              </a:rPr>
              <a:t>•  Tablero de cohortes e informe de año</a:t>
            </a:r>
          </a:p>
        </p:txBody>
      </p:sp>
      <p:sp>
        <p:nvSpPr>
          <p:cNvPr id="19" name="Rectangle 18"/>
          <p:cNvSpPr/>
          <p:nvPr/>
        </p:nvSpPr>
        <p:spPr>
          <a:xfrm>
            <a:off x="7964424" y="2468880"/>
            <a:ext cx="3401568" cy="3657600"/>
          </a:xfrm>
          <a:prstGeom prst="rect">
            <a:avLst/>
          </a:prstGeom>
          <a:solidFill>
            <a:srgbClr val="F6F3EC"/>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2651760"/>
            <a:ext cx="3017520" cy="182880"/>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PAQUETE C</a:t>
            </a:r>
          </a:p>
        </p:txBody>
      </p:sp>
      <p:sp>
        <p:nvSpPr>
          <p:cNvPr id="21" name="TextBox 20"/>
          <p:cNvSpPr txBox="1"/>
          <p:nvPr/>
        </p:nvSpPr>
        <p:spPr>
          <a:xfrm>
            <a:off x="8147304" y="2871216"/>
            <a:ext cx="3017520" cy="320040"/>
          </a:xfrm>
          <a:prstGeom prst="rect">
            <a:avLst/>
          </a:prstGeom>
          <a:noFill/>
        </p:spPr>
        <p:txBody>
          <a:bodyPr wrap="square" lIns="0" rIns="0" tIns="0" bIns="0" anchor="t">
            <a:spAutoFit/>
          </a:bodyPr>
          <a:lstStyle/>
          <a:p>
            <a:pPr algn="l">
              <a:lnSpc>
                <a:spcPct val="108000"/>
              </a:lnSpc>
              <a:spcAft>
                <a:spcPts val="0"/>
              </a:spcAft>
            </a:pPr>
            <a:r>
              <a:rPr sz="1600" b="1">
                <a:solidFill>
                  <a:srgbClr val="0A2540"/>
                </a:solidFill>
                <a:latin typeface="Georgia"/>
              </a:rPr>
              <a:t>Insignia</a:t>
            </a:r>
          </a:p>
        </p:txBody>
      </p:sp>
      <p:sp>
        <p:nvSpPr>
          <p:cNvPr id="22" name="TextBox 21"/>
          <p:cNvSpPr txBox="1"/>
          <p:nvPr/>
        </p:nvSpPr>
        <p:spPr>
          <a:xfrm>
            <a:off x="8147304" y="3255264"/>
            <a:ext cx="3017520" cy="457200"/>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El año completo más un activo editorial que sobrevive a la campaña.</a:t>
            </a:r>
          </a:p>
        </p:txBody>
      </p:sp>
      <p:sp>
        <p:nvSpPr>
          <p:cNvPr id="23" name="TextBox 22"/>
          <p:cNvSpPr txBox="1"/>
          <p:nvPr/>
        </p:nvSpPr>
        <p:spPr>
          <a:xfrm>
            <a:off x="8147304" y="3730752"/>
            <a:ext cx="3063240" cy="2194560"/>
          </a:xfrm>
          <a:prstGeom prst="rect">
            <a:avLst/>
          </a:prstGeom>
          <a:noFill/>
        </p:spPr>
        <p:txBody>
          <a:bodyPr wrap="square" lIns="0" rIns="0" tIns="0" bIns="0" anchor="t">
            <a:spAutoFit/>
          </a:bodyPr>
          <a:lstStyle/>
          <a:p>
            <a:pPr algn="l">
              <a:lnSpc>
                <a:spcPct val="118000"/>
              </a:lnSpc>
              <a:spcAft>
                <a:spcPts val="400"/>
              </a:spcAft>
            </a:pPr>
            <a:r>
              <a:rPr sz="850" b="0">
                <a:solidFill>
                  <a:srgbClr val="14263D"/>
                </a:solidFill>
                <a:latin typeface="Helvetica Neue"/>
              </a:rPr>
              <a:t>•  Todo lo del Paquete B</a:t>
            </a:r>
          </a:p>
          <a:p>
            <a:pPr algn="l">
              <a:lnSpc>
                <a:spcPct val="118000"/>
              </a:lnSpc>
              <a:spcAft>
                <a:spcPts val="400"/>
              </a:spcAft>
            </a:pPr>
            <a:r>
              <a:rPr sz="850" b="0">
                <a:solidFill>
                  <a:srgbClr val="14263D"/>
                </a:solidFill>
                <a:latin typeface="Helvetica Neue"/>
              </a:rPr>
              <a:t>•  Línea de video con personaje</a:t>
            </a:r>
          </a:p>
          <a:p>
            <a:pPr algn="l">
              <a:lnSpc>
                <a:spcPct val="118000"/>
              </a:lnSpc>
              <a:spcAft>
                <a:spcPts val="400"/>
              </a:spcAft>
            </a:pPr>
            <a:r>
              <a:rPr sz="850" b="0">
                <a:solidFill>
                  <a:srgbClr val="14263D"/>
                </a:solidFill>
                <a:latin typeface="Helvetica Neue"/>
              </a:rPr>
              <a:t>•  Evento insignia anual con los aliados</a:t>
            </a:r>
          </a:p>
          <a:p>
            <a:pPr algn="l">
              <a:lnSpc>
                <a:spcPct val="118000"/>
              </a:lnSpc>
              <a:spcAft>
                <a:spcPts val="400"/>
              </a:spcAft>
            </a:pPr>
            <a:r>
              <a:rPr sz="850" b="0">
                <a:solidFill>
                  <a:srgbClr val="14263D"/>
                </a:solidFill>
                <a:latin typeface="Helvetica Neue"/>
              </a:rPr>
              <a:t>•  8 OBI y apertura a una segunda ciudad</a:t>
            </a:r>
          </a:p>
          <a:p>
            <a:pPr algn="l">
              <a:lnSpc>
                <a:spcPct val="118000"/>
              </a:lnSpc>
              <a:spcAft>
                <a:spcPts val="400"/>
              </a:spcAft>
            </a:pPr>
            <a:r>
              <a:rPr sz="850" b="0">
                <a:solidFill>
                  <a:srgbClr val="14263D"/>
                </a:solidFill>
                <a:latin typeface="Helvetica Neue"/>
              </a:rPr>
              <a:t>•  Compendio coleccionable de fin de año</a:t>
            </a:r>
          </a:p>
          <a:p>
            <a:pPr algn="l">
              <a:lnSpc>
                <a:spcPct val="118000"/>
              </a:lnSpc>
              <a:spcAft>
                <a:spcPts val="400"/>
              </a:spcAft>
            </a:pPr>
            <a:r>
              <a:rPr sz="850" b="0">
                <a:solidFill>
                  <a:srgbClr val="14263D"/>
                </a:solidFill>
                <a:latin typeface="Helvetica Neue"/>
              </a:rPr>
              <a:t>•  Contenido cruzado con Diners Club Ecuador</a:t>
            </a:r>
          </a:p>
        </p:txBody>
      </p:sp>
      <p:sp>
        <p:nvSpPr>
          <p:cNvPr id="24" name="TextBox 23"/>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VALORES POR SEPARADO EN LA COTIZACIÓN</a:t>
            </a:r>
          </a:p>
        </p:txBody>
      </p:sp>
      <p:sp>
        <p:nvSpPr>
          <p:cNvPr id="25" name="TextBox 24"/>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COMPARATIVO</a:t>
            </a:r>
          </a:p>
        </p:txBody>
      </p:sp>
      <p:sp>
        <p:nvSpPr>
          <p:cNvPr id="4" name="TextBox 3"/>
          <p:cNvSpPr txBox="1"/>
          <p:nvPr/>
        </p:nvSpPr>
        <p:spPr>
          <a:xfrm>
            <a:off x="777240" y="960120"/>
            <a:ext cx="7863840" cy="1280160"/>
          </a:xfrm>
          <a:prstGeom prst="rect">
            <a:avLst/>
          </a:prstGeom>
          <a:noFill/>
        </p:spPr>
        <p:txBody>
          <a:bodyPr wrap="square" lIns="0" rIns="0" tIns="0" bIns="0" anchor="t">
            <a:spAutoFit/>
          </a:bodyPr>
          <a:lstStyle/>
          <a:p>
            <a:pPr algn="l">
              <a:lnSpc>
                <a:spcPct val="102000"/>
              </a:lnSpc>
              <a:spcAft>
                <a:spcPts val="0"/>
              </a:spcAft>
            </a:pPr>
            <a:r>
              <a:rPr sz="3400" b="0">
                <a:solidFill>
                  <a:srgbClr val="0A2540"/>
                </a:solidFill>
                <a:latin typeface="Georgia"/>
              </a:rPr>
              <a:t>Qué incluye cada paquete</a:t>
            </a:r>
          </a:p>
        </p:txBody>
      </p:sp>
      <p:sp>
        <p:nvSpPr>
          <p:cNvPr id="5" name="Rectangle 4"/>
          <p:cNvSpPr/>
          <p:nvPr/>
        </p:nvSpPr>
        <p:spPr>
          <a:xfrm>
            <a:off x="777240" y="1783080"/>
            <a:ext cx="10637215"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77240" y="2148840"/>
          <a:ext cx="10637214" cy="3310128"/>
        </p:xfrm>
        <a:graphic>
          <a:graphicData uri="http://schemas.openxmlformats.org/drawingml/2006/table">
            <a:tbl>
              <a:tblPr firstRow="1" bandRow="1">
                <a:tableStyleId>{5C22544A-7EE6-4342-B048-85BDC9FD1C3A}</a:tableStyleId>
              </a:tblPr>
              <a:tblGrid>
                <a:gridCol w="2377440"/>
                <a:gridCol w="2753258"/>
                <a:gridCol w="2753258"/>
                <a:gridCol w="2753258"/>
              </a:tblGrid>
              <a:tr h="384048">
                <a:tc>
                  <a:txBody>
                    <a:bodyPr/>
                    <a:lstStyle/>
                    <a:p>
                      <a:r>
                        <a:rPr sz="850" b="1">
                          <a:solidFill>
                            <a:srgbClr val="FFFFFF"/>
                          </a:solidFill>
                          <a:latin typeface="Helvetica Neue"/>
                        </a:rPr>
                        <a:t>Componente</a:t>
                      </a:r>
                    </a:p>
                  </a:txBody>
                  <a:tcPr marL="91440" marR="54864" anchor="ctr">
                    <a:solidFill>
                      <a:srgbClr val="0A2540"/>
                    </a:solidFill>
                  </a:tcPr>
                </a:tc>
                <a:tc>
                  <a:txBody>
                    <a:bodyPr/>
                    <a:lstStyle/>
                    <a:p>
                      <a:r>
                        <a:rPr sz="850" b="1">
                          <a:solidFill>
                            <a:srgbClr val="FFFFFF"/>
                          </a:solidFill>
                          <a:latin typeface="Helvetica Neue"/>
                        </a:rPr>
                        <a:t>A · Esencial</a:t>
                      </a:r>
                    </a:p>
                  </a:txBody>
                  <a:tcPr marL="91440" marR="54864" anchor="ctr">
                    <a:solidFill>
                      <a:srgbClr val="0A2540"/>
                    </a:solidFill>
                  </a:tcPr>
                </a:tc>
                <a:tc>
                  <a:txBody>
                    <a:bodyPr/>
                    <a:lstStyle/>
                    <a:p>
                      <a:r>
                        <a:rPr sz="850" b="1">
                          <a:solidFill>
                            <a:srgbClr val="FFFFFF"/>
                          </a:solidFill>
                          <a:latin typeface="Helvetica Neue"/>
                        </a:rPr>
                        <a:t>B · Completo</a:t>
                      </a:r>
                    </a:p>
                  </a:txBody>
                  <a:tcPr marL="91440" marR="54864" anchor="ctr">
                    <a:solidFill>
                      <a:srgbClr val="8A6B1F"/>
                    </a:solidFill>
                  </a:tcPr>
                </a:tc>
                <a:tc>
                  <a:txBody>
                    <a:bodyPr/>
                    <a:lstStyle/>
                    <a:p>
                      <a:r>
                        <a:rPr sz="850" b="1">
                          <a:solidFill>
                            <a:srgbClr val="FFFFFF"/>
                          </a:solidFill>
                          <a:latin typeface="Helvetica Neue"/>
                        </a:rPr>
                        <a:t>C · Insignia</a:t>
                      </a:r>
                    </a:p>
                  </a:txBody>
                  <a:tcPr marL="91440" marR="54864" anchor="ctr">
                    <a:solidFill>
                      <a:srgbClr val="0A2540"/>
                    </a:solidFill>
                  </a:tcPr>
                </a:tc>
              </a:tr>
              <a:tr h="365760">
                <a:tc>
                  <a:txBody>
                    <a:bodyPr/>
                    <a:lstStyle/>
                    <a:p>
                      <a:r>
                        <a:rPr sz="900" b="1">
                          <a:solidFill>
                            <a:srgbClr val="0A2540"/>
                          </a:solidFill>
                          <a:latin typeface="Georgia"/>
                        </a:rPr>
                        <a:t>Medios propios</a:t>
                      </a:r>
                    </a:p>
                  </a:txBody>
                  <a:tcPr marL="91440" marR="54864" anchor="ctr">
                    <a:solidFill>
                      <a:srgbClr val="FFFDF9"/>
                    </a:solidFill>
                  </a:tcPr>
                </a:tc>
                <a:tc>
                  <a:txBody>
                    <a:bodyPr/>
                    <a:lstStyle/>
                    <a:p>
                      <a:r>
                        <a:rPr sz="900" b="0">
                          <a:solidFill>
                            <a:srgbClr val="0A2540"/>
                          </a:solidFill>
                          <a:latin typeface="Georgia"/>
                        </a:rPr>
                        <a:t>Pauta dinámica + 1 alto impacto</a:t>
                      </a:r>
                    </a:p>
                  </a:txBody>
                  <a:tcPr marL="91440" marR="54864" anchor="ctr">
                    <a:solidFill>
                      <a:srgbClr val="FFFDF9"/>
                    </a:solidFill>
                  </a:tcPr>
                </a:tc>
                <a:tc>
                  <a:txBody>
                    <a:bodyPr/>
                    <a:lstStyle/>
                    <a:p>
                      <a:r>
                        <a:rPr sz="900" b="1">
                          <a:solidFill>
                            <a:srgbClr val="0A2540"/>
                          </a:solidFill>
                          <a:latin typeface="Georgia"/>
                        </a:rPr>
                        <a:t>59 piezas</a:t>
                      </a:r>
                    </a:p>
                  </a:txBody>
                  <a:tcPr marL="91440" marR="54864" anchor="ctr">
                    <a:solidFill>
                      <a:srgbClr val="F4EAD5"/>
                    </a:solidFill>
                  </a:tcPr>
                </a:tc>
                <a:tc>
                  <a:txBody>
                    <a:bodyPr/>
                    <a:lstStyle/>
                    <a:p>
                      <a:r>
                        <a:rPr sz="900" b="0">
                          <a:solidFill>
                            <a:srgbClr val="0A2540"/>
                          </a:solidFill>
                          <a:latin typeface="Georgia"/>
                        </a:rPr>
                        <a:t>59 piezas + evento insignia</a:t>
                      </a:r>
                    </a:p>
                  </a:txBody>
                  <a:tcPr marL="91440" marR="54864" anchor="ctr">
                    <a:solidFill>
                      <a:srgbClr val="FFFDF9"/>
                    </a:solidFill>
                  </a:tcPr>
                </a:tc>
              </a:tr>
              <a:tr h="365760">
                <a:tc>
                  <a:txBody>
                    <a:bodyPr/>
                    <a:lstStyle/>
                    <a:p>
                      <a:r>
                        <a:rPr sz="900" b="1">
                          <a:solidFill>
                            <a:srgbClr val="0A2540"/>
                          </a:solidFill>
                          <a:latin typeface="Georgia"/>
                        </a:rPr>
                        <a:t>Marcas</a:t>
                      </a:r>
                    </a:p>
                  </a:txBody>
                  <a:tcPr marL="91440" marR="54864" anchor="ctr">
                    <a:solidFill>
                      <a:srgbClr val="F6F3EC"/>
                    </a:solidFill>
                  </a:tcPr>
                </a:tc>
                <a:tc>
                  <a:txBody>
                    <a:bodyPr/>
                    <a:lstStyle/>
                    <a:p>
                      <a:r>
                        <a:rPr sz="900" b="0">
                          <a:solidFill>
                            <a:srgbClr val="0A2540"/>
                          </a:solidFill>
                          <a:latin typeface="Georgia"/>
                        </a:rPr>
                        <a:t>Solo Diners</a:t>
                      </a:r>
                    </a:p>
                  </a:txBody>
                  <a:tcPr marL="91440" marR="54864" anchor="ctr">
                    <a:solidFill>
                      <a:srgbClr val="F6F3EC"/>
                    </a:solidFill>
                  </a:tcPr>
                </a:tc>
                <a:tc>
                  <a:txBody>
                    <a:bodyPr/>
                    <a:lstStyle/>
                    <a:p>
                      <a:r>
                        <a:rPr sz="900" b="1">
                          <a:solidFill>
                            <a:srgbClr val="0A2540"/>
                          </a:solidFill>
                          <a:latin typeface="Georgia"/>
                        </a:rPr>
                        <a:t>Diners + AXXIS</a:t>
                      </a:r>
                    </a:p>
                  </a:txBody>
                  <a:tcPr marL="91440" marR="54864" anchor="ctr">
                    <a:solidFill>
                      <a:srgbClr val="F4EAD5"/>
                    </a:solidFill>
                  </a:tcPr>
                </a:tc>
                <a:tc>
                  <a:txBody>
                    <a:bodyPr/>
                    <a:lstStyle/>
                    <a:p>
                      <a:r>
                        <a:rPr sz="900" b="0">
                          <a:solidFill>
                            <a:srgbClr val="0A2540"/>
                          </a:solidFill>
                          <a:latin typeface="Georgia"/>
                        </a:rPr>
                        <a:t>Diners + AXXIS</a:t>
                      </a:r>
                    </a:p>
                  </a:txBody>
                  <a:tcPr marL="91440" marR="54864" anchor="ctr">
                    <a:solidFill>
                      <a:srgbClr val="F6F3EC"/>
                    </a:solidFill>
                  </a:tcPr>
                </a:tc>
              </a:tr>
              <a:tr h="365760">
                <a:tc>
                  <a:txBody>
                    <a:bodyPr/>
                    <a:lstStyle/>
                    <a:p>
                      <a:r>
                        <a:rPr sz="900" b="1">
                          <a:solidFill>
                            <a:srgbClr val="0A2540"/>
                          </a:solidFill>
                          <a:latin typeface="Georgia"/>
                        </a:rPr>
                        <a:t>Pauta digital</a:t>
                      </a:r>
                    </a:p>
                  </a:txBody>
                  <a:tcPr marL="91440" marR="54864" anchor="ctr">
                    <a:solidFill>
                      <a:srgbClr val="FFFDF9"/>
                    </a:solidFill>
                  </a:tcPr>
                </a:tc>
                <a:tc>
                  <a:txBody>
                    <a:bodyPr/>
                    <a:lstStyle/>
                    <a:p>
                      <a:r>
                        <a:rPr sz="900" b="0">
                          <a:solidFill>
                            <a:srgbClr val="0A2540"/>
                          </a:solidFill>
                          <a:latin typeface="Georgia"/>
                        </a:rPr>
                        <a:t>—</a:t>
                      </a:r>
                    </a:p>
                  </a:txBody>
                  <a:tcPr marL="91440" marR="54864" anchor="ctr">
                    <a:solidFill>
                      <a:srgbClr val="FFFDF9"/>
                    </a:solidFill>
                  </a:tcPr>
                </a:tc>
                <a:tc>
                  <a:txBody>
                    <a:bodyPr/>
                    <a:lstStyle/>
                    <a:p>
                      <a:r>
                        <a:rPr sz="900" b="1">
                          <a:solidFill>
                            <a:srgbClr val="0A2540"/>
                          </a:solidFill>
                          <a:latin typeface="Georgia"/>
                        </a:rPr>
                        <a:t>20 campañas, 5 canales</a:t>
                      </a:r>
                    </a:p>
                  </a:txBody>
                  <a:tcPr marL="91440" marR="54864" anchor="ctr">
                    <a:solidFill>
                      <a:srgbClr val="F4EAD5"/>
                    </a:solidFill>
                  </a:tcPr>
                </a:tc>
                <a:tc>
                  <a:txBody>
                    <a:bodyPr/>
                    <a:lstStyle/>
                    <a:p>
                      <a:r>
                        <a:rPr sz="900" b="0">
                          <a:solidFill>
                            <a:srgbClr val="0A2540"/>
                          </a:solidFill>
                          <a:latin typeface="Georgia"/>
                        </a:rPr>
                        <a:t>20 campañas, 5 canales</a:t>
                      </a:r>
                    </a:p>
                  </a:txBody>
                  <a:tcPr marL="91440" marR="54864" anchor="ctr">
                    <a:solidFill>
                      <a:srgbClr val="FFFDF9"/>
                    </a:solidFill>
                  </a:tcPr>
                </a:tc>
              </a:tr>
              <a:tr h="365760">
                <a:tc>
                  <a:txBody>
                    <a:bodyPr/>
                    <a:lstStyle/>
                    <a:p>
                      <a:r>
                        <a:rPr sz="900" b="1">
                          <a:solidFill>
                            <a:srgbClr val="0A2540"/>
                          </a:solidFill>
                          <a:latin typeface="Georgia"/>
                        </a:rPr>
                        <a:t>Mesa Diners Club</a:t>
                      </a:r>
                    </a:p>
                  </a:txBody>
                  <a:tcPr marL="91440" marR="54864" anchor="ctr">
                    <a:solidFill>
                      <a:srgbClr val="F6F3EC"/>
                    </a:solidFill>
                  </a:tcPr>
                </a:tc>
                <a:tc>
                  <a:txBody>
                    <a:bodyPr/>
                    <a:lstStyle/>
                    <a:p>
                      <a:r>
                        <a:rPr sz="900" b="0">
                          <a:solidFill>
                            <a:srgbClr val="0A2540"/>
                          </a:solidFill>
                          <a:latin typeface="Georgia"/>
                        </a:rPr>
                        <a:t>20 aliados, Bogotá</a:t>
                      </a:r>
                    </a:p>
                  </a:txBody>
                  <a:tcPr marL="91440" marR="54864" anchor="ctr">
                    <a:solidFill>
                      <a:srgbClr val="F6F3EC"/>
                    </a:solidFill>
                  </a:tcPr>
                </a:tc>
                <a:tc>
                  <a:txBody>
                    <a:bodyPr/>
                    <a:lstStyle/>
                    <a:p>
                      <a:r>
                        <a:rPr sz="900" b="1">
                          <a:solidFill>
                            <a:srgbClr val="0A2540"/>
                          </a:solidFill>
                          <a:latin typeface="Georgia"/>
                        </a:rPr>
                        <a:t>40 aliados, Bogotá</a:t>
                      </a:r>
                    </a:p>
                  </a:txBody>
                  <a:tcPr marL="91440" marR="54864" anchor="ctr">
                    <a:solidFill>
                      <a:srgbClr val="F4EAD5"/>
                    </a:solidFill>
                  </a:tcPr>
                </a:tc>
                <a:tc>
                  <a:txBody>
                    <a:bodyPr/>
                    <a:lstStyle/>
                    <a:p>
                      <a:r>
                        <a:rPr sz="900" b="0">
                          <a:solidFill>
                            <a:srgbClr val="0A2540"/>
                          </a:solidFill>
                          <a:latin typeface="Georgia"/>
                        </a:rPr>
                        <a:t>40 aliados + 2a ciudad</a:t>
                      </a:r>
                    </a:p>
                  </a:txBody>
                  <a:tcPr marL="91440" marR="54864" anchor="ctr">
                    <a:solidFill>
                      <a:srgbClr val="F6F3EC"/>
                    </a:solidFill>
                  </a:tcPr>
                </a:tc>
              </a:tr>
              <a:tr h="365760">
                <a:tc>
                  <a:txBody>
                    <a:bodyPr/>
                    <a:lstStyle/>
                    <a:p>
                      <a:r>
                        <a:rPr sz="900" b="1">
                          <a:solidFill>
                            <a:srgbClr val="0A2540"/>
                          </a:solidFill>
                          <a:latin typeface="Georgia"/>
                        </a:rPr>
                        <a:t>La Mesa Diners</a:t>
                      </a:r>
                    </a:p>
                  </a:txBody>
                  <a:tcPr marL="91440" marR="54864" anchor="ctr">
                    <a:solidFill>
                      <a:srgbClr val="FFFDF9"/>
                    </a:solidFill>
                  </a:tcPr>
                </a:tc>
                <a:tc>
                  <a:txBody>
                    <a:bodyPr/>
                    <a:lstStyle/>
                    <a:p>
                      <a:r>
                        <a:rPr sz="900" b="0">
                          <a:solidFill>
                            <a:srgbClr val="0A2540"/>
                          </a:solidFill>
                          <a:latin typeface="Georgia"/>
                        </a:rPr>
                        <a:t>Sección mensual</a:t>
                      </a:r>
                    </a:p>
                  </a:txBody>
                  <a:tcPr marL="91440" marR="54864" anchor="ctr">
                    <a:solidFill>
                      <a:srgbClr val="FFFDF9"/>
                    </a:solidFill>
                  </a:tcPr>
                </a:tc>
                <a:tc>
                  <a:txBody>
                    <a:bodyPr/>
                    <a:lstStyle/>
                    <a:p>
                      <a:r>
                        <a:rPr sz="900" b="1">
                          <a:solidFill>
                            <a:srgbClr val="0A2540"/>
                          </a:solidFill>
                          <a:latin typeface="Georgia"/>
                        </a:rPr>
                        <a:t>Sección, web y video</a:t>
                      </a:r>
                    </a:p>
                  </a:txBody>
                  <a:tcPr marL="91440" marR="54864" anchor="ctr">
                    <a:solidFill>
                      <a:srgbClr val="F4EAD5"/>
                    </a:solidFill>
                  </a:tcPr>
                </a:tc>
                <a:tc>
                  <a:txBody>
                    <a:bodyPr/>
                    <a:lstStyle/>
                    <a:p>
                      <a:r>
                        <a:rPr sz="900" b="0">
                          <a:solidFill>
                            <a:srgbClr val="0A2540"/>
                          </a:solidFill>
                          <a:latin typeface="Georgia"/>
                        </a:rPr>
                        <a:t>Sección, web, video y compendio</a:t>
                      </a:r>
                    </a:p>
                  </a:txBody>
                  <a:tcPr marL="91440" marR="54864" anchor="ctr">
                    <a:solidFill>
                      <a:srgbClr val="FFFDF9"/>
                    </a:solidFill>
                  </a:tcPr>
                </a:tc>
              </a:tr>
              <a:tr h="365760">
                <a:tc>
                  <a:txBody>
                    <a:bodyPr/>
                    <a:lstStyle/>
                    <a:p>
                      <a:r>
                        <a:rPr sz="900" b="1">
                          <a:solidFill>
                            <a:srgbClr val="0A2540"/>
                          </a:solidFill>
                          <a:latin typeface="Georgia"/>
                        </a:rPr>
                        <a:t>Experiencias OBI</a:t>
                      </a:r>
                    </a:p>
                  </a:txBody>
                  <a:tcPr marL="91440" marR="54864" anchor="ctr">
                    <a:solidFill>
                      <a:srgbClr val="F6F3EC"/>
                    </a:solidFill>
                  </a:tcPr>
                </a:tc>
                <a:tc>
                  <a:txBody>
                    <a:bodyPr/>
                    <a:lstStyle/>
                    <a:p>
                      <a:r>
                        <a:rPr sz="900" b="0">
                          <a:solidFill>
                            <a:srgbClr val="0A2540"/>
                          </a:solidFill>
                          <a:latin typeface="Georgia"/>
                        </a:rPr>
                        <a:t>2</a:t>
                      </a:r>
                    </a:p>
                  </a:txBody>
                  <a:tcPr marL="91440" marR="54864" anchor="ctr">
                    <a:solidFill>
                      <a:srgbClr val="F6F3EC"/>
                    </a:solidFill>
                  </a:tcPr>
                </a:tc>
                <a:tc>
                  <a:txBody>
                    <a:bodyPr/>
                    <a:lstStyle/>
                    <a:p>
                      <a:r>
                        <a:rPr sz="900" b="1">
                          <a:solidFill>
                            <a:srgbClr val="0A2540"/>
                          </a:solidFill>
                          <a:latin typeface="Georgia"/>
                        </a:rPr>
                        <a:t>6</a:t>
                      </a:r>
                    </a:p>
                  </a:txBody>
                  <a:tcPr marL="91440" marR="54864" anchor="ctr">
                    <a:solidFill>
                      <a:srgbClr val="F4EAD5"/>
                    </a:solidFill>
                  </a:tcPr>
                </a:tc>
                <a:tc>
                  <a:txBody>
                    <a:bodyPr/>
                    <a:lstStyle/>
                    <a:p>
                      <a:r>
                        <a:rPr sz="900" b="0">
                          <a:solidFill>
                            <a:srgbClr val="0A2540"/>
                          </a:solidFill>
                          <a:latin typeface="Georgia"/>
                        </a:rPr>
                        <a:t>8</a:t>
                      </a:r>
                    </a:p>
                  </a:txBody>
                  <a:tcPr marL="91440" marR="54864" anchor="ctr">
                    <a:solidFill>
                      <a:srgbClr val="F6F3EC"/>
                    </a:solidFill>
                  </a:tcPr>
                </a:tc>
              </a:tr>
              <a:tr h="365760">
                <a:tc>
                  <a:txBody>
                    <a:bodyPr/>
                    <a:lstStyle/>
                    <a:p>
                      <a:r>
                        <a:rPr sz="900" b="1">
                          <a:solidFill>
                            <a:srgbClr val="0A2540"/>
                          </a:solidFill>
                          <a:latin typeface="Georgia"/>
                        </a:rPr>
                        <a:t>Suscripción con 60%</a:t>
                      </a:r>
                    </a:p>
                  </a:txBody>
                  <a:tcPr marL="91440" marR="54864" anchor="ctr">
                    <a:solidFill>
                      <a:srgbClr val="FFFDF9"/>
                    </a:solidFill>
                  </a:tcPr>
                </a:tc>
                <a:tc>
                  <a:txBody>
                    <a:bodyPr/>
                    <a:lstStyle/>
                    <a:p>
                      <a:r>
                        <a:rPr sz="900" b="0">
                          <a:solidFill>
                            <a:srgbClr val="0A2540"/>
                          </a:solidFill>
                          <a:latin typeface="Georgia"/>
                        </a:rPr>
                        <a:t>Sí</a:t>
                      </a:r>
                    </a:p>
                  </a:txBody>
                  <a:tcPr marL="91440" marR="54864" anchor="ctr">
                    <a:solidFill>
                      <a:srgbClr val="FFFDF9"/>
                    </a:solidFill>
                  </a:tcPr>
                </a:tc>
                <a:tc>
                  <a:txBody>
                    <a:bodyPr/>
                    <a:lstStyle/>
                    <a:p>
                      <a:r>
                        <a:rPr sz="900" b="1">
                          <a:solidFill>
                            <a:srgbClr val="0A2540"/>
                          </a:solidFill>
                          <a:latin typeface="Georgia"/>
                        </a:rPr>
                        <a:t>Sí</a:t>
                      </a:r>
                    </a:p>
                  </a:txBody>
                  <a:tcPr marL="91440" marR="54864" anchor="ctr">
                    <a:solidFill>
                      <a:srgbClr val="F4EAD5"/>
                    </a:solidFill>
                  </a:tcPr>
                </a:tc>
                <a:tc>
                  <a:txBody>
                    <a:bodyPr/>
                    <a:lstStyle/>
                    <a:p>
                      <a:r>
                        <a:rPr sz="900" b="0">
                          <a:solidFill>
                            <a:srgbClr val="0A2540"/>
                          </a:solidFill>
                          <a:latin typeface="Georgia"/>
                        </a:rPr>
                        <a:t>Sí</a:t>
                      </a:r>
                    </a:p>
                  </a:txBody>
                  <a:tcPr marL="91440" marR="54864" anchor="ctr">
                    <a:solidFill>
                      <a:srgbClr val="FFFDF9"/>
                    </a:solidFill>
                  </a:tcPr>
                </a:tc>
              </a:tr>
              <a:tr h="365760">
                <a:tc>
                  <a:txBody>
                    <a:bodyPr/>
                    <a:lstStyle/>
                    <a:p>
                      <a:r>
                        <a:rPr sz="900" b="1">
                          <a:solidFill>
                            <a:srgbClr val="0A2540"/>
                          </a:solidFill>
                          <a:latin typeface="Georgia"/>
                        </a:rPr>
                        <a:t>Dato propio por cohorte</a:t>
                      </a:r>
                    </a:p>
                  </a:txBody>
                  <a:tcPr marL="91440" marR="54864" anchor="ctr">
                    <a:solidFill>
                      <a:srgbClr val="F6F3EC"/>
                    </a:solidFill>
                  </a:tcPr>
                </a:tc>
                <a:tc>
                  <a:txBody>
                    <a:bodyPr/>
                    <a:lstStyle/>
                    <a:p>
                      <a:r>
                        <a:rPr sz="900" b="0">
                          <a:solidFill>
                            <a:srgbClr val="0A2540"/>
                          </a:solidFill>
                          <a:latin typeface="Georgia"/>
                        </a:rPr>
                        <a:t>Sí</a:t>
                      </a:r>
                    </a:p>
                  </a:txBody>
                  <a:tcPr marL="91440" marR="54864" anchor="ctr">
                    <a:solidFill>
                      <a:srgbClr val="F6F3EC"/>
                    </a:solidFill>
                  </a:tcPr>
                </a:tc>
                <a:tc>
                  <a:txBody>
                    <a:bodyPr/>
                    <a:lstStyle/>
                    <a:p>
                      <a:r>
                        <a:rPr sz="900" b="1">
                          <a:solidFill>
                            <a:srgbClr val="0A2540"/>
                          </a:solidFill>
                          <a:latin typeface="Georgia"/>
                        </a:rPr>
                        <a:t>Sí, a escala</a:t>
                      </a:r>
                    </a:p>
                  </a:txBody>
                  <a:tcPr marL="91440" marR="54864" anchor="ctr">
                    <a:solidFill>
                      <a:srgbClr val="F4EAD5"/>
                    </a:solidFill>
                  </a:tcPr>
                </a:tc>
                <a:tc>
                  <a:txBody>
                    <a:bodyPr/>
                    <a:lstStyle/>
                    <a:p>
                      <a:r>
                        <a:rPr sz="900" b="0">
                          <a:solidFill>
                            <a:srgbClr val="0A2540"/>
                          </a:solidFill>
                          <a:latin typeface="Georgia"/>
                        </a:rPr>
                        <a:t>Sí, a escala</a:t>
                      </a:r>
                    </a:p>
                  </a:txBody>
                  <a:tcPr marL="91440" marR="54864" anchor="ctr">
                    <a:solidFill>
                      <a:srgbClr val="F6F3EC"/>
                    </a:solidFill>
                  </a:tcPr>
                </a:tc>
              </a:tr>
            </a:tbl>
          </a:graphicData>
        </a:graphic>
      </p:graphicFrame>
      <p:sp>
        <p:nvSpPr>
          <p:cNvPr id="7" name="TextBox 6"/>
          <p:cNvSpPr txBox="1"/>
          <p:nvPr/>
        </p:nvSpPr>
        <p:spPr>
          <a:xfrm>
            <a:off x="777240" y="5870448"/>
            <a:ext cx="10332720" cy="365760"/>
          </a:xfrm>
          <a:prstGeom prst="rect">
            <a:avLst/>
          </a:prstGeom>
          <a:noFill/>
        </p:spPr>
        <p:txBody>
          <a:bodyPr wrap="square" lIns="0" rIns="0" tIns="0" bIns="0" anchor="t">
            <a:spAutoFit/>
          </a:bodyPr>
          <a:lstStyle/>
          <a:p>
            <a:pPr algn="l">
              <a:lnSpc>
                <a:spcPct val="125000"/>
              </a:lnSpc>
              <a:spcAft>
                <a:spcPts val="0"/>
              </a:spcAft>
            </a:pPr>
            <a:r>
              <a:rPr sz="900" b="0">
                <a:solidFill>
                  <a:srgbClr val="75808F"/>
                </a:solidFill>
                <a:latin typeface="Helvetica Neue"/>
              </a:rPr>
              <a:t>Recomendamos el Paquete B: es el único que alcanza a los tres perfiles de tarjetahabiente y genera volumen de registro suficiente para leer resultados por cohorte.</a:t>
            </a:r>
          </a:p>
        </p:txBody>
      </p:sp>
      <p:sp>
        <p:nvSpPr>
          <p:cNvPr id="8" name="TextBox 7"/>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TARIFAS 2026 SUJETAS A IVA</a:t>
            </a:r>
          </a:p>
        </p:txBody>
      </p:sp>
      <p:sp>
        <p:nvSpPr>
          <p:cNvPr id="9" name="TextBox 8"/>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lanca.jpg"/>
          <p:cNvPicPr>
            <a:picLocks noChangeAspect="1"/>
          </p:cNvPicPr>
          <p:nvPr/>
        </p:nvPicPr>
        <p:blipFill>
          <a:blip r:embed="rId2"/>
          <a:stretch>
            <a:fillRect/>
          </a:stretch>
        </p:blipFill>
        <p:spPr>
          <a:xfrm>
            <a:off x="8001000" y="0"/>
            <a:ext cx="4187952" cy="6858000"/>
          </a:xfrm>
          <a:prstGeom prst="rect">
            <a:avLst/>
          </a:prstGeom>
        </p:spPr>
      </p:pic>
      <p:sp>
        <p:nvSpPr>
          <p:cNvPr id="4" name="Rectangle 3"/>
          <p:cNvSpPr/>
          <p:nvPr/>
        </p:nvSpPr>
        <p:spPr>
          <a:xfrm>
            <a:off x="8001000" y="0"/>
            <a:ext cx="4187952" cy="6858000"/>
          </a:xfrm>
          <a:prstGeom prst="rect">
            <a:avLst/>
          </a:prstGeom>
          <a:solidFill>
            <a:srgbClr val="0A254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75320" y="5486400"/>
            <a:ext cx="3639312" cy="914400"/>
          </a:xfrm>
          <a:prstGeom prst="rect">
            <a:avLst/>
          </a:prstGeom>
          <a:noFill/>
        </p:spPr>
        <p:txBody>
          <a:bodyPr wrap="square" lIns="0" rIns="0" tIns="0" bIns="0" anchor="b">
            <a:spAutoFit/>
          </a:bodyPr>
          <a:lstStyle/>
          <a:p>
            <a:pPr algn="l">
              <a:lnSpc>
                <a:spcPct val="114000"/>
              </a:lnSpc>
              <a:spcAft>
                <a:spcPts val="0"/>
              </a:spcAft>
            </a:pPr>
            <a:r>
              <a:rPr sz="1900" b="0">
                <a:solidFill>
                  <a:srgbClr val="FFFFFF"/>
                </a:solidFill>
                <a:latin typeface="Georgia"/>
              </a:rPr>
              <a:t>Una casa editorial
construyó el caso de
éxito de la franquicia</a:t>
            </a:r>
          </a:p>
        </p:txBody>
      </p:sp>
      <p:sp>
        <p:nvSpPr>
          <p:cNvPr id="6" name="TextBox 5"/>
          <p:cNvSpPr txBox="1"/>
          <p:nvPr/>
        </p:nvSpPr>
        <p:spPr>
          <a:xfrm>
            <a:off x="8275320" y="6400800"/>
            <a:ext cx="3639312" cy="274320"/>
          </a:xfrm>
          <a:prstGeom prst="rect">
            <a:avLst/>
          </a:prstGeom>
          <a:noFill/>
        </p:spPr>
        <p:txBody>
          <a:bodyPr wrap="square" lIns="0" rIns="0" tIns="0" bIns="0" anchor="t">
            <a:spAutoFit/>
          </a:bodyPr>
          <a:lstStyle/>
          <a:p>
            <a:pPr algn="l">
              <a:lnSpc>
                <a:spcPct val="108000"/>
              </a:lnSpc>
              <a:spcAft>
                <a:spcPts val="0"/>
              </a:spcAft>
            </a:pPr>
            <a:r>
              <a:rPr sz="850" b="0">
                <a:solidFill>
                  <a:srgbClr val="C9CED6"/>
                </a:solidFill>
                <a:latin typeface="Helvetica Neue"/>
              </a:rPr>
              <a:t>DINEDICIONES · DINERS CLUB DEL ECUADOR</a:t>
            </a:r>
          </a:p>
        </p:txBody>
      </p:sp>
      <p:sp>
        <p:nvSpPr>
          <p:cNvPr id="7" name="TextBox 6"/>
          <p:cNvSpPr txBox="1"/>
          <p:nvPr/>
        </p:nvSpPr>
        <p:spPr>
          <a:xfrm>
            <a:off x="777240" y="640080"/>
            <a:ext cx="7772400" cy="256032"/>
          </a:xfrm>
          <a:prstGeom prst="rect">
            <a:avLst/>
          </a:prstGeom>
          <a:noFill/>
        </p:spPr>
        <p:txBody>
          <a:bodyPr wrap="square" lIns="0" rIns="0" tIns="0" bIns="0" anchor="t">
            <a:spAutoFit/>
          </a:bodyPr>
          <a:lstStyle/>
          <a:p>
            <a:pPr algn="l">
              <a:lnSpc>
                <a:spcPct val="108000"/>
              </a:lnSpc>
              <a:spcAft>
                <a:spcPts val="0"/>
              </a:spcAft>
            </a:pPr>
            <a:r>
              <a:rPr sz="900" b="1">
                <a:solidFill>
                  <a:srgbClr val="8A6B1F"/>
                </a:solidFill>
                <a:latin typeface="Helvetica Neue"/>
              </a:rPr>
              <a:t>CASO DE REFERENCIA</a:t>
            </a:r>
          </a:p>
        </p:txBody>
      </p:sp>
      <p:sp>
        <p:nvSpPr>
          <p:cNvPr id="8" name="TextBox 7"/>
          <p:cNvSpPr txBox="1"/>
          <p:nvPr/>
        </p:nvSpPr>
        <p:spPr>
          <a:xfrm>
            <a:off x="777240" y="960120"/>
            <a:ext cx="6766560" cy="1280160"/>
          </a:xfrm>
          <a:prstGeom prst="rect">
            <a:avLst/>
          </a:prstGeom>
          <a:noFill/>
        </p:spPr>
        <p:txBody>
          <a:bodyPr wrap="square" lIns="0" rIns="0" tIns="0" bIns="0" anchor="t">
            <a:spAutoFit/>
          </a:bodyPr>
          <a:lstStyle/>
          <a:p>
            <a:pPr algn="l">
              <a:lnSpc>
                <a:spcPct val="102000"/>
              </a:lnSpc>
              <a:spcAft>
                <a:spcPts val="0"/>
              </a:spcAft>
            </a:pPr>
            <a:r>
              <a:rPr sz="3200" b="0">
                <a:solidFill>
                  <a:srgbClr val="0A2540"/>
                </a:solidFill>
                <a:latin typeface="Georgia"/>
              </a:rPr>
              <a:t>La prueba de Ecuador</a:t>
            </a:r>
          </a:p>
        </p:txBody>
      </p:sp>
      <p:sp>
        <p:nvSpPr>
          <p:cNvPr id="9" name="Rectangle 8"/>
          <p:cNvSpPr/>
          <p:nvPr/>
        </p:nvSpPr>
        <p:spPr>
          <a:xfrm>
            <a:off x="777240" y="1783080"/>
            <a:ext cx="6583680" cy="25603"/>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38528"/>
            <a:ext cx="6583680" cy="320040"/>
          </a:xfrm>
          <a:prstGeom prst="rect">
            <a:avLst/>
          </a:prstGeom>
          <a:noFill/>
        </p:spPr>
        <p:txBody>
          <a:bodyPr wrap="square" lIns="0" rIns="0" tIns="0" bIns="0" anchor="t">
            <a:spAutoFit/>
          </a:bodyPr>
          <a:lstStyle/>
          <a:p>
            <a:pPr algn="l">
              <a:lnSpc>
                <a:spcPct val="130000"/>
              </a:lnSpc>
              <a:spcAft>
                <a:spcPts val="0"/>
              </a:spcAft>
            </a:pPr>
            <a:r>
              <a:rPr sz="1050" b="0">
                <a:solidFill>
                  <a:srgbClr val="75808F"/>
                </a:solidFill>
                <a:latin typeface="Helvetica Neue"/>
              </a:rPr>
              <a:t>Esto no es un experimento. Es lo que la propia franquicia ya hizo funcionar en la región.</a:t>
            </a:r>
          </a:p>
        </p:txBody>
      </p:sp>
      <p:sp>
        <p:nvSpPr>
          <p:cNvPr id="11" name="Rectangle 10"/>
          <p:cNvSpPr/>
          <p:nvPr/>
        </p:nvSpPr>
        <p:spPr>
          <a:xfrm>
            <a:off x="777240" y="2423160"/>
            <a:ext cx="6583680" cy="1691640"/>
          </a:xfrm>
          <a:prstGeom prst="rect">
            <a:avLst/>
          </a:prstGeom>
          <a:solidFill>
            <a:srgbClr val="FFFDF9"/>
          </a:solidFill>
          <a:ln w="12700">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596896"/>
            <a:ext cx="6236208" cy="201168"/>
          </a:xfrm>
          <a:prstGeom prst="rect">
            <a:avLst/>
          </a:prstGeom>
          <a:noFill/>
        </p:spPr>
        <p:txBody>
          <a:bodyPr wrap="square" lIns="0" rIns="0" tIns="0" bIns="0" anchor="t">
            <a:spAutoFit/>
          </a:bodyPr>
          <a:lstStyle/>
          <a:p>
            <a:pPr algn="l">
              <a:lnSpc>
                <a:spcPct val="108000"/>
              </a:lnSpc>
              <a:spcAft>
                <a:spcPts val="0"/>
              </a:spcAft>
            </a:pPr>
            <a:r>
              <a:rPr sz="750" b="1">
                <a:solidFill>
                  <a:srgbClr val="75808F"/>
                </a:solidFill>
                <a:latin typeface="Helvetica Neue"/>
              </a:rPr>
              <a:t>EL CASO</a:t>
            </a:r>
          </a:p>
        </p:txBody>
      </p:sp>
      <p:sp>
        <p:nvSpPr>
          <p:cNvPr id="13" name="TextBox 12"/>
          <p:cNvSpPr txBox="1"/>
          <p:nvPr/>
        </p:nvSpPr>
        <p:spPr>
          <a:xfrm>
            <a:off x="950976" y="2834639"/>
            <a:ext cx="6236208" cy="457200"/>
          </a:xfrm>
          <a:prstGeom prst="rect">
            <a:avLst/>
          </a:prstGeom>
          <a:noFill/>
        </p:spPr>
        <p:txBody>
          <a:bodyPr wrap="square" lIns="0" rIns="0" tIns="0" bIns="0" anchor="t">
            <a:spAutoFit/>
          </a:bodyPr>
          <a:lstStyle/>
          <a:p>
            <a:pPr algn="l">
              <a:lnSpc>
                <a:spcPct val="106000"/>
              </a:lnSpc>
              <a:spcAft>
                <a:spcPts val="0"/>
              </a:spcAft>
            </a:pPr>
            <a:r>
              <a:rPr sz="1300" b="1">
                <a:solidFill>
                  <a:srgbClr val="0A2540"/>
                </a:solidFill>
                <a:latin typeface="Georgia"/>
              </a:rPr>
              <a:t>Orígenes by Diners Club</a:t>
            </a:r>
          </a:p>
        </p:txBody>
      </p:sp>
      <p:sp>
        <p:nvSpPr>
          <p:cNvPr id="14" name="TextBox 13"/>
          <p:cNvSpPr txBox="1"/>
          <p:nvPr/>
        </p:nvSpPr>
        <p:spPr>
          <a:xfrm>
            <a:off x="950976" y="3246120"/>
            <a:ext cx="6236208" cy="731520"/>
          </a:xfrm>
          <a:prstGeom prst="rect">
            <a:avLst/>
          </a:prstGeom>
          <a:noFill/>
        </p:spPr>
        <p:txBody>
          <a:bodyPr wrap="square" lIns="0" rIns="0" tIns="0" bIns="0" anchor="t">
            <a:spAutoFit/>
          </a:bodyPr>
          <a:lstStyle/>
          <a:p>
            <a:pPr algn="l">
              <a:lnSpc>
                <a:spcPct val="126000"/>
              </a:lnSpc>
              <a:spcAft>
                <a:spcPts val="0"/>
              </a:spcAft>
            </a:pPr>
            <a:r>
              <a:rPr sz="900" b="0">
                <a:solidFill>
                  <a:srgbClr val="14263D"/>
                </a:solidFill>
                <a:latin typeface="Helvetica Neue"/>
              </a:rPr>
              <a:t>Programa de Diners Club del Ecuador nacido en 2012. Trabaja con comunidades pequeñas, cocineras, familias y mercados para recuperar la oferta gastronómica local.</a:t>
            </a:r>
          </a:p>
        </p:txBody>
      </p:sp>
      <p:sp>
        <p:nvSpPr>
          <p:cNvPr id="15" name="TextBox 14"/>
          <p:cNvSpPr txBox="1"/>
          <p:nvPr/>
        </p:nvSpPr>
        <p:spPr>
          <a:xfrm>
            <a:off x="950976" y="3575303"/>
            <a:ext cx="6236208" cy="402336"/>
          </a:xfrm>
          <a:prstGeom prst="rect">
            <a:avLst/>
          </a:prstGeom>
          <a:noFill/>
        </p:spPr>
        <p:txBody>
          <a:bodyPr wrap="square" lIns="0" rIns="0" tIns="0" bIns="0" anchor="t">
            <a:spAutoFit/>
          </a:bodyPr>
          <a:lstStyle/>
          <a:p>
            <a:pPr algn="l">
              <a:lnSpc>
                <a:spcPct val="120000"/>
              </a:lnSpc>
              <a:spcAft>
                <a:spcPts val="350"/>
              </a:spcAft>
            </a:pPr>
            <a:r>
              <a:rPr sz="900" b="0">
                <a:solidFill>
                  <a:srgbClr val="14263D"/>
                </a:solidFill>
                <a:latin typeface="Helvetica Neue"/>
              </a:rPr>
              <a:t>•  Más de 1.053 recetas compiladas en libros de cocina</a:t>
            </a:r>
          </a:p>
          <a:p>
            <a:pPr algn="l">
              <a:lnSpc>
                <a:spcPct val="120000"/>
              </a:lnSpc>
              <a:spcAft>
                <a:spcPts val="350"/>
              </a:spcAft>
            </a:pPr>
            <a:r>
              <a:rPr sz="900" b="0">
                <a:solidFill>
                  <a:srgbClr val="14263D"/>
                </a:solidFill>
                <a:latin typeface="Helvetica Neue"/>
              </a:rPr>
              <a:t>•  Dos series de televisión nacional</a:t>
            </a:r>
          </a:p>
          <a:p>
            <a:pPr algn="l">
              <a:lnSpc>
                <a:spcPct val="120000"/>
              </a:lnSpc>
              <a:spcAft>
                <a:spcPts val="350"/>
              </a:spcAft>
            </a:pPr>
            <a:r>
              <a:rPr sz="900" b="0">
                <a:solidFill>
                  <a:srgbClr val="14263D"/>
                </a:solidFill>
                <a:latin typeface="Helvetica Neue"/>
              </a:rPr>
              <a:t>•  Los libros los produce Dinediciones, el brazo editorial del banco</a:t>
            </a:r>
          </a:p>
        </p:txBody>
      </p:sp>
      <p:sp>
        <p:nvSpPr>
          <p:cNvPr id="16" name="Rectangle 15"/>
          <p:cNvSpPr/>
          <p:nvPr/>
        </p:nvSpPr>
        <p:spPr>
          <a:xfrm>
            <a:off x="777240" y="4251960"/>
            <a:ext cx="6583680" cy="1600200"/>
          </a:xfrm>
          <a:prstGeom prst="rect">
            <a:avLst/>
          </a:prstGeom>
          <a:solidFill>
            <a:srgbClr val="0A2540"/>
          </a:solidFill>
          <a:ln w="12700">
            <a:solidFill>
              <a:srgbClr val="0A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 y="4425696"/>
            <a:ext cx="6236208" cy="201168"/>
          </a:xfrm>
          <a:prstGeom prst="rect">
            <a:avLst/>
          </a:prstGeom>
          <a:noFill/>
        </p:spPr>
        <p:txBody>
          <a:bodyPr wrap="square" lIns="0" rIns="0" tIns="0" bIns="0" anchor="t">
            <a:spAutoFit/>
          </a:bodyPr>
          <a:lstStyle/>
          <a:p>
            <a:pPr algn="l">
              <a:lnSpc>
                <a:spcPct val="108000"/>
              </a:lnSpc>
              <a:spcAft>
                <a:spcPts val="0"/>
              </a:spcAft>
            </a:pPr>
            <a:r>
              <a:rPr sz="750" b="1">
                <a:solidFill>
                  <a:srgbClr val="D2A855"/>
                </a:solidFill>
                <a:latin typeface="Helvetica Neue"/>
              </a:rPr>
              <a:t>LO QUE DEMUESTRA</a:t>
            </a:r>
          </a:p>
        </p:txBody>
      </p:sp>
      <p:sp>
        <p:nvSpPr>
          <p:cNvPr id="18" name="TextBox 17"/>
          <p:cNvSpPr txBox="1"/>
          <p:nvPr/>
        </p:nvSpPr>
        <p:spPr>
          <a:xfrm>
            <a:off x="950976" y="4663440"/>
            <a:ext cx="6236208" cy="457200"/>
          </a:xfrm>
          <a:prstGeom prst="rect">
            <a:avLst/>
          </a:prstGeom>
          <a:noFill/>
        </p:spPr>
        <p:txBody>
          <a:bodyPr wrap="square" lIns="0" rIns="0" tIns="0" bIns="0" anchor="t">
            <a:spAutoFit/>
          </a:bodyPr>
          <a:lstStyle/>
          <a:p>
            <a:pPr algn="l">
              <a:lnSpc>
                <a:spcPct val="106000"/>
              </a:lnSpc>
              <a:spcAft>
                <a:spcPts val="0"/>
              </a:spcAft>
            </a:pPr>
            <a:r>
              <a:rPr sz="1300" b="1">
                <a:solidFill>
                  <a:srgbClr val="FFFFFF"/>
                </a:solidFill>
                <a:latin typeface="Georgia"/>
              </a:rPr>
              <a:t>El brazo editorial es el motor</a:t>
            </a:r>
          </a:p>
        </p:txBody>
      </p:sp>
      <p:sp>
        <p:nvSpPr>
          <p:cNvPr id="19" name="TextBox 18"/>
          <p:cNvSpPr txBox="1"/>
          <p:nvPr/>
        </p:nvSpPr>
        <p:spPr>
          <a:xfrm>
            <a:off x="950976" y="5074920"/>
            <a:ext cx="6236208" cy="640079"/>
          </a:xfrm>
          <a:prstGeom prst="rect">
            <a:avLst/>
          </a:prstGeom>
          <a:noFill/>
        </p:spPr>
        <p:txBody>
          <a:bodyPr wrap="square" lIns="0" rIns="0" tIns="0" bIns="0" anchor="t">
            <a:spAutoFit/>
          </a:bodyPr>
          <a:lstStyle/>
          <a:p>
            <a:pPr algn="l">
              <a:lnSpc>
                <a:spcPct val="126000"/>
              </a:lnSpc>
              <a:spcAft>
                <a:spcPts val="0"/>
              </a:spcAft>
            </a:pPr>
            <a:r>
              <a:rPr sz="900" b="0">
                <a:solidFill>
                  <a:srgbClr val="D8DDE4"/>
                </a:solidFill>
                <a:latin typeface="Helvetica Neue"/>
              </a:rPr>
              <a:t>Ecuador no construyó fidelidad con pauta. La construyó con su casa editorial, y llegó a cerca de un millón de tarjetahabientes. Ediciones Gamma ocupa en Colombia la misma posición que Dinediciones en Ecuador, con una revista homónima de 60 años y una unidad de Libros ya operando.</a:t>
            </a:r>
          </a:p>
        </p:txBody>
      </p:sp>
      <p:sp>
        <p:nvSpPr>
          <p:cNvPr id="20" name="TextBox 19"/>
          <p:cNvSpPr txBox="1"/>
          <p:nvPr/>
        </p:nvSpPr>
        <p:spPr>
          <a:xfrm>
            <a:off x="777240" y="6291072"/>
            <a:ext cx="7772400" cy="237744"/>
          </a:xfrm>
          <a:prstGeom prst="rect">
            <a:avLst/>
          </a:prstGeom>
          <a:noFill/>
        </p:spPr>
        <p:txBody>
          <a:bodyPr wrap="square" lIns="0" rIns="0" tIns="0" bIns="0" anchor="t">
            <a:spAutoFit/>
          </a:bodyPr>
          <a:lstStyle/>
          <a:p>
            <a:pPr algn="l">
              <a:lnSpc>
                <a:spcPct val="108000"/>
              </a:lnSpc>
              <a:spcAft>
                <a:spcPts val="0"/>
              </a:spcAft>
            </a:pPr>
            <a:r>
              <a:rPr sz="750" b="0">
                <a:solidFill>
                  <a:srgbClr val="75808F"/>
                </a:solidFill>
                <a:latin typeface="Helvetica Neue"/>
              </a:rPr>
              <a:t>CAROLINA RAMIREZ · EDICIONES GAMMA</a:t>
            </a:r>
          </a:p>
        </p:txBody>
      </p:sp>
      <p:sp>
        <p:nvSpPr>
          <p:cNvPr id="21" name="TextBox 20"/>
          <p:cNvSpPr txBox="1"/>
          <p:nvPr/>
        </p:nvSpPr>
        <p:spPr>
          <a:xfrm>
            <a:off x="10362895" y="6291072"/>
            <a:ext cx="1051560" cy="237744"/>
          </a:xfrm>
          <a:prstGeom prst="rect">
            <a:avLst/>
          </a:prstGeom>
          <a:noFill/>
        </p:spPr>
        <p:txBody>
          <a:bodyPr wrap="square" lIns="0" rIns="0" tIns="0" bIns="0" anchor="t">
            <a:spAutoFit/>
          </a:bodyPr>
          <a:lstStyle/>
          <a:p>
            <a:pPr algn="r">
              <a:lnSpc>
                <a:spcPct val="108000"/>
              </a:lnSpc>
              <a:spcAft>
                <a:spcPts val="0"/>
              </a:spcAft>
            </a:pPr>
            <a:r>
              <a:rPr sz="850" b="1">
                <a:solidFill>
                  <a:srgbClr val="8A6B1F"/>
                </a:solidFill>
                <a:latin typeface="Helvetica Neue"/>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