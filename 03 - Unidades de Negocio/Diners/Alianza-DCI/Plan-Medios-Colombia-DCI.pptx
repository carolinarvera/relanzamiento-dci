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tada.jpg"/>
          <p:cNvPicPr>
            <a:picLocks noChangeAspect="1"/>
          </p:cNvPicPr>
          <p:nvPr/>
        </p:nvPicPr>
        <p:blipFill>
          <a:blip r:embed="rId2"/>
          <a:stretch>
            <a:fillRect/>
          </a:stretch>
        </p:blipFill>
        <p:spPr>
          <a:xfrm>
            <a:off x="7040880" y="0"/>
            <a:ext cx="5148072" cy="6858000"/>
          </a:xfrm>
          <a:prstGeom prst="rect">
            <a:avLst/>
          </a:prstGeom>
        </p:spPr>
      </p:pic>
      <p:sp>
        <p:nvSpPr>
          <p:cNvPr id="4" name="Rectangle 3"/>
          <p:cNvSpPr/>
          <p:nvPr/>
        </p:nvSpPr>
        <p:spPr>
          <a:xfrm>
            <a:off x="7040880" y="0"/>
            <a:ext cx="5148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96912" y="5532120"/>
            <a:ext cx="4636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It's the ( Dining ) Club</a:t>
            </a:r>
          </a:p>
        </p:txBody>
      </p:sp>
      <p:sp>
        <p:nvSpPr>
          <p:cNvPr id="6" name="TextBox 5"/>
          <p:cNvSpPr txBox="1"/>
          <p:nvPr/>
        </p:nvSpPr>
        <p:spPr>
          <a:xfrm>
            <a:off x="7296912" y="6437376"/>
            <a:ext cx="4636008" cy="256032"/>
          </a:xfrm>
          <a:prstGeom prst="rect">
            <a:avLst/>
          </a:prstGeom>
          <a:noFill/>
        </p:spPr>
        <p:txBody>
          <a:bodyPr wrap="square" lIns="0" rIns="0" tIns="0" bIns="0" anchor="t">
            <a:spAutoFit/>
          </a:bodyPr>
          <a:lstStyle/>
          <a:p>
            <a:pPr algn="l">
              <a:lnSpc>
                <a:spcPct val="108000"/>
              </a:lnSpc>
              <a:spcAft>
                <a:spcPts val="0"/>
              </a:spcAft>
            </a:pPr>
            <a:r>
              <a:rPr sz="800" b="0">
                <a:solidFill>
                  <a:srgbClr val="C9CED6"/>
                </a:solidFill>
                <a:latin typeface="Helvetica Neue"/>
              </a:rPr>
              <a:t>UNLOCK INTERESTING · COLOMBIA</a:t>
            </a:r>
          </a:p>
        </p:txBody>
      </p:sp>
      <p:sp>
        <p:nvSpPr>
          <p:cNvPr id="7" name="TextBox 6"/>
          <p:cNvSpPr txBox="1"/>
          <p:nvPr/>
        </p:nvSpPr>
        <p:spPr>
          <a:xfrm>
            <a:off x="731520" y="658368"/>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DINERS CLUB INTERNATIONAL &amp; EDICIONES GAMMA · OCTUBRE 2026</a:t>
            </a:r>
          </a:p>
        </p:txBody>
      </p:sp>
      <p:sp>
        <p:nvSpPr>
          <p:cNvPr id="8" name="TextBox 7"/>
          <p:cNvSpPr txBox="1"/>
          <p:nvPr/>
        </p:nvSpPr>
        <p:spPr>
          <a:xfrm>
            <a:off x="731520" y="1078992"/>
            <a:ext cx="5852160" cy="1188720"/>
          </a:xfrm>
          <a:prstGeom prst="rect">
            <a:avLst/>
          </a:prstGeom>
          <a:noFill/>
        </p:spPr>
        <p:txBody>
          <a:bodyPr wrap="square" lIns="0" rIns="0" tIns="0" bIns="0" anchor="t">
            <a:spAutoFit/>
          </a:bodyPr>
          <a:lstStyle/>
          <a:p>
            <a:pPr algn="l">
              <a:lnSpc>
                <a:spcPct val="102000"/>
              </a:lnSpc>
              <a:spcAft>
                <a:spcPts val="0"/>
              </a:spcAft>
            </a:pPr>
            <a:r>
              <a:rPr sz="3700" b="0">
                <a:solidFill>
                  <a:srgbClr val="0A2540"/>
                </a:solidFill>
                <a:latin typeface="Georgia"/>
              </a:rPr>
              <a:t>Colombia:
plan de medios
del Dining Program</a:t>
            </a:r>
          </a:p>
        </p:txBody>
      </p:sp>
      <p:sp>
        <p:nvSpPr>
          <p:cNvPr id="9" name="TextBox 8"/>
          <p:cNvSpPr txBox="1"/>
          <p:nvPr/>
        </p:nvSpPr>
        <p:spPr>
          <a:xfrm>
            <a:off x="731520" y="3611880"/>
            <a:ext cx="5760720" cy="82296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Respuesta al roadmap global de dining. Adaptación local de las mejores prácticas de la franquicia, calendario de lanzamiento alineado al primer trimestre de 2027.</a:t>
            </a:r>
          </a:p>
        </p:txBody>
      </p:sp>
      <p:sp>
        <p:nvSpPr>
          <p:cNvPr id="10" name="Rectangle 9"/>
          <p:cNvSpPr/>
          <p:nvPr/>
        </p:nvSpPr>
        <p:spPr>
          <a:xfrm>
            <a:off x="731520" y="4754880"/>
            <a:ext cx="1874519" cy="10058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8A6B1F"/>
                </a:solidFill>
                <a:latin typeface="Georgia"/>
              </a:rPr>
              <a:t>169K</a:t>
            </a:r>
          </a:p>
        </p:txBody>
      </p:sp>
      <p:sp>
        <p:nvSpPr>
          <p:cNvPr id="12" name="TextBox 11"/>
          <p:cNvSpPr txBox="1"/>
          <p:nvPr/>
        </p:nvSpPr>
        <p:spPr>
          <a:xfrm>
            <a:off x="86868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Clubmembers en Colombia · 18.4K Black</a:t>
            </a:r>
          </a:p>
        </p:txBody>
      </p:sp>
      <p:sp>
        <p:nvSpPr>
          <p:cNvPr id="13" name="Rectangle 12"/>
          <p:cNvSpPr/>
          <p:nvPr/>
        </p:nvSpPr>
        <p:spPr>
          <a:xfrm>
            <a:off x="2743200" y="4754880"/>
            <a:ext cx="1874519" cy="10058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036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0A2540"/>
                </a:solidFill>
                <a:latin typeface="Georgia"/>
              </a:rPr>
              <a:t>1.133.000</a:t>
            </a:r>
          </a:p>
        </p:txBody>
      </p:sp>
      <p:sp>
        <p:nvSpPr>
          <p:cNvPr id="15" name="TextBox 14"/>
          <p:cNvSpPr txBox="1"/>
          <p:nvPr/>
        </p:nvSpPr>
        <p:spPr>
          <a:xfrm>
            <a:off x="288036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Alcance mensual propio</a:t>
            </a:r>
          </a:p>
        </p:txBody>
      </p:sp>
      <p:sp>
        <p:nvSpPr>
          <p:cNvPr id="16" name="Rectangle 15"/>
          <p:cNvSpPr/>
          <p:nvPr/>
        </p:nvSpPr>
        <p:spPr>
          <a:xfrm>
            <a:off x="4754880" y="4754880"/>
            <a:ext cx="1874519" cy="10058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0A2540"/>
                </a:solidFill>
                <a:latin typeface="Georgia"/>
              </a:rPr>
              <a:t>146.000</a:t>
            </a:r>
          </a:p>
        </p:txBody>
      </p:sp>
      <p:sp>
        <p:nvSpPr>
          <p:cNvPr id="18" name="TextBox 17"/>
          <p:cNvSpPr txBox="1"/>
          <p:nvPr/>
        </p:nvSpPr>
        <p:spPr>
          <a:xfrm>
            <a:off x="489204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Suscriptores del mismo perfil</a:t>
            </a:r>
          </a:p>
        </p:txBody>
      </p:sp>
      <p:sp>
        <p:nvSpPr>
          <p:cNvPr id="19" name="TextBox 18"/>
          <p:cNvSpPr txBox="1"/>
          <p:nvPr/>
        </p:nvSpPr>
        <p:spPr>
          <a:xfrm>
            <a:off x="731520" y="6327648"/>
            <a:ext cx="5943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EDICIONES GAMMA · DOCUMENTO CONFIDENCIAL</a:t>
            </a:r>
          </a:p>
        </p:txBody>
      </p:sp>
      <p:sp>
        <p:nvSpPr>
          <p:cNvPr id="20" name="TextBox 19"/>
          <p:cNvSpPr txBox="1"/>
          <p:nvPr/>
        </p:nvSpPr>
        <p:spPr>
          <a:xfrm>
            <a:off x="9174175" y="6327648"/>
            <a:ext cx="2286000" cy="219456"/>
          </a:xfrm>
          <a:prstGeom prst="rect">
            <a:avLst/>
          </a:prstGeom>
          <a:noFill/>
        </p:spPr>
        <p:txBody>
          <a:bodyPr wrap="square" lIns="0" rIns="0" tIns="0" bIns="0" anchor="t">
            <a:spAutoFit/>
          </a:bodyPr>
          <a:lstStyle/>
          <a:p>
            <a:pPr algn="r">
              <a:lnSpc>
                <a:spcPct val="108000"/>
              </a:lnSpc>
              <a:spcAft>
                <a:spcPts val="0"/>
              </a:spcAft>
            </a:pPr>
            <a:r>
              <a:rPr sz="700" b="0">
                <a:solidFill>
                  <a:srgbClr val="75808F"/>
                </a:solidFill>
                <a:latin typeface="Helvetica Neue"/>
              </a:rPr>
              <a:t>PARA LANZAMIENTO T1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EL ENCARGO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Esto es lo que el roadmap pidió</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603504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El roadmap global de dining fija el calendario de los socios de LATAM. Esta propuesta es la entrega de Colombia, construida sobre las mejores prácticas que la franquicia ya validó en la región.</a:t>
            </a:r>
          </a:p>
        </p:txBody>
      </p:sp>
      <p:graphicFrame>
        <p:nvGraphicFramePr>
          <p:cNvPr id="7" name="Table 6"/>
          <p:cNvGraphicFramePr>
            <a:graphicFrameLocks noGrp="1"/>
          </p:cNvGraphicFramePr>
          <p:nvPr/>
        </p:nvGraphicFramePr>
        <p:xfrm>
          <a:off x="731520" y="2697480"/>
          <a:ext cx="6035040" cy="2029968"/>
        </p:xfrm>
        <a:graphic>
          <a:graphicData uri="http://schemas.openxmlformats.org/drawingml/2006/table">
            <a:tbl>
              <a:tblPr firstRow="1" bandRow="1">
                <a:tableStyleId>{5C22544A-7EE6-4342-B048-85BDC9FD1C3A}</a:tableStyleId>
              </a:tblPr>
              <a:tblGrid>
                <a:gridCol w="1234440"/>
                <a:gridCol w="4800600"/>
              </a:tblGrid>
              <a:tr h="338328">
                <a:tc>
                  <a:txBody>
                    <a:bodyPr/>
                    <a:lstStyle/>
                    <a:p>
                      <a:r>
                        <a:rPr sz="790" b="1">
                          <a:solidFill>
                            <a:srgbClr val="FFFFFF"/>
                          </a:solidFill>
                          <a:latin typeface="Helvetica Neue"/>
                        </a:rPr>
                        <a:t>Trimestre</a:t>
                      </a:r>
                    </a:p>
                  </a:txBody>
                  <a:tcPr marL="73152" marR="45720" anchor="ctr">
                    <a:solidFill>
                      <a:srgbClr val="0A2540"/>
                    </a:solidFill>
                  </a:tcPr>
                </a:tc>
                <a:tc>
                  <a:txBody>
                    <a:bodyPr/>
                    <a:lstStyle/>
                    <a:p>
                      <a:r>
                        <a:rPr sz="790" b="1">
                          <a:solidFill>
                            <a:srgbClr val="FFFFFF"/>
                          </a:solidFill>
                          <a:latin typeface="Helvetica Neue"/>
                        </a:rPr>
                        <a:t>Hito del roadmap</a:t>
                      </a:r>
                    </a:p>
                  </a:txBody>
                  <a:tcPr marL="73152" marR="45720" anchor="ctr">
                    <a:solidFill>
                      <a:srgbClr val="0A2540"/>
                    </a:solidFill>
                  </a:tcPr>
                </a:tc>
              </a:tr>
              <a:tr h="338328">
                <a:tc>
                  <a:txBody>
                    <a:bodyPr/>
                    <a:lstStyle/>
                    <a:p>
                      <a:r>
                        <a:rPr sz="850" b="1">
                          <a:solidFill>
                            <a:srgbClr val="0A2540"/>
                          </a:solidFill>
                          <a:latin typeface="Georgia"/>
                        </a:rPr>
                        <a:t>Q2 2026</a:t>
                      </a:r>
                    </a:p>
                  </a:txBody>
                  <a:tcPr marL="73152" marR="45720" anchor="ctr">
                    <a:solidFill>
                      <a:srgbClr val="FFFDF9"/>
                    </a:solidFill>
                  </a:tcPr>
                </a:tc>
                <a:tc>
                  <a:txBody>
                    <a:bodyPr/>
                    <a:lstStyle/>
                    <a:p>
                      <a:r>
                        <a:rPr sz="850" b="0">
                          <a:solidFill>
                            <a:srgbClr val="0A2540"/>
                          </a:solidFill>
                          <a:latin typeface="Georgia"/>
                        </a:rPr>
                        <a:t>DC Colombia empieza a adaptar las mejores prácticas</a:t>
                      </a:r>
                    </a:p>
                  </a:txBody>
                  <a:tcPr marL="73152" marR="45720" anchor="ctr">
                    <a:solidFill>
                      <a:srgbClr val="FFFDF9"/>
                    </a:solidFill>
                  </a:tcPr>
                </a:tc>
              </a:tr>
              <a:tr h="338328">
                <a:tc>
                  <a:txBody>
                    <a:bodyPr/>
                    <a:lstStyle/>
                    <a:p>
                      <a:r>
                        <a:rPr sz="850" b="1">
                          <a:solidFill>
                            <a:srgbClr val="0A2540"/>
                          </a:solidFill>
                          <a:latin typeface="Georgia"/>
                        </a:rPr>
                        <a:t>Q3 2026</a:t>
                      </a:r>
                    </a:p>
                  </a:txBody>
                  <a:tcPr marL="73152" marR="45720" anchor="ctr">
                    <a:solidFill>
                      <a:srgbClr val="F6F3EC"/>
                    </a:solidFill>
                  </a:tcPr>
                </a:tc>
                <a:tc>
                  <a:txBody>
                    <a:bodyPr/>
                    <a:lstStyle/>
                    <a:p>
                      <a:r>
                        <a:rPr sz="850" b="0">
                          <a:solidFill>
                            <a:srgbClr val="0A2540"/>
                          </a:solidFill>
                          <a:latin typeface="Georgia"/>
                        </a:rPr>
                        <a:t>Los socios de LATAM entregan su plan de medios</a:t>
                      </a:r>
                    </a:p>
                  </a:txBody>
                  <a:tcPr marL="73152" marR="45720" anchor="ctr">
                    <a:solidFill>
                      <a:srgbClr val="F6F3EC"/>
                    </a:solidFill>
                  </a:tcPr>
                </a:tc>
              </a:tr>
              <a:tr h="338328">
                <a:tc>
                  <a:txBody>
                    <a:bodyPr/>
                    <a:lstStyle/>
                    <a:p>
                      <a:r>
                        <a:rPr sz="850" b="1">
                          <a:solidFill>
                            <a:srgbClr val="0A2540"/>
                          </a:solidFill>
                          <a:latin typeface="Georgia"/>
                        </a:rPr>
                        <a:t>Q4 2026</a:t>
                      </a:r>
                    </a:p>
                  </a:txBody>
                  <a:tcPr marL="73152" marR="45720" anchor="ctr">
                    <a:solidFill>
                      <a:srgbClr val="FFFDF9"/>
                    </a:solidFill>
                  </a:tcPr>
                </a:tc>
                <a:tc>
                  <a:txBody>
                    <a:bodyPr/>
                    <a:lstStyle/>
                    <a:p>
                      <a:r>
                        <a:rPr sz="850" b="0">
                          <a:solidFill>
                            <a:srgbClr val="0A2540"/>
                          </a:solidFill>
                          <a:latin typeface="Georgia"/>
                        </a:rPr>
                        <a:t>Desarrollo de la campaña LATAM</a:t>
                      </a:r>
                    </a:p>
                  </a:txBody>
                  <a:tcPr marL="73152" marR="45720" anchor="ctr">
                    <a:solidFill>
                      <a:srgbClr val="FFFDF9"/>
                    </a:solidFill>
                  </a:tcPr>
                </a:tc>
              </a:tr>
              <a:tr h="338328">
                <a:tc>
                  <a:txBody>
                    <a:bodyPr/>
                    <a:lstStyle/>
                    <a:p>
                      <a:r>
                        <a:rPr sz="850" b="1">
                          <a:solidFill>
                            <a:srgbClr val="0A2540"/>
                          </a:solidFill>
                          <a:latin typeface="Georgia"/>
                        </a:rPr>
                        <a:t>Q1 2027</a:t>
                      </a:r>
                    </a:p>
                  </a:txBody>
                  <a:tcPr marL="73152" marR="45720" anchor="ctr">
                    <a:solidFill>
                      <a:srgbClr val="F6F3EC"/>
                    </a:solidFill>
                  </a:tcPr>
                </a:tc>
                <a:tc>
                  <a:txBody>
                    <a:bodyPr/>
                    <a:lstStyle/>
                    <a:p>
                      <a:r>
                        <a:rPr sz="850" b="0">
                          <a:solidFill>
                            <a:srgbClr val="0A2540"/>
                          </a:solidFill>
                          <a:latin typeface="Georgia"/>
                        </a:rPr>
                        <a:t>Los socios de LATAM lanzan la campaña de dining</a:t>
                      </a:r>
                    </a:p>
                  </a:txBody>
                  <a:tcPr marL="73152" marR="45720" anchor="ctr">
                    <a:solidFill>
                      <a:srgbClr val="F6F3EC"/>
                    </a:solidFill>
                  </a:tcPr>
                </a:tc>
              </a:tr>
              <a:tr h="338328">
                <a:tc>
                  <a:txBody>
                    <a:bodyPr/>
                    <a:lstStyle/>
                    <a:p>
                      <a:r>
                        <a:rPr sz="850" b="1">
                          <a:solidFill>
                            <a:srgbClr val="0A2540"/>
                          </a:solidFill>
                          <a:latin typeface="Georgia"/>
                        </a:rPr>
                        <a:t>2027</a:t>
                      </a:r>
                    </a:p>
                  </a:txBody>
                  <a:tcPr marL="73152" marR="45720" anchor="ctr">
                    <a:solidFill>
                      <a:srgbClr val="FFFDF9"/>
                    </a:solidFill>
                  </a:tcPr>
                </a:tc>
                <a:tc>
                  <a:txBody>
                    <a:bodyPr/>
                    <a:lstStyle/>
                    <a:p>
                      <a:r>
                        <a:rPr sz="850" b="0">
                          <a:solidFill>
                            <a:srgbClr val="0A2540"/>
                          </a:solidFill>
                          <a:latin typeface="Georgia"/>
                        </a:rPr>
                        <a:t>La app habilita ofertas locales cargadas por el emisor</a:t>
                      </a:r>
                    </a:p>
                  </a:txBody>
                  <a:tcPr marL="73152" marR="45720" anchor="ctr">
                    <a:solidFill>
                      <a:srgbClr val="FFFDF9"/>
                    </a:solidFill>
                  </a:tcPr>
                </a:tc>
              </a:tr>
            </a:tbl>
          </a:graphicData>
        </a:graphic>
      </p:graphicFrame>
      <p:sp>
        <p:nvSpPr>
          <p:cNvPr id="8" name="Rectangle 7"/>
          <p:cNvSpPr/>
          <p:nvPr/>
        </p:nvSpPr>
        <p:spPr>
          <a:xfrm>
            <a:off x="7086600" y="2697480"/>
            <a:ext cx="4370832" cy="320040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51192" y="2852928"/>
            <a:ext cx="4041648"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CÓMO SE MAPEA SOBRE LOS CUATRO ELEMENTOS DEL PROGRAMA</a:t>
            </a:r>
          </a:p>
        </p:txBody>
      </p:sp>
      <p:sp>
        <p:nvSpPr>
          <p:cNvPr id="10" name="TextBox 9"/>
          <p:cNvSpPr txBox="1"/>
          <p:nvPr/>
        </p:nvSpPr>
        <p:spPr>
          <a:xfrm>
            <a:off x="7251192" y="3063240"/>
            <a:ext cx="4041648" cy="2706624"/>
          </a:xfrm>
          <a:prstGeom prst="rect">
            <a:avLst/>
          </a:prstGeom>
          <a:noFill/>
        </p:spPr>
        <p:txBody>
          <a:bodyPr wrap="square" lIns="0" rIns="0" tIns="0" bIns="0" anchor="t">
            <a:spAutoFit/>
          </a:bodyPr>
          <a:lstStyle/>
          <a:p>
            <a:pPr algn="l">
              <a:lnSpc>
                <a:spcPct val="119000"/>
              </a:lnSpc>
              <a:spcAft>
                <a:spcPts val="320"/>
              </a:spcAft>
            </a:pPr>
            <a:r>
              <a:rPr sz="919" b="0">
                <a:solidFill>
                  <a:srgbClr val="D8DDE4"/>
                </a:solidFill>
                <a:latin typeface="Helvetica Neue"/>
              </a:rPr>
              <a:t>•  01 Dining Experiences · Experiencias OBI con cupo limitado</a:t>
            </a:r>
          </a:p>
          <a:p>
            <a:pPr algn="l">
              <a:lnSpc>
                <a:spcPct val="119000"/>
              </a:lnSpc>
              <a:spcAft>
                <a:spcPts val="320"/>
              </a:spcAft>
            </a:pPr>
            <a:r>
              <a:rPr sz="919" b="0">
                <a:solidFill>
                  <a:srgbClr val="D8DDE4"/>
                </a:solidFill>
                <a:latin typeface="Helvetica Neue"/>
              </a:rPr>
              <a:t>•  02 Rewards &amp; Dining Offers · Mesa Diners Club sobre aliados verificados</a:t>
            </a:r>
          </a:p>
          <a:p>
            <a:pPr algn="l">
              <a:lnSpc>
                <a:spcPct val="119000"/>
              </a:lnSpc>
              <a:spcAft>
                <a:spcPts val="320"/>
              </a:spcAft>
            </a:pPr>
            <a:r>
              <a:rPr sz="919" b="0">
                <a:solidFill>
                  <a:srgbClr val="D8DDE4"/>
                </a:solidFill>
                <a:latin typeface="Helvetica Neue"/>
              </a:rPr>
              <a:t>•  03 Chef &amp; Dining Partnerships · Serie de video con cocineros y personajes</a:t>
            </a:r>
          </a:p>
          <a:p>
            <a:pPr algn="l">
              <a:lnSpc>
                <a:spcPct val="119000"/>
              </a:lnSpc>
              <a:spcAft>
                <a:spcPts val="320"/>
              </a:spcAft>
            </a:pPr>
            <a:r>
              <a:rPr sz="919" b="0">
                <a:solidFill>
                  <a:srgbClr val="D8DDE4"/>
                </a:solidFill>
                <a:latin typeface="Helvetica Neue"/>
              </a:rPr>
              <a:t>•  04 Dining Awards · Base editorial para un premio gastronómico colombiano</a:t>
            </a:r>
          </a:p>
          <a:p>
            <a:pPr algn="l">
              <a:lnSpc>
                <a:spcPct val="119000"/>
              </a:lnSpc>
              <a:spcAft>
                <a:spcPts val="320"/>
              </a:spcAft>
            </a:pPr>
            <a:r>
              <a:rPr sz="919" b="0">
                <a:solidFill>
                  <a:srgbClr val="D8DDE4"/>
                </a:solidFill>
                <a:latin typeface="Helvetica Neue"/>
              </a:rPr>
              <a:t>•  </a:t>
            </a:r>
          </a:p>
          <a:p>
            <a:pPr algn="l">
              <a:lnSpc>
                <a:spcPct val="119000"/>
              </a:lnSpc>
              <a:spcAft>
                <a:spcPts val="320"/>
              </a:spcAft>
            </a:pPr>
            <a:r>
              <a:rPr sz="919" b="0">
                <a:solidFill>
                  <a:srgbClr val="D8DDE4"/>
                </a:solidFill>
                <a:latin typeface="Helvetica Neue"/>
              </a:rPr>
              <a:t>•  Ningún componente es invención local: cada uno responde a un elemento ya definido por el programa global.</a:t>
            </a:r>
          </a:p>
        </p:txBody>
      </p:sp>
      <p:sp>
        <p:nvSpPr>
          <p:cNvPr id="11" name="TextBox 10"/>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DCI DINING PROGRAM · ROADMAP COLOMBIA</a:t>
            </a:r>
          </a:p>
        </p:txBody>
      </p:sp>
      <p:sp>
        <p:nvSpPr>
          <p:cNvPr id="12" name="TextBox 11"/>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EL PUNTO DE PARTIDA</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Lo que su investigación ya señala</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548640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ACCESIBILIDAD PERCIBIDA, GLOBAL, ENTRE CLUBMEMBERS PROPIOS</a:t>
            </a:r>
          </a:p>
        </p:txBody>
      </p:sp>
      <p:graphicFrame>
        <p:nvGraphicFramePr>
          <p:cNvPr id="7" name="Table 6"/>
          <p:cNvGraphicFramePr>
            <a:graphicFrameLocks noGrp="1"/>
          </p:cNvGraphicFramePr>
          <p:nvPr/>
        </p:nvGraphicFramePr>
        <p:xfrm>
          <a:off x="731520" y="2194560"/>
          <a:ext cx="5486400" cy="987552"/>
        </p:xfrm>
        <a:graphic>
          <a:graphicData uri="http://schemas.openxmlformats.org/drawingml/2006/table">
            <a:tbl>
              <a:tblPr firstRow="1" bandRow="1">
                <a:tableStyleId>{5C22544A-7EE6-4342-B048-85BDC9FD1C3A}</a:tableStyleId>
              </a:tblPr>
              <a:tblGrid>
                <a:gridCol w="2194560"/>
                <a:gridCol w="822960"/>
                <a:gridCol w="1097280"/>
                <a:gridCol w="822960"/>
                <a:gridCol w="548640"/>
              </a:tblGrid>
              <a:tr h="329184">
                <a:tc>
                  <a:txBody>
                    <a:bodyPr/>
                    <a:lstStyle/>
                    <a:p>
                      <a:r>
                        <a:rPr sz="840" b="1">
                          <a:solidFill>
                            <a:srgbClr val="FFFFFF"/>
                          </a:solidFill>
                          <a:latin typeface="Helvetica Neue"/>
                        </a:rPr>
                        <a:t>Atributo</a:t>
                      </a:r>
                    </a:p>
                  </a:txBody>
                  <a:tcPr marL="73152" marR="45720" anchor="ctr">
                    <a:solidFill>
                      <a:srgbClr val="0A2540"/>
                    </a:solidFill>
                  </a:tcPr>
                </a:tc>
                <a:tc>
                  <a:txBody>
                    <a:bodyPr/>
                    <a:lstStyle/>
                    <a:p>
                      <a:r>
                        <a:rPr sz="840" b="1">
                          <a:solidFill>
                            <a:srgbClr val="FFFFFF"/>
                          </a:solidFill>
                          <a:latin typeface="Helvetica Neue"/>
                        </a:rPr>
                        <a:t>Visa</a:t>
                      </a:r>
                    </a:p>
                  </a:txBody>
                  <a:tcPr marL="73152" marR="45720" anchor="ctr">
                    <a:solidFill>
                      <a:srgbClr val="0A2540"/>
                    </a:solidFill>
                  </a:tcPr>
                </a:tc>
                <a:tc>
                  <a:txBody>
                    <a:bodyPr/>
                    <a:lstStyle/>
                    <a:p>
                      <a:r>
                        <a:rPr sz="840" b="1">
                          <a:solidFill>
                            <a:srgbClr val="FFFFFF"/>
                          </a:solidFill>
                          <a:latin typeface="Helvetica Neue"/>
                        </a:rPr>
                        <a:t>Mastercard</a:t>
                      </a:r>
                    </a:p>
                  </a:txBody>
                  <a:tcPr marL="73152" marR="45720" anchor="ctr">
                    <a:solidFill>
                      <a:srgbClr val="0A2540"/>
                    </a:solidFill>
                  </a:tcPr>
                </a:tc>
                <a:tc>
                  <a:txBody>
                    <a:bodyPr/>
                    <a:lstStyle/>
                    <a:p>
                      <a:r>
                        <a:rPr sz="840" b="1">
                          <a:solidFill>
                            <a:srgbClr val="FFFFFF"/>
                          </a:solidFill>
                          <a:latin typeface="Helvetica Neue"/>
                        </a:rPr>
                        <a:t>Diners</a:t>
                      </a:r>
                    </a:p>
                  </a:txBody>
                  <a:tcPr marL="73152" marR="45720" anchor="ctr">
                    <a:solidFill>
                      <a:srgbClr val="8A6B1F"/>
                    </a:solidFill>
                  </a:tcPr>
                </a:tc>
                <a:tc>
                  <a:txBody>
                    <a:bodyPr/>
                    <a:lstStyle/>
                    <a:p>
                      <a:r>
                        <a:rPr sz="840" b="1">
                          <a:solidFill>
                            <a:srgbClr val="FFFFFF"/>
                          </a:solidFill>
                          <a:latin typeface="Helvetica Neue"/>
                        </a:rPr>
                        <a:t>Amex</a:t>
                      </a:r>
                    </a:p>
                  </a:txBody>
                  <a:tcPr marL="73152" marR="45720" anchor="ctr">
                    <a:solidFill>
                      <a:srgbClr val="0A2540"/>
                    </a:solidFill>
                  </a:tcPr>
                </a:tc>
              </a:tr>
              <a:tr h="329184">
                <a:tc>
                  <a:txBody>
                    <a:bodyPr/>
                    <a:lstStyle/>
                    <a:p>
                      <a:r>
                        <a:rPr sz="900" b="1">
                          <a:solidFill>
                            <a:srgbClr val="0A2540"/>
                          </a:solidFill>
                          <a:latin typeface="Georgia"/>
                        </a:rPr>
                        <a:t>Aceptada en mi zona</a:t>
                      </a:r>
                    </a:p>
                  </a:txBody>
                  <a:tcPr marL="73152" marR="45720" anchor="ctr">
                    <a:solidFill>
                      <a:srgbClr val="FFFDF9"/>
                    </a:solidFill>
                  </a:tcPr>
                </a:tc>
                <a:tc>
                  <a:txBody>
                    <a:bodyPr/>
                    <a:lstStyle/>
                    <a:p>
                      <a:r>
                        <a:rPr sz="900" b="0">
                          <a:solidFill>
                            <a:srgbClr val="0A2540"/>
                          </a:solidFill>
                          <a:latin typeface="Georgia"/>
                        </a:rPr>
                        <a:t>72</a:t>
                      </a:r>
                    </a:p>
                  </a:txBody>
                  <a:tcPr marL="73152" marR="45720" anchor="ctr">
                    <a:solidFill>
                      <a:srgbClr val="FFFDF9"/>
                    </a:solidFill>
                  </a:tcPr>
                </a:tc>
                <a:tc>
                  <a:txBody>
                    <a:bodyPr/>
                    <a:lstStyle/>
                    <a:p>
                      <a:r>
                        <a:rPr sz="900" b="0">
                          <a:solidFill>
                            <a:srgbClr val="0A2540"/>
                          </a:solidFill>
                          <a:latin typeface="Georgia"/>
                        </a:rPr>
                        <a:t>59</a:t>
                      </a:r>
                    </a:p>
                  </a:txBody>
                  <a:tcPr marL="73152" marR="45720" anchor="ctr">
                    <a:solidFill>
                      <a:srgbClr val="FFFDF9"/>
                    </a:solidFill>
                  </a:tcPr>
                </a:tc>
                <a:tc>
                  <a:txBody>
                    <a:bodyPr/>
                    <a:lstStyle/>
                    <a:p>
                      <a:r>
                        <a:rPr sz="900" b="1">
                          <a:solidFill>
                            <a:srgbClr val="0A2540"/>
                          </a:solidFill>
                          <a:latin typeface="Georgia"/>
                        </a:rPr>
                        <a:t>54</a:t>
                      </a:r>
                    </a:p>
                  </a:txBody>
                  <a:tcPr marL="73152" marR="45720" anchor="ctr">
                    <a:solidFill>
                      <a:srgbClr val="F4EAD5"/>
                    </a:solidFill>
                  </a:tcPr>
                </a:tc>
                <a:tc>
                  <a:txBody>
                    <a:bodyPr/>
                    <a:lstStyle/>
                    <a:p>
                      <a:r>
                        <a:rPr sz="900" b="0">
                          <a:solidFill>
                            <a:srgbClr val="0A2540"/>
                          </a:solidFill>
                          <a:latin typeface="Georgia"/>
                        </a:rPr>
                        <a:t>27</a:t>
                      </a:r>
                    </a:p>
                  </a:txBody>
                  <a:tcPr marL="73152" marR="45720" anchor="ctr">
                    <a:solidFill>
                      <a:srgbClr val="FFFDF9"/>
                    </a:solidFill>
                  </a:tcPr>
                </a:tc>
              </a:tr>
              <a:tr h="329184">
                <a:tc>
                  <a:txBody>
                    <a:bodyPr/>
                    <a:lstStyle/>
                    <a:p>
                      <a:r>
                        <a:rPr sz="900" b="1">
                          <a:solidFill>
                            <a:srgbClr val="0A2540"/>
                          </a:solidFill>
                          <a:latin typeface="Georgia"/>
                        </a:rPr>
                        <a:t>Aceptación en el mundo</a:t>
                      </a:r>
                    </a:p>
                  </a:txBody>
                  <a:tcPr marL="73152" marR="45720" anchor="ctr">
                    <a:solidFill>
                      <a:srgbClr val="F6F3EC"/>
                    </a:solidFill>
                  </a:tcPr>
                </a:tc>
                <a:tc>
                  <a:txBody>
                    <a:bodyPr/>
                    <a:lstStyle/>
                    <a:p>
                      <a:r>
                        <a:rPr sz="900" b="0">
                          <a:solidFill>
                            <a:srgbClr val="0A2540"/>
                          </a:solidFill>
                          <a:latin typeface="Georgia"/>
                        </a:rPr>
                        <a:t>76</a:t>
                      </a:r>
                    </a:p>
                  </a:txBody>
                  <a:tcPr marL="73152" marR="45720" anchor="ctr">
                    <a:solidFill>
                      <a:srgbClr val="F6F3EC"/>
                    </a:solidFill>
                  </a:tcPr>
                </a:tc>
                <a:tc>
                  <a:txBody>
                    <a:bodyPr/>
                    <a:lstStyle/>
                    <a:p>
                      <a:r>
                        <a:rPr sz="900" b="0">
                          <a:solidFill>
                            <a:srgbClr val="0A2540"/>
                          </a:solidFill>
                          <a:latin typeface="Georgia"/>
                        </a:rPr>
                        <a:t>56</a:t>
                      </a:r>
                    </a:p>
                  </a:txBody>
                  <a:tcPr marL="73152" marR="45720" anchor="ctr">
                    <a:solidFill>
                      <a:srgbClr val="F6F3EC"/>
                    </a:solidFill>
                  </a:tcPr>
                </a:tc>
                <a:tc>
                  <a:txBody>
                    <a:bodyPr/>
                    <a:lstStyle/>
                    <a:p>
                      <a:r>
                        <a:rPr sz="900" b="1">
                          <a:solidFill>
                            <a:srgbClr val="0A2540"/>
                          </a:solidFill>
                          <a:latin typeface="Georgia"/>
                        </a:rPr>
                        <a:t>28</a:t>
                      </a:r>
                    </a:p>
                  </a:txBody>
                  <a:tcPr marL="73152" marR="45720" anchor="ctr">
                    <a:solidFill>
                      <a:srgbClr val="F4EAD5"/>
                    </a:solidFill>
                  </a:tcPr>
                </a:tc>
                <a:tc>
                  <a:txBody>
                    <a:bodyPr/>
                    <a:lstStyle/>
                    <a:p>
                      <a:r>
                        <a:rPr sz="900" b="0">
                          <a:solidFill>
                            <a:srgbClr val="0A2540"/>
                          </a:solidFill>
                          <a:latin typeface="Georgia"/>
                        </a:rPr>
                        <a:t>24</a:t>
                      </a:r>
                    </a:p>
                  </a:txBody>
                  <a:tcPr marL="73152" marR="45720" anchor="ctr">
                    <a:solidFill>
                      <a:srgbClr val="F6F3EC"/>
                    </a:solidFill>
                  </a:tcPr>
                </a:tc>
              </a:tr>
            </a:tbl>
          </a:graphicData>
        </a:graphic>
      </p:graphicFrame>
      <p:sp>
        <p:nvSpPr>
          <p:cNvPr id="8" name="Rectangle 7"/>
          <p:cNvSpPr/>
          <p:nvPr/>
        </p:nvSpPr>
        <p:spPr>
          <a:xfrm>
            <a:off x="731520" y="3429000"/>
            <a:ext cx="5486400" cy="141732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429000"/>
            <a:ext cx="32004" cy="1417320"/>
          </a:xfrm>
          <a:prstGeom prst="rect">
            <a:avLst/>
          </a:prstGeom>
          <a:solidFill>
            <a:srgbClr val="D2A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5120640" cy="960120"/>
          </a:xfrm>
          <a:prstGeom prst="rect">
            <a:avLst/>
          </a:prstGeom>
          <a:noFill/>
        </p:spPr>
        <p:txBody>
          <a:bodyPr wrap="square" lIns="0" rIns="0" tIns="0" bIns="0" anchor="t">
            <a:spAutoFit/>
          </a:bodyPr>
          <a:lstStyle/>
          <a:p>
            <a:pPr algn="l">
              <a:lnSpc>
                <a:spcPct val="134000"/>
              </a:lnSpc>
              <a:spcAft>
                <a:spcPts val="0"/>
              </a:spcAft>
            </a:pPr>
            <a:r>
              <a:rPr sz="880" b="0">
                <a:solidFill>
                  <a:srgbClr val="14263D"/>
                </a:solidFill>
                <a:latin typeface="Helvetica Neue"/>
              </a:rPr>
              <a:t>“Visa y Mastercard siguen liderando en aceptación, particularmente entre Clubmembers. Resolver las barreras de aceptación es clave para retener a los clientes actuales, que de lo contrario pueden optar por la competencia.”</a:t>
            </a:r>
          </a:p>
        </p:txBody>
      </p:sp>
      <p:sp>
        <p:nvSpPr>
          <p:cNvPr id="11" name="TextBox 10"/>
          <p:cNvSpPr txBox="1"/>
          <p:nvPr/>
        </p:nvSpPr>
        <p:spPr>
          <a:xfrm>
            <a:off x="914400" y="4553712"/>
            <a:ext cx="5120640" cy="219456"/>
          </a:xfrm>
          <a:prstGeom prst="rect">
            <a:avLst/>
          </a:prstGeom>
          <a:noFill/>
        </p:spPr>
        <p:txBody>
          <a:bodyPr wrap="square" lIns="0" rIns="0" tIns="0" bIns="0" anchor="t">
            <a:spAutoFit/>
          </a:bodyPr>
          <a:lstStyle/>
          <a:p>
            <a:pPr algn="l">
              <a:lnSpc>
                <a:spcPct val="108000"/>
              </a:lnSpc>
              <a:spcAft>
                <a:spcPts val="0"/>
              </a:spcAft>
            </a:pPr>
            <a:r>
              <a:rPr sz="680" b="0">
                <a:solidFill>
                  <a:srgbClr val="75808F"/>
                </a:solidFill>
                <a:latin typeface="Helvetica Neue"/>
              </a:rPr>
              <a:t>BRAND HEALTH TRACKER 2026 · 9.721 ENCUESTADOS · 16 MERCADOS, COLOMBIA INCLUIDA</a:t>
            </a:r>
          </a:p>
        </p:txBody>
      </p:sp>
      <p:sp>
        <p:nvSpPr>
          <p:cNvPr id="12" name="Rectangle 11"/>
          <p:cNvSpPr/>
          <p:nvPr/>
        </p:nvSpPr>
        <p:spPr>
          <a:xfrm>
            <a:off x="731520" y="4983480"/>
            <a:ext cx="5486400" cy="1005840"/>
          </a:xfrm>
          <a:prstGeom prst="rect">
            <a:avLst/>
          </a:prstGeom>
          <a:solidFill>
            <a:srgbClr val="F6ECEC"/>
          </a:solidFill>
          <a:ln w="12700">
            <a:solidFill>
              <a:srgbClr val="D8B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5138928"/>
            <a:ext cx="5157216" cy="182880"/>
          </a:xfrm>
          <a:prstGeom prst="rect">
            <a:avLst/>
          </a:prstGeom>
          <a:noFill/>
        </p:spPr>
        <p:txBody>
          <a:bodyPr wrap="square" lIns="0" rIns="0" tIns="0" bIns="0" anchor="t">
            <a:spAutoFit/>
          </a:bodyPr>
          <a:lstStyle/>
          <a:p>
            <a:pPr algn="l">
              <a:lnSpc>
                <a:spcPct val="108000"/>
              </a:lnSpc>
              <a:spcAft>
                <a:spcPts val="0"/>
              </a:spcAft>
            </a:pPr>
            <a:r>
              <a:rPr sz="700" b="1">
                <a:solidFill>
                  <a:srgbClr val="8C3A3A"/>
                </a:solidFill>
                <a:latin typeface="Helvetica Neue"/>
              </a:rPr>
              <a:t>LA CONSECUENCIA OPERATIVA</a:t>
            </a:r>
          </a:p>
        </p:txBody>
      </p:sp>
      <p:sp>
        <p:nvSpPr>
          <p:cNvPr id="14" name="TextBox 13"/>
          <p:cNvSpPr txBox="1"/>
          <p:nvPr/>
        </p:nvSpPr>
        <p:spPr>
          <a:xfrm>
            <a:off x="896112" y="5349240"/>
            <a:ext cx="5157216"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El plan no genera intención hacia comercios sin verificar</a:t>
            </a:r>
          </a:p>
        </p:txBody>
      </p:sp>
      <p:sp>
        <p:nvSpPr>
          <p:cNvPr id="15" name="TextBox 14"/>
          <p:cNvSpPr txBox="1"/>
          <p:nvPr/>
        </p:nvSpPr>
        <p:spPr>
          <a:xfrm>
            <a:off x="896112" y="5879592"/>
            <a:ext cx="5157216" cy="-18288"/>
          </a:xfrm>
          <a:prstGeom prst="rect">
            <a:avLst/>
          </a:prstGeom>
          <a:noFill/>
        </p:spPr>
        <p:txBody>
          <a:bodyPr wrap="square" lIns="0" rIns="0" tIns="0" bIns="0" anchor="t">
            <a:spAutoFit/>
          </a:bodyPr>
          <a:lstStyle/>
          <a:p>
            <a:pPr algn="l">
              <a:lnSpc>
                <a:spcPct val="126000"/>
              </a:lnSpc>
              <a:spcAft>
                <a:spcPts val="0"/>
              </a:spcAft>
            </a:pPr>
            <a:r>
              <a:rPr sz="860" b="0">
                <a:solidFill>
                  <a:srgbClr val="14263D"/>
                </a:solidFill>
                <a:latin typeface="Helvetica Neue"/>
              </a:rPr>
              <a:t>Cada intento fallido en caja confirma la percepción que la investigación ya midió.</a:t>
            </a:r>
          </a:p>
        </p:txBody>
      </p:sp>
      <p:sp>
        <p:nvSpPr>
          <p:cNvPr id="16" name="TextBox 15"/>
          <p:cNvSpPr txBox="1"/>
          <p:nvPr/>
        </p:nvSpPr>
        <p:spPr>
          <a:xfrm>
            <a:off x="6583680" y="1920240"/>
            <a:ext cx="484632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OFERTAS ÚNICAS DE DINING, ENTRE CLUBMEMBERS</a:t>
            </a:r>
          </a:p>
        </p:txBody>
      </p:sp>
      <p:graphicFrame>
        <p:nvGraphicFramePr>
          <p:cNvPr id="17" name="Table 16"/>
          <p:cNvGraphicFramePr>
            <a:graphicFrameLocks noGrp="1"/>
          </p:cNvGraphicFramePr>
          <p:nvPr/>
        </p:nvGraphicFramePr>
        <p:xfrm>
          <a:off x="6583680" y="2194560"/>
          <a:ext cx="4846320" cy="1645920"/>
        </p:xfrm>
        <a:graphic>
          <a:graphicData uri="http://schemas.openxmlformats.org/drawingml/2006/table">
            <a:tbl>
              <a:tblPr firstRow="1" bandRow="1">
                <a:tableStyleId>{5C22544A-7EE6-4342-B048-85BDC9FD1C3A}</a:tableStyleId>
              </a:tblPr>
              <a:tblGrid>
                <a:gridCol w="3657600"/>
                <a:gridCol w="1188720"/>
              </a:tblGrid>
              <a:tr h="329184">
                <a:tc>
                  <a:txBody>
                    <a:bodyPr/>
                    <a:lstStyle/>
                    <a:p>
                      <a:r>
                        <a:rPr sz="840" b="1">
                          <a:solidFill>
                            <a:srgbClr val="FFFFFF"/>
                          </a:solidFill>
                          <a:latin typeface="Helvetica Neue"/>
                        </a:rPr>
                        <a:t>Marca</a:t>
                      </a:r>
                    </a:p>
                  </a:txBody>
                  <a:tcPr marL="73152" marR="45720" anchor="ctr">
                    <a:solidFill>
                      <a:srgbClr val="0A2540"/>
                    </a:solidFill>
                  </a:tcPr>
                </a:tc>
                <a:tc>
                  <a:txBody>
                    <a:bodyPr/>
                    <a:lstStyle/>
                    <a:p>
                      <a:r>
                        <a:rPr sz="840" b="1">
                          <a:solidFill>
                            <a:srgbClr val="FFFFFF"/>
                          </a:solidFill>
                          <a:latin typeface="Helvetica Neue"/>
                        </a:rPr>
                        <a:t>%</a:t>
                      </a:r>
                    </a:p>
                  </a:txBody>
                  <a:tcPr marL="73152" marR="45720" anchor="ctr">
                    <a:solidFill>
                      <a:srgbClr val="8A6B1F"/>
                    </a:solidFill>
                  </a:tcPr>
                </a:tc>
              </a:tr>
              <a:tr h="329184">
                <a:tc>
                  <a:txBody>
                    <a:bodyPr/>
                    <a:lstStyle/>
                    <a:p>
                      <a:r>
                        <a:rPr sz="900" b="1">
                          <a:solidFill>
                            <a:srgbClr val="0A2540"/>
                          </a:solidFill>
                          <a:latin typeface="Georgia"/>
                        </a:rPr>
                        <a:t>Diners Club</a:t>
                      </a:r>
                    </a:p>
                  </a:txBody>
                  <a:tcPr marL="73152" marR="45720" anchor="ctr">
                    <a:solidFill>
                      <a:srgbClr val="FFFDF9"/>
                    </a:solidFill>
                  </a:tcPr>
                </a:tc>
                <a:tc>
                  <a:txBody>
                    <a:bodyPr/>
                    <a:lstStyle/>
                    <a:p>
                      <a:r>
                        <a:rPr sz="900" b="1">
                          <a:solidFill>
                            <a:srgbClr val="0A2540"/>
                          </a:solidFill>
                          <a:latin typeface="Georgia"/>
                        </a:rPr>
                        <a:t>56</a:t>
                      </a:r>
                    </a:p>
                  </a:txBody>
                  <a:tcPr marL="73152" marR="45720" anchor="ctr">
                    <a:solidFill>
                      <a:srgbClr val="F4EAD5"/>
                    </a:solidFill>
                  </a:tcPr>
                </a:tc>
              </a:tr>
              <a:tr h="329184">
                <a:tc>
                  <a:txBody>
                    <a:bodyPr/>
                    <a:lstStyle/>
                    <a:p>
                      <a:r>
                        <a:rPr sz="900" b="1">
                          <a:solidFill>
                            <a:srgbClr val="0A2540"/>
                          </a:solidFill>
                          <a:latin typeface="Georgia"/>
                        </a:rPr>
                        <a:t>American Express</a:t>
                      </a:r>
                    </a:p>
                  </a:txBody>
                  <a:tcPr marL="73152" marR="45720" anchor="ctr">
                    <a:solidFill>
                      <a:srgbClr val="F6F3EC"/>
                    </a:solidFill>
                  </a:tcPr>
                </a:tc>
                <a:tc>
                  <a:txBody>
                    <a:bodyPr/>
                    <a:lstStyle/>
                    <a:p>
                      <a:r>
                        <a:rPr sz="900" b="1">
                          <a:solidFill>
                            <a:srgbClr val="0A2540"/>
                          </a:solidFill>
                          <a:latin typeface="Georgia"/>
                        </a:rPr>
                        <a:t>23</a:t>
                      </a:r>
                    </a:p>
                  </a:txBody>
                  <a:tcPr marL="73152" marR="45720" anchor="ctr">
                    <a:solidFill>
                      <a:srgbClr val="F4EAD5"/>
                    </a:solidFill>
                  </a:tcPr>
                </a:tc>
              </a:tr>
              <a:tr h="329184">
                <a:tc>
                  <a:txBody>
                    <a:bodyPr/>
                    <a:lstStyle/>
                    <a:p>
                      <a:r>
                        <a:rPr sz="900" b="1">
                          <a:solidFill>
                            <a:srgbClr val="0A2540"/>
                          </a:solidFill>
                          <a:latin typeface="Georgia"/>
                        </a:rPr>
                        <a:t>Visa</a:t>
                      </a:r>
                    </a:p>
                  </a:txBody>
                  <a:tcPr marL="73152" marR="45720" anchor="ctr">
                    <a:solidFill>
                      <a:srgbClr val="FFFDF9"/>
                    </a:solidFill>
                  </a:tcPr>
                </a:tc>
                <a:tc>
                  <a:txBody>
                    <a:bodyPr/>
                    <a:lstStyle/>
                    <a:p>
                      <a:r>
                        <a:rPr sz="900" b="1">
                          <a:solidFill>
                            <a:srgbClr val="0A2540"/>
                          </a:solidFill>
                          <a:latin typeface="Georgia"/>
                        </a:rPr>
                        <a:t>23</a:t>
                      </a:r>
                    </a:p>
                  </a:txBody>
                  <a:tcPr marL="73152" marR="45720" anchor="ctr">
                    <a:solidFill>
                      <a:srgbClr val="F4EAD5"/>
                    </a:solidFill>
                  </a:tcPr>
                </a:tc>
              </a:tr>
              <a:tr h="329184">
                <a:tc>
                  <a:txBody>
                    <a:bodyPr/>
                    <a:lstStyle/>
                    <a:p>
                      <a:r>
                        <a:rPr sz="900" b="1">
                          <a:solidFill>
                            <a:srgbClr val="0A2540"/>
                          </a:solidFill>
                          <a:latin typeface="Georgia"/>
                        </a:rPr>
                        <a:t>Mastercard</a:t>
                      </a:r>
                    </a:p>
                  </a:txBody>
                  <a:tcPr marL="73152" marR="45720" anchor="ctr">
                    <a:solidFill>
                      <a:srgbClr val="F6F3EC"/>
                    </a:solidFill>
                  </a:tcPr>
                </a:tc>
                <a:tc>
                  <a:txBody>
                    <a:bodyPr/>
                    <a:lstStyle/>
                    <a:p>
                      <a:r>
                        <a:rPr sz="900" b="1">
                          <a:solidFill>
                            <a:srgbClr val="0A2540"/>
                          </a:solidFill>
                          <a:latin typeface="Georgia"/>
                        </a:rPr>
                        <a:t>14</a:t>
                      </a:r>
                    </a:p>
                  </a:txBody>
                  <a:tcPr marL="73152" marR="45720" anchor="ctr">
                    <a:solidFill>
                      <a:srgbClr val="F4EAD5"/>
                    </a:solidFill>
                  </a:tcPr>
                </a:tc>
              </a:tr>
            </a:tbl>
          </a:graphicData>
        </a:graphic>
      </p:graphicFrame>
      <p:sp>
        <p:nvSpPr>
          <p:cNvPr id="18" name="Rectangle 17"/>
          <p:cNvSpPr/>
          <p:nvPr/>
        </p:nvSpPr>
        <p:spPr>
          <a:xfrm>
            <a:off x="6583680" y="4069080"/>
            <a:ext cx="4846320" cy="19202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4224528"/>
            <a:ext cx="45171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LO QUE ESTO DEFINE</a:t>
            </a:r>
          </a:p>
        </p:txBody>
      </p:sp>
      <p:sp>
        <p:nvSpPr>
          <p:cNvPr id="20" name="TextBox 19"/>
          <p:cNvSpPr txBox="1"/>
          <p:nvPr/>
        </p:nvSpPr>
        <p:spPr>
          <a:xfrm>
            <a:off x="6748272" y="4434840"/>
            <a:ext cx="451713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Dining es el terreno donde la marca ya gana</a:t>
            </a:r>
          </a:p>
        </p:txBody>
      </p:sp>
      <p:sp>
        <p:nvSpPr>
          <p:cNvPr id="21" name="TextBox 20"/>
          <p:cNvSpPr txBox="1"/>
          <p:nvPr/>
        </p:nvSpPr>
        <p:spPr>
          <a:xfrm>
            <a:off x="6748272" y="4965192"/>
            <a:ext cx="4517136" cy="896111"/>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La ventaja en dining duplica a la del segundo competidor. No hay que construirla, hay que hacerla visible. La recomendación del propio tracker es destacar estos beneficios, en dining, tanto a Clubmembers actuales como a prospectos. Esta propuesta atiende los dos.</a:t>
            </a:r>
          </a:p>
        </p:txBody>
      </p:sp>
      <p:sp>
        <p:nvSpPr>
          <p:cNvPr id="22" name="TextBox 21"/>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FUENTE: INVESTIGACIÓN GLOBAL DE MARCA DE DINERS CLUB INTERNATIONAL</a:t>
            </a:r>
          </a:p>
        </p:txBody>
      </p:sp>
      <p:sp>
        <p:nvSpPr>
          <p:cNvPr id="23" name="TextBox 22"/>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erfil.jpg"/>
          <p:cNvPicPr>
            <a:picLocks noChangeAspect="1"/>
          </p:cNvPicPr>
          <p:nvPr/>
        </p:nvPicPr>
        <p:blipFill>
          <a:blip r:embed="rId2"/>
          <a:stretch>
            <a:fillRect/>
          </a:stretch>
        </p:blipFill>
        <p:spPr>
          <a:xfrm>
            <a:off x="8001000" y="0"/>
            <a:ext cx="4187952" cy="6858000"/>
          </a:xfrm>
          <a:prstGeom prst="rect">
            <a:avLst/>
          </a:prstGeom>
        </p:spPr>
      </p:pic>
      <p:sp>
        <p:nvSpPr>
          <p:cNvPr id="4" name="Rectangle 3"/>
          <p:cNvSpPr/>
          <p:nvPr/>
        </p:nvSpPr>
        <p:spPr>
          <a:xfrm>
            <a:off x="8001000" y="0"/>
            <a:ext cx="418795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7031" y="5532120"/>
            <a:ext cx="3675887"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beneficio llega
a quien ya entró.
Una revista llega
a quien falta.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A QUIÉN LLEGA ESTE PLAN</a:t>
            </a:r>
          </a:p>
        </p:txBody>
      </p:sp>
      <p:sp>
        <p:nvSpPr>
          <p:cNvPr id="7" name="TextBox 6"/>
          <p:cNvSpPr txBox="1"/>
          <p:nvPr/>
        </p:nvSpPr>
        <p:spPr>
          <a:xfrm>
            <a:off x="731520" y="932688"/>
            <a:ext cx="667512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Dos públicos, no uno</a:t>
            </a:r>
          </a:p>
        </p:txBody>
      </p:sp>
      <p:sp>
        <p:nvSpPr>
          <p:cNvPr id="8" name="Rectangle 7"/>
          <p:cNvSpPr/>
          <p:nvPr/>
        </p:nvSpPr>
        <p:spPr>
          <a:xfrm>
            <a:off x="731520" y="1737360"/>
            <a:ext cx="658368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58368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Un beneficio de tarjeta solo alcanza a quien ya la tiene. Un medio editorial alcanza a quien todavía no.</a:t>
            </a:r>
          </a:p>
        </p:txBody>
      </p:sp>
      <p:sp>
        <p:nvSpPr>
          <p:cNvPr id="10" name="TextBox 9"/>
          <p:cNvSpPr txBox="1"/>
          <p:nvPr/>
        </p:nvSpPr>
        <p:spPr>
          <a:xfrm>
            <a:off x="731520" y="2395728"/>
            <a:ext cx="658368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LA BRECHA CON PROSPECTOS, GLOBAL</a:t>
            </a:r>
          </a:p>
        </p:txBody>
      </p:sp>
      <p:graphicFrame>
        <p:nvGraphicFramePr>
          <p:cNvPr id="11" name="Table 10"/>
          <p:cNvGraphicFramePr>
            <a:graphicFrameLocks noGrp="1"/>
          </p:cNvGraphicFramePr>
          <p:nvPr/>
        </p:nvGraphicFramePr>
        <p:xfrm>
          <a:off x="731520" y="2670048"/>
          <a:ext cx="6583680" cy="1645920"/>
        </p:xfrm>
        <a:graphic>
          <a:graphicData uri="http://schemas.openxmlformats.org/drawingml/2006/table">
            <a:tbl>
              <a:tblPr firstRow="1" bandRow="1">
                <a:tableStyleId>{5C22544A-7EE6-4342-B048-85BDC9FD1C3A}</a:tableStyleId>
              </a:tblPr>
              <a:tblGrid>
                <a:gridCol w="3291840"/>
                <a:gridCol w="1097280"/>
                <a:gridCol w="1097280"/>
                <a:gridCol w="1097280"/>
              </a:tblGrid>
              <a:tr h="329184">
                <a:tc>
                  <a:txBody>
                    <a:bodyPr/>
                    <a:lstStyle/>
                    <a:p>
                      <a:r>
                        <a:rPr sz="840" b="1">
                          <a:solidFill>
                            <a:srgbClr val="FFFFFF"/>
                          </a:solidFill>
                          <a:latin typeface="Helvetica Neue"/>
                        </a:rPr>
                        <a:t>Atributo</a:t>
                      </a:r>
                    </a:p>
                  </a:txBody>
                  <a:tcPr marL="73152" marR="45720" anchor="ctr">
                    <a:solidFill>
                      <a:srgbClr val="0A2540"/>
                    </a:solidFill>
                  </a:tcPr>
                </a:tc>
                <a:tc>
                  <a:txBody>
                    <a:bodyPr/>
                    <a:lstStyle/>
                    <a:p>
                      <a:r>
                        <a:rPr sz="840" b="1">
                          <a:solidFill>
                            <a:srgbClr val="FFFFFF"/>
                          </a:solidFill>
                          <a:latin typeface="Helvetica Neue"/>
                        </a:rPr>
                        <a:t>Diners</a:t>
                      </a:r>
                    </a:p>
                  </a:txBody>
                  <a:tcPr marL="73152" marR="45720" anchor="ctr">
                    <a:solidFill>
                      <a:srgbClr val="8A6B1F"/>
                    </a:solidFill>
                  </a:tcPr>
                </a:tc>
                <a:tc>
                  <a:txBody>
                    <a:bodyPr/>
                    <a:lstStyle/>
                    <a:p>
                      <a:r>
                        <a:rPr sz="840" b="1">
                          <a:solidFill>
                            <a:srgbClr val="FFFFFF"/>
                          </a:solidFill>
                          <a:latin typeface="Helvetica Neue"/>
                        </a:rPr>
                        <a:t>Visa</a:t>
                      </a:r>
                    </a:p>
                  </a:txBody>
                  <a:tcPr marL="73152" marR="45720" anchor="ctr">
                    <a:solidFill>
                      <a:srgbClr val="0A2540"/>
                    </a:solidFill>
                  </a:tcPr>
                </a:tc>
                <a:tc>
                  <a:txBody>
                    <a:bodyPr/>
                    <a:lstStyle/>
                    <a:p>
                      <a:r>
                        <a:rPr sz="840" b="1">
                          <a:solidFill>
                            <a:srgbClr val="FFFFFF"/>
                          </a:solidFill>
                          <a:latin typeface="Helvetica Neue"/>
                        </a:rPr>
                        <a:t>Mastercard</a:t>
                      </a:r>
                    </a:p>
                  </a:txBody>
                  <a:tcPr marL="73152" marR="45720" anchor="ctr">
                    <a:solidFill>
                      <a:srgbClr val="0A2540"/>
                    </a:solidFill>
                  </a:tcPr>
                </a:tc>
              </a:tr>
              <a:tr h="329184">
                <a:tc>
                  <a:txBody>
                    <a:bodyPr/>
                    <a:lstStyle/>
                    <a:p>
                      <a:r>
                        <a:rPr sz="900" b="1">
                          <a:solidFill>
                            <a:srgbClr val="0A2540"/>
                          </a:solidFill>
                          <a:latin typeface="Georgia"/>
                        </a:rPr>
                        <a:t>Entiendo del todo sus beneficios</a:t>
                      </a:r>
                    </a:p>
                  </a:txBody>
                  <a:tcPr marL="73152" marR="45720" anchor="ctr">
                    <a:solidFill>
                      <a:srgbClr val="FFFDF9"/>
                    </a:solidFill>
                  </a:tcPr>
                </a:tc>
                <a:tc>
                  <a:txBody>
                    <a:bodyPr/>
                    <a:lstStyle/>
                    <a:p>
                      <a:r>
                        <a:rPr sz="900" b="1">
                          <a:solidFill>
                            <a:srgbClr val="0A2540"/>
                          </a:solidFill>
                          <a:latin typeface="Georgia"/>
                        </a:rPr>
                        <a:t>7</a:t>
                      </a:r>
                    </a:p>
                  </a:txBody>
                  <a:tcPr marL="73152" marR="45720" anchor="ctr">
                    <a:solidFill>
                      <a:srgbClr val="F4EAD5"/>
                    </a:solidFill>
                  </a:tcPr>
                </a:tc>
                <a:tc>
                  <a:txBody>
                    <a:bodyPr/>
                    <a:lstStyle/>
                    <a:p>
                      <a:r>
                        <a:rPr sz="900" b="0">
                          <a:solidFill>
                            <a:srgbClr val="0A2540"/>
                          </a:solidFill>
                          <a:latin typeface="Georgia"/>
                        </a:rPr>
                        <a:t>47</a:t>
                      </a:r>
                    </a:p>
                  </a:txBody>
                  <a:tcPr marL="73152" marR="45720" anchor="ctr">
                    <a:solidFill>
                      <a:srgbClr val="FFFDF9"/>
                    </a:solidFill>
                  </a:tcPr>
                </a:tc>
                <a:tc>
                  <a:txBody>
                    <a:bodyPr/>
                    <a:lstStyle/>
                    <a:p>
                      <a:r>
                        <a:rPr sz="900" b="0">
                          <a:solidFill>
                            <a:srgbClr val="0A2540"/>
                          </a:solidFill>
                          <a:latin typeface="Georgia"/>
                        </a:rPr>
                        <a:t>42</a:t>
                      </a:r>
                    </a:p>
                  </a:txBody>
                  <a:tcPr marL="73152" marR="45720" anchor="ctr">
                    <a:solidFill>
                      <a:srgbClr val="FFFDF9"/>
                    </a:solidFill>
                  </a:tcPr>
                </a:tc>
              </a:tr>
              <a:tr h="329184">
                <a:tc>
                  <a:txBody>
                    <a:bodyPr/>
                    <a:lstStyle/>
                    <a:p>
                      <a:r>
                        <a:rPr sz="900" b="1">
                          <a:solidFill>
                            <a:srgbClr val="0A2540"/>
                          </a:solidFill>
                          <a:latin typeface="Georgia"/>
                        </a:rPr>
                        <a:t>Ofertas de dining relevantes</a:t>
                      </a:r>
                    </a:p>
                  </a:txBody>
                  <a:tcPr marL="73152" marR="45720" anchor="ctr">
                    <a:solidFill>
                      <a:srgbClr val="F6F3EC"/>
                    </a:solidFill>
                  </a:tcPr>
                </a:tc>
                <a:tc>
                  <a:txBody>
                    <a:bodyPr/>
                    <a:lstStyle/>
                    <a:p>
                      <a:r>
                        <a:rPr sz="900" b="1">
                          <a:solidFill>
                            <a:srgbClr val="0A2540"/>
                          </a:solidFill>
                          <a:latin typeface="Georgia"/>
                        </a:rPr>
                        <a:t>16</a:t>
                      </a:r>
                    </a:p>
                  </a:txBody>
                  <a:tcPr marL="73152" marR="45720" anchor="ctr">
                    <a:solidFill>
                      <a:srgbClr val="F4EAD5"/>
                    </a:solidFill>
                  </a:tcPr>
                </a:tc>
                <a:tc>
                  <a:txBody>
                    <a:bodyPr/>
                    <a:lstStyle/>
                    <a:p>
                      <a:r>
                        <a:rPr sz="900" b="0">
                          <a:solidFill>
                            <a:srgbClr val="0A2540"/>
                          </a:solidFill>
                          <a:latin typeface="Georgia"/>
                        </a:rPr>
                        <a:t>39</a:t>
                      </a:r>
                    </a:p>
                  </a:txBody>
                  <a:tcPr marL="73152" marR="45720" anchor="ctr">
                    <a:solidFill>
                      <a:srgbClr val="F6F3EC"/>
                    </a:solidFill>
                  </a:tcPr>
                </a:tc>
                <a:tc>
                  <a:txBody>
                    <a:bodyPr/>
                    <a:lstStyle/>
                    <a:p>
                      <a:r>
                        <a:rPr sz="900" b="0">
                          <a:solidFill>
                            <a:srgbClr val="0A2540"/>
                          </a:solidFill>
                          <a:latin typeface="Georgia"/>
                        </a:rPr>
                        <a:t>35</a:t>
                      </a:r>
                    </a:p>
                  </a:txBody>
                  <a:tcPr marL="73152" marR="45720" anchor="ctr">
                    <a:solidFill>
                      <a:srgbClr val="F6F3EC"/>
                    </a:solidFill>
                  </a:tcPr>
                </a:tc>
              </a:tr>
              <a:tr h="329184">
                <a:tc>
                  <a:txBody>
                    <a:bodyPr/>
                    <a:lstStyle/>
                    <a:p>
                      <a:r>
                        <a:rPr sz="900" b="1">
                          <a:solidFill>
                            <a:srgbClr val="0A2540"/>
                          </a:solidFill>
                          <a:latin typeface="Georgia"/>
                        </a:rPr>
                        <a:t>Aspiro a tenerla</a:t>
                      </a:r>
                    </a:p>
                  </a:txBody>
                  <a:tcPr marL="73152" marR="45720" anchor="ctr">
                    <a:solidFill>
                      <a:srgbClr val="FFFDF9"/>
                    </a:solidFill>
                  </a:tcPr>
                </a:tc>
                <a:tc>
                  <a:txBody>
                    <a:bodyPr/>
                    <a:lstStyle/>
                    <a:p>
                      <a:r>
                        <a:rPr sz="900" b="1">
                          <a:solidFill>
                            <a:srgbClr val="0A2540"/>
                          </a:solidFill>
                          <a:latin typeface="Georgia"/>
                        </a:rPr>
                        <a:t>11</a:t>
                      </a:r>
                    </a:p>
                  </a:txBody>
                  <a:tcPr marL="73152" marR="45720" anchor="ctr">
                    <a:solidFill>
                      <a:srgbClr val="F4EAD5"/>
                    </a:solidFill>
                  </a:tcPr>
                </a:tc>
                <a:tc>
                  <a:txBody>
                    <a:bodyPr/>
                    <a:lstStyle/>
                    <a:p>
                      <a:r>
                        <a:rPr sz="900" b="0">
                          <a:solidFill>
                            <a:srgbClr val="0A2540"/>
                          </a:solidFill>
                          <a:latin typeface="Georgia"/>
                        </a:rPr>
                        <a:t>42</a:t>
                      </a:r>
                    </a:p>
                  </a:txBody>
                  <a:tcPr marL="73152" marR="45720" anchor="ctr">
                    <a:solidFill>
                      <a:srgbClr val="FFFDF9"/>
                    </a:solidFill>
                  </a:tcPr>
                </a:tc>
                <a:tc>
                  <a:txBody>
                    <a:bodyPr/>
                    <a:lstStyle/>
                    <a:p>
                      <a:r>
                        <a:rPr sz="900" b="0">
                          <a:solidFill>
                            <a:srgbClr val="0A2540"/>
                          </a:solidFill>
                          <a:latin typeface="Georgia"/>
                        </a:rPr>
                        <a:t>38</a:t>
                      </a:r>
                    </a:p>
                  </a:txBody>
                  <a:tcPr marL="73152" marR="45720" anchor="ctr">
                    <a:solidFill>
                      <a:srgbClr val="FFFDF9"/>
                    </a:solidFill>
                  </a:tcPr>
                </a:tc>
              </a:tr>
              <a:tr h="329184">
                <a:tc>
                  <a:txBody>
                    <a:bodyPr/>
                    <a:lstStyle/>
                    <a:p>
                      <a:r>
                        <a:rPr sz="900" b="1">
                          <a:solidFill>
                            <a:srgbClr val="0A2540"/>
                          </a:solidFill>
                          <a:latin typeface="Georgia"/>
                        </a:rPr>
                        <a:t>Aceptada en mi zona</a:t>
                      </a:r>
                    </a:p>
                  </a:txBody>
                  <a:tcPr marL="73152" marR="45720" anchor="ctr">
                    <a:solidFill>
                      <a:srgbClr val="F6F3EC"/>
                    </a:solidFill>
                  </a:tcPr>
                </a:tc>
                <a:tc>
                  <a:txBody>
                    <a:bodyPr/>
                    <a:lstStyle/>
                    <a:p>
                      <a:r>
                        <a:rPr sz="900" b="1">
                          <a:solidFill>
                            <a:srgbClr val="0A2540"/>
                          </a:solidFill>
                          <a:latin typeface="Georgia"/>
                        </a:rPr>
                        <a:t>11</a:t>
                      </a:r>
                    </a:p>
                  </a:txBody>
                  <a:tcPr marL="73152" marR="45720" anchor="ctr">
                    <a:solidFill>
                      <a:srgbClr val="F4EAD5"/>
                    </a:solidFill>
                  </a:tcPr>
                </a:tc>
                <a:tc>
                  <a:txBody>
                    <a:bodyPr/>
                    <a:lstStyle/>
                    <a:p>
                      <a:r>
                        <a:rPr sz="900" b="0">
                          <a:solidFill>
                            <a:srgbClr val="0A2540"/>
                          </a:solidFill>
                          <a:latin typeface="Georgia"/>
                        </a:rPr>
                        <a:t>66</a:t>
                      </a:r>
                    </a:p>
                  </a:txBody>
                  <a:tcPr marL="73152" marR="45720" anchor="ctr">
                    <a:solidFill>
                      <a:srgbClr val="F6F3EC"/>
                    </a:solidFill>
                  </a:tcPr>
                </a:tc>
                <a:tc>
                  <a:txBody>
                    <a:bodyPr/>
                    <a:lstStyle/>
                    <a:p>
                      <a:r>
                        <a:rPr sz="900" b="0">
                          <a:solidFill>
                            <a:srgbClr val="0A2540"/>
                          </a:solidFill>
                          <a:latin typeface="Georgia"/>
                        </a:rPr>
                        <a:t>63</a:t>
                      </a:r>
                    </a:p>
                  </a:txBody>
                  <a:tcPr marL="73152" marR="45720" anchor="ctr">
                    <a:solidFill>
                      <a:srgbClr val="F6F3EC"/>
                    </a:solidFill>
                  </a:tcPr>
                </a:tc>
              </a:tr>
            </a:tbl>
          </a:graphicData>
        </a:graphic>
      </p:graphicFrame>
      <p:sp>
        <p:nvSpPr>
          <p:cNvPr id="12" name="Rectangle 11"/>
          <p:cNvSpPr/>
          <p:nvPr/>
        </p:nvSpPr>
        <p:spPr>
          <a:xfrm>
            <a:off x="731520" y="4526280"/>
            <a:ext cx="3200400" cy="146304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681728"/>
            <a:ext cx="287121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CLUBMEMBERS · 169.000</a:t>
            </a:r>
          </a:p>
        </p:txBody>
      </p:sp>
      <p:sp>
        <p:nvSpPr>
          <p:cNvPr id="14" name="TextBox 13"/>
          <p:cNvSpPr txBox="1"/>
          <p:nvPr/>
        </p:nvSpPr>
        <p:spPr>
          <a:xfrm>
            <a:off x="896112" y="4892040"/>
            <a:ext cx="287121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Retención y uso</a:t>
            </a:r>
          </a:p>
        </p:txBody>
      </p:sp>
      <p:sp>
        <p:nvSpPr>
          <p:cNvPr id="15" name="TextBox 14"/>
          <p:cNvSpPr txBox="1"/>
          <p:nvPr/>
        </p:nvSpPr>
        <p:spPr>
          <a:xfrm>
            <a:off x="896112" y="5248656"/>
            <a:ext cx="2871216" cy="612648"/>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Dar una razón concreta para elegir la tarjeta al pagar, donde la aceptación está verificada.</a:t>
            </a:r>
          </a:p>
        </p:txBody>
      </p:sp>
      <p:sp>
        <p:nvSpPr>
          <p:cNvPr id="16" name="Rectangle 15"/>
          <p:cNvSpPr/>
          <p:nvPr/>
        </p:nvSpPr>
        <p:spPr>
          <a:xfrm>
            <a:off x="4114800" y="4526280"/>
            <a:ext cx="3200400" cy="14630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9392" y="4681728"/>
            <a:ext cx="287121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PROSPECTOS · 146.000 SUSCRIPTORES</a:t>
            </a:r>
          </a:p>
        </p:txBody>
      </p:sp>
      <p:sp>
        <p:nvSpPr>
          <p:cNvPr id="18" name="TextBox 17"/>
          <p:cNvSpPr txBox="1"/>
          <p:nvPr/>
        </p:nvSpPr>
        <p:spPr>
          <a:xfrm>
            <a:off x="4279392" y="4892040"/>
            <a:ext cx="287121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Comprensión y aspiración</a:t>
            </a:r>
          </a:p>
        </p:txBody>
      </p:sp>
      <p:sp>
        <p:nvSpPr>
          <p:cNvPr id="19" name="TextBox 18"/>
          <p:cNvSpPr txBox="1"/>
          <p:nvPr/>
        </p:nvSpPr>
        <p:spPr>
          <a:xfrm>
            <a:off x="4279392" y="5248656"/>
            <a:ext cx="2871216" cy="612648"/>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La revista entra a hogares del mismo perfil premium que todavía no son Clubmembers.</a:t>
            </a:r>
          </a:p>
        </p:txBody>
      </p:sp>
      <p:sp>
        <p:nvSpPr>
          <p:cNvPr id="20" name="TextBox 1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EL ACTIVO EDITORIAL ES EL QUE RESUELVE EL SEGUNDO PÚBLICO</a:t>
            </a:r>
          </a:p>
        </p:txBody>
      </p:sp>
      <p:sp>
        <p:nvSpPr>
          <p:cNvPr id="21" name="TextBox 2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 ARQUITECTURA</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Tres capas que se refuerzan</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Una entrega el beneficio, otra lo hace descubrible y la tercera construye estatus. El modelo sigue la lógica de portafolio que la franquicia ya opera en la región, donde conviven programas permanentes y campañas de temporada.</a:t>
            </a:r>
          </a:p>
        </p:txBody>
      </p:sp>
      <p:sp>
        <p:nvSpPr>
          <p:cNvPr id="7" name="Rectangle 6"/>
          <p:cNvSpPr/>
          <p:nvPr/>
        </p:nvSpPr>
        <p:spPr>
          <a:xfrm>
            <a:off x="7315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01</a:t>
            </a:r>
          </a:p>
        </p:txBody>
      </p:sp>
      <p:sp>
        <p:nvSpPr>
          <p:cNvPr id="9" name="TextBox 8"/>
          <p:cNvSpPr txBox="1"/>
          <p:nvPr/>
        </p:nvSpPr>
        <p:spPr>
          <a:xfrm>
            <a:off x="8961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BENEFICIO</a:t>
            </a:r>
          </a:p>
        </p:txBody>
      </p:sp>
      <p:sp>
        <p:nvSpPr>
          <p:cNvPr id="10" name="TextBox 9"/>
          <p:cNvSpPr txBox="1"/>
          <p:nvPr/>
        </p:nvSpPr>
        <p:spPr>
          <a:xfrm>
            <a:off x="8961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Mesa Diners Club</a:t>
            </a:r>
          </a:p>
        </p:txBody>
      </p:sp>
      <p:sp>
        <p:nvSpPr>
          <p:cNvPr id="11" name="TextBox 10"/>
          <p:cNvSpPr txBox="1"/>
          <p:nvPr/>
        </p:nvSpPr>
        <p:spPr>
          <a:xfrm>
            <a:off x="8961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Beneficio gastronómico recurrente con día fijo, sobre una selección curada de aliados con aceptación verificada.</a:t>
            </a:r>
          </a:p>
        </p:txBody>
      </p:sp>
      <p:sp>
        <p:nvSpPr>
          <p:cNvPr id="12" name="TextBox 11"/>
          <p:cNvSpPr txBox="1"/>
          <p:nvPr/>
        </p:nvSpPr>
        <p:spPr>
          <a:xfrm>
            <a:off x="896112" y="4233672"/>
            <a:ext cx="3145536" cy="1581912"/>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Día fijo semanal</a:t>
            </a:r>
          </a:p>
          <a:p>
            <a:pPr algn="l">
              <a:lnSpc>
                <a:spcPct val="119000"/>
              </a:lnSpc>
              <a:spcAft>
                <a:spcPts val="320"/>
              </a:spcAft>
            </a:pPr>
            <a:r>
              <a:rPr sz="880" b="0">
                <a:solidFill>
                  <a:srgbClr val="D8DDE4"/>
                </a:solidFill>
                <a:latin typeface="Helvetica Neue"/>
              </a:rPr>
              <a:t>•  Datáfono verificado como requisito</a:t>
            </a:r>
          </a:p>
          <a:p>
            <a:pPr algn="l">
              <a:lnSpc>
                <a:spcPct val="119000"/>
              </a:lnSpc>
              <a:spcAft>
                <a:spcPts val="320"/>
              </a:spcAft>
            </a:pPr>
            <a:r>
              <a:rPr sz="880" b="0">
                <a:solidFill>
                  <a:srgbClr val="D8DDE4"/>
                </a:solidFill>
                <a:latin typeface="Helvetica Neue"/>
              </a:rPr>
              <a:t>•  Bogotá en el año uno</a:t>
            </a:r>
          </a:p>
        </p:txBody>
      </p:sp>
      <p:sp>
        <p:nvSpPr>
          <p:cNvPr id="13" name="Rectangle 12"/>
          <p:cNvSpPr/>
          <p:nvPr/>
        </p:nvSpPr>
        <p:spPr>
          <a:xfrm>
            <a:off x="43891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02</a:t>
            </a:r>
          </a:p>
        </p:txBody>
      </p:sp>
      <p:sp>
        <p:nvSpPr>
          <p:cNvPr id="15" name="TextBox 14"/>
          <p:cNvSpPr txBox="1"/>
          <p:nvPr/>
        </p:nvSpPr>
        <p:spPr>
          <a:xfrm>
            <a:off x="45537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DESCUBRIMIENTO</a:t>
            </a:r>
          </a:p>
        </p:txBody>
      </p:sp>
      <p:sp>
        <p:nvSpPr>
          <p:cNvPr id="16" name="TextBox 15"/>
          <p:cNvSpPr txBox="1"/>
          <p:nvPr/>
        </p:nvSpPr>
        <p:spPr>
          <a:xfrm>
            <a:off x="45537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La Mesa Diners</a:t>
            </a:r>
          </a:p>
        </p:txBody>
      </p:sp>
      <p:sp>
        <p:nvSpPr>
          <p:cNvPr id="17" name="TextBox 16"/>
          <p:cNvSpPr txBox="1"/>
          <p:nvPr/>
        </p:nvSpPr>
        <p:spPr>
          <a:xfrm>
            <a:off x="45537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La sección editorial donde vive el beneficio. Convierte el descuento en criterio y alimenta el catálogo que la app cargará en 2027.</a:t>
            </a:r>
          </a:p>
        </p:txBody>
      </p:sp>
      <p:sp>
        <p:nvSpPr>
          <p:cNvPr id="18" name="TextBox 17"/>
          <p:cNvSpPr txBox="1"/>
          <p:nvPr/>
        </p:nvSpPr>
        <p:spPr>
          <a:xfrm>
            <a:off x="4553712" y="4389120"/>
            <a:ext cx="3145536" cy="1426464"/>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Sección fija mensual en la revista</a:t>
            </a:r>
          </a:p>
          <a:p>
            <a:pPr algn="l">
              <a:lnSpc>
                <a:spcPct val="119000"/>
              </a:lnSpc>
              <a:spcAft>
                <a:spcPts val="320"/>
              </a:spcAft>
            </a:pPr>
            <a:r>
              <a:rPr sz="880" b="0">
                <a:solidFill>
                  <a:srgbClr val="D8DDE4"/>
                </a:solidFill>
                <a:latin typeface="Helvetica Neue"/>
              </a:rPr>
              <a:t>•  Sección permanente en web</a:t>
            </a:r>
          </a:p>
          <a:p>
            <a:pPr algn="l">
              <a:lnSpc>
                <a:spcPct val="119000"/>
              </a:lnSpc>
              <a:spcAft>
                <a:spcPts val="320"/>
              </a:spcAft>
            </a:pPr>
            <a:r>
              <a:rPr sz="880" b="0">
                <a:solidFill>
                  <a:srgbClr val="D8DDE4"/>
                </a:solidFill>
                <a:latin typeface="Helvetica Neue"/>
              </a:rPr>
              <a:t>•  Serie de videos</a:t>
            </a:r>
          </a:p>
        </p:txBody>
      </p:sp>
      <p:sp>
        <p:nvSpPr>
          <p:cNvPr id="19" name="Rectangle 18"/>
          <p:cNvSpPr/>
          <p:nvPr/>
        </p:nvSpPr>
        <p:spPr>
          <a:xfrm>
            <a:off x="80467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03</a:t>
            </a:r>
          </a:p>
        </p:txBody>
      </p:sp>
      <p:sp>
        <p:nvSpPr>
          <p:cNvPr id="21" name="TextBox 20"/>
          <p:cNvSpPr txBox="1"/>
          <p:nvPr/>
        </p:nvSpPr>
        <p:spPr>
          <a:xfrm>
            <a:off x="82113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ESTATUS</a:t>
            </a:r>
          </a:p>
        </p:txBody>
      </p:sp>
      <p:sp>
        <p:nvSpPr>
          <p:cNvPr id="22" name="TextBox 21"/>
          <p:cNvSpPr txBox="1"/>
          <p:nvPr/>
        </p:nvSpPr>
        <p:spPr>
          <a:xfrm>
            <a:off x="82113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Experiencias OBI</a:t>
            </a:r>
          </a:p>
        </p:txBody>
      </p:sp>
      <p:sp>
        <p:nvSpPr>
          <p:cNvPr id="23" name="TextBox 22"/>
          <p:cNvSpPr txBox="1"/>
          <p:nvPr/>
        </p:nvSpPr>
        <p:spPr>
          <a:xfrm>
            <a:off x="82113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Only By Invitation. Acceso limitado a experiencias que no se compran, dirigido al segmento Black.</a:t>
            </a:r>
          </a:p>
        </p:txBody>
      </p:sp>
      <p:sp>
        <p:nvSpPr>
          <p:cNvPr id="24" name="TextBox 23"/>
          <p:cNvSpPr txBox="1"/>
          <p:nvPr/>
        </p:nvSpPr>
        <p:spPr>
          <a:xfrm>
            <a:off x="8211312" y="4233672"/>
            <a:ext cx="3145536" cy="1581912"/>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Seis experiencias en el año</a:t>
            </a:r>
          </a:p>
          <a:p>
            <a:pPr algn="l">
              <a:lnSpc>
                <a:spcPct val="119000"/>
              </a:lnSpc>
              <a:spcAft>
                <a:spcPts val="320"/>
              </a:spcAft>
            </a:pPr>
            <a:r>
              <a:rPr sz="880" b="0">
                <a:solidFill>
                  <a:srgbClr val="D8DDE4"/>
                </a:solidFill>
                <a:latin typeface="Helvetica Neue"/>
              </a:rPr>
              <a:t>•  Cupo corto, por invitación</a:t>
            </a:r>
          </a:p>
          <a:p>
            <a:pPr algn="l">
              <a:lnSpc>
                <a:spcPct val="119000"/>
              </a:lnSpc>
              <a:spcAft>
                <a:spcPts val="320"/>
              </a:spcAft>
            </a:pPr>
            <a:r>
              <a:rPr sz="880" b="0">
                <a:solidFill>
                  <a:srgbClr val="D8DDE4"/>
                </a:solidFill>
                <a:latin typeface="Helvetica Neue"/>
              </a:rPr>
              <a:t>•  Cubrimiento editorial incluido</a:t>
            </a:r>
          </a:p>
        </p:txBody>
      </p:sp>
      <p:sp>
        <p:nvSpPr>
          <p:cNvPr id="25" name="TextBox 24"/>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LAS TRES OPERAN SOBRE LA MISMA RED DE ALIADOS VERIFICADOS</a:t>
            </a:r>
          </a:p>
        </p:txBody>
      </p:sp>
      <p:sp>
        <p:nvSpPr>
          <p:cNvPr id="26" name="TextBox 25"/>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aduria.jpg"/>
          <p:cNvPicPr>
            <a:picLocks noChangeAspect="1"/>
          </p:cNvPicPr>
          <p:nvPr/>
        </p:nvPicPr>
        <p:blipFill>
          <a:blip r:embed="rId2"/>
          <a:stretch>
            <a:fillRect/>
          </a:stretch>
        </p:blipFill>
        <p:spPr>
          <a:xfrm>
            <a:off x="8183879" y="0"/>
            <a:ext cx="4005072" cy="6858000"/>
          </a:xfrm>
          <a:prstGeom prst="rect">
            <a:avLst/>
          </a:prstGeom>
        </p:spPr>
      </p:pic>
      <p:sp>
        <p:nvSpPr>
          <p:cNvPr id="4" name="Rectangle 3"/>
          <p:cNvSpPr/>
          <p:nvPr/>
        </p:nvSpPr>
        <p:spPr>
          <a:xfrm>
            <a:off x="8183879"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39911"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día fijo.
Una lista corta.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1 · EL BENEFICIO</a:t>
            </a:r>
          </a:p>
        </p:txBody>
      </p:sp>
      <p:sp>
        <p:nvSpPr>
          <p:cNvPr id="7" name="TextBox 6"/>
          <p:cNvSpPr txBox="1"/>
          <p:nvPr/>
        </p:nvSpPr>
        <p:spPr>
          <a:xfrm>
            <a:off x="73152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Mesa Diners Club</a:t>
            </a:r>
          </a:p>
        </p:txBody>
      </p:sp>
      <p:sp>
        <p:nvSpPr>
          <p:cNvPr id="8" name="Rectangle 7"/>
          <p:cNvSpPr/>
          <p:nvPr/>
        </p:nvSpPr>
        <p:spPr>
          <a:xfrm>
            <a:off x="731520" y="1737360"/>
            <a:ext cx="676656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7665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Adaptación colombiana de la mecánica de descuento en días de baja reserva que el programa global reconoce como práctica probada.</a:t>
            </a:r>
          </a:p>
        </p:txBody>
      </p:sp>
      <p:sp>
        <p:nvSpPr>
          <p:cNvPr id="10" name="Rectangle 9"/>
          <p:cNvSpPr/>
          <p:nvPr/>
        </p:nvSpPr>
        <p:spPr>
          <a:xfrm>
            <a:off x="731520" y="2697480"/>
            <a:ext cx="3291840" cy="3200400"/>
          </a:xfrm>
          <a:prstGeom prst="rect">
            <a:avLst/>
          </a:prstGeom>
          <a:solidFill>
            <a:srgbClr val="FFFDF9"/>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CÓMO OPERA</a:t>
            </a:r>
          </a:p>
        </p:txBody>
      </p:sp>
      <p:sp>
        <p:nvSpPr>
          <p:cNvPr id="12" name="TextBox 11"/>
          <p:cNvSpPr txBox="1"/>
          <p:nvPr/>
        </p:nvSpPr>
        <p:spPr>
          <a:xfrm>
            <a:off x="896112" y="3063240"/>
            <a:ext cx="296265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Un día fijo, una lista corta</a:t>
            </a:r>
          </a:p>
        </p:txBody>
      </p:sp>
      <p:sp>
        <p:nvSpPr>
          <p:cNvPr id="13" name="TextBox 12"/>
          <p:cNvSpPr txBox="1"/>
          <p:nvPr/>
        </p:nvSpPr>
        <p:spPr>
          <a:xfrm>
            <a:off x="896112" y="3593592"/>
            <a:ext cx="2962656" cy="2176272"/>
          </a:xfrm>
          <a:prstGeom prst="rect">
            <a:avLst/>
          </a:prstGeom>
          <a:noFill/>
        </p:spPr>
        <p:txBody>
          <a:bodyPr wrap="square" lIns="0" rIns="0" tIns="0" bIns="0" anchor="t">
            <a:spAutoFit/>
          </a:bodyPr>
          <a:lstStyle/>
          <a:p>
            <a:pPr algn="l">
              <a:lnSpc>
                <a:spcPct val="119000"/>
              </a:lnSpc>
              <a:spcAft>
                <a:spcPts val="320"/>
              </a:spcAft>
            </a:pPr>
            <a:r>
              <a:rPr sz="900" b="0">
                <a:solidFill>
                  <a:srgbClr val="14263D"/>
                </a:solidFill>
                <a:latin typeface="Helvetica Neue"/>
              </a:rPr>
              <a:t>•  Beneficio: porcentaje sobre la cuenta</a:t>
            </a:r>
          </a:p>
          <a:p>
            <a:pPr algn="l">
              <a:lnSpc>
                <a:spcPct val="119000"/>
              </a:lnSpc>
              <a:spcAft>
                <a:spcPts val="320"/>
              </a:spcAft>
            </a:pPr>
            <a:r>
              <a:rPr sz="900" b="0">
                <a:solidFill>
                  <a:srgbClr val="14263D"/>
                </a:solidFill>
                <a:latin typeface="Helvetica Neue"/>
              </a:rPr>
              <a:t>•  Frecuencia: día fijo semanal</a:t>
            </a:r>
          </a:p>
          <a:p>
            <a:pPr algn="l">
              <a:lnSpc>
                <a:spcPct val="119000"/>
              </a:lnSpc>
              <a:spcAft>
                <a:spcPts val="320"/>
              </a:spcAft>
            </a:pPr>
            <a:r>
              <a:rPr sz="900" b="0">
                <a:solidFill>
                  <a:srgbClr val="14263D"/>
                </a:solidFill>
                <a:latin typeface="Helvetica Neue"/>
              </a:rPr>
              <a:t>•  Cobertura: Bogotá en el año uno</a:t>
            </a:r>
          </a:p>
          <a:p>
            <a:pPr algn="l">
              <a:lnSpc>
                <a:spcPct val="119000"/>
              </a:lnSpc>
              <a:spcAft>
                <a:spcPts val="320"/>
              </a:spcAft>
            </a:pPr>
            <a:r>
              <a:rPr sz="900" b="0">
                <a:solidFill>
                  <a:srgbClr val="14263D"/>
                </a:solidFill>
                <a:latin typeface="Helvetica Neue"/>
              </a:rPr>
              <a:t>•  Requisito: Diners verificada en el datáfono</a:t>
            </a:r>
          </a:p>
          <a:p>
            <a:pPr algn="l">
              <a:lnSpc>
                <a:spcPct val="119000"/>
              </a:lnSpc>
              <a:spcAft>
                <a:spcPts val="320"/>
              </a:spcAft>
            </a:pPr>
            <a:r>
              <a:rPr sz="900" b="0">
                <a:solidFill>
                  <a:srgbClr val="14263D"/>
                </a:solidFill>
                <a:latin typeface="Helvetica Neue"/>
              </a:rPr>
              <a:t>•  Condición: reserva obligatoria</a:t>
            </a:r>
          </a:p>
        </p:txBody>
      </p:sp>
      <p:sp>
        <p:nvSpPr>
          <p:cNvPr id="14" name="Rectangle 13"/>
          <p:cNvSpPr/>
          <p:nvPr/>
        </p:nvSpPr>
        <p:spPr>
          <a:xfrm>
            <a:off x="4206240" y="2697480"/>
            <a:ext cx="3291840" cy="320040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QUÉ LO DIFERENCIA</a:t>
            </a:r>
          </a:p>
        </p:txBody>
      </p:sp>
      <p:sp>
        <p:nvSpPr>
          <p:cNvPr id="16" name="TextBox 15"/>
          <p:cNvSpPr txBox="1"/>
          <p:nvPr/>
        </p:nvSpPr>
        <p:spPr>
          <a:xfrm>
            <a:off x="4370831" y="3063240"/>
            <a:ext cx="296265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El aliado paga la visibilidad</a:t>
            </a:r>
          </a:p>
        </p:txBody>
      </p:sp>
      <p:sp>
        <p:nvSpPr>
          <p:cNvPr id="17" name="TextBox 16"/>
          <p:cNvSpPr txBox="1"/>
          <p:nvPr/>
        </p:nvSpPr>
        <p:spPr>
          <a:xfrm>
            <a:off x="4370831" y="3593592"/>
            <a:ext cx="2962656" cy="2176272"/>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En lugar de financiar un descuento profundo, el establecimiento paga por aparecer en la selección editorial. El costo neto del programa baja y la oferta crece sin inversión adicional. Quedamos abiertos a modelar la alternativa de descuento financiado.</a:t>
            </a:r>
          </a:p>
        </p:txBody>
      </p:sp>
      <p:sp>
        <p:nvSpPr>
          <p:cNvPr id="18" name="TextBox 17"/>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REWARDS &amp; DINING OFFERS</a:t>
            </a:r>
          </a:p>
        </p:txBody>
      </p:sp>
      <p:sp>
        <p:nvSpPr>
          <p:cNvPr id="19" name="TextBox 18"/>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jpg"/>
          <p:cNvPicPr>
            <a:picLocks noChangeAspect="1"/>
          </p:cNvPicPr>
          <p:nvPr/>
        </p:nvPicPr>
        <p:blipFill>
          <a:blip r:embed="rId2"/>
          <a:stretch>
            <a:fillRect/>
          </a:stretch>
        </p:blipFill>
        <p:spPr>
          <a:xfrm>
            <a:off x="0" y="0"/>
            <a:ext cx="4005072" cy="6858000"/>
          </a:xfrm>
          <a:prstGeom prst="rect">
            <a:avLst/>
          </a:prstGeom>
        </p:spPr>
      </p:pic>
      <p:sp>
        <p:nvSpPr>
          <p:cNvPr id="4" name="Rectangle 3"/>
          <p:cNvSpPr/>
          <p:nvPr/>
        </p:nvSpPr>
        <p:spPr>
          <a:xfrm>
            <a:off x="0"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descuento
no se recuerda.
Un criterio sí.</a:t>
            </a:r>
          </a:p>
        </p:txBody>
      </p:sp>
      <p:sp>
        <p:nvSpPr>
          <p:cNvPr id="6" name="TextBox 5"/>
          <p:cNvSpPr txBox="1"/>
          <p:nvPr/>
        </p:nvSpPr>
        <p:spPr>
          <a:xfrm>
            <a:off x="4480560" y="621792"/>
            <a:ext cx="7162495"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2 · EL DESCUBRIMIENTO</a:t>
            </a:r>
          </a:p>
        </p:txBody>
      </p:sp>
      <p:sp>
        <p:nvSpPr>
          <p:cNvPr id="7" name="TextBox 6"/>
          <p:cNvSpPr txBox="1"/>
          <p:nvPr/>
        </p:nvSpPr>
        <p:spPr>
          <a:xfrm>
            <a:off x="448056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La Mesa Diners</a:t>
            </a:r>
          </a:p>
        </p:txBody>
      </p:sp>
      <p:sp>
        <p:nvSpPr>
          <p:cNvPr id="8" name="Rectangle 7"/>
          <p:cNvSpPr/>
          <p:nvPr/>
        </p:nvSpPr>
        <p:spPr>
          <a:xfrm>
            <a:off x="4480560" y="1737360"/>
            <a:ext cx="690372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883664"/>
            <a:ext cx="690372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selección curada de los lugares, cocineros y rituales que definen el buen comer en Bogotá, con el estándar editorial de la Revista Diners.</a:t>
            </a:r>
          </a:p>
        </p:txBody>
      </p:sp>
      <p:sp>
        <p:nvSpPr>
          <p:cNvPr id="10" name="Rectangle 9"/>
          <p:cNvSpPr/>
          <p:nvPr/>
        </p:nvSpPr>
        <p:spPr>
          <a:xfrm>
            <a:off x="4480560" y="2697480"/>
            <a:ext cx="2212848" cy="178308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5152"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SOPORTE 1</a:t>
            </a:r>
          </a:p>
        </p:txBody>
      </p:sp>
      <p:sp>
        <p:nvSpPr>
          <p:cNvPr id="12" name="TextBox 11"/>
          <p:cNvSpPr txBox="1"/>
          <p:nvPr/>
        </p:nvSpPr>
        <p:spPr>
          <a:xfrm>
            <a:off x="4645152"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Sección fija mensual</a:t>
            </a:r>
          </a:p>
        </p:txBody>
      </p:sp>
      <p:sp>
        <p:nvSpPr>
          <p:cNvPr id="13" name="TextBox 12"/>
          <p:cNvSpPr txBox="1"/>
          <p:nvPr/>
        </p:nvSpPr>
        <p:spPr>
          <a:xfrm>
            <a:off x="4645152" y="3593592"/>
            <a:ext cx="1883664" cy="758952"/>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Sección nueva, complementaria al programa. No ocupa espacio existente.</a:t>
            </a:r>
          </a:p>
        </p:txBody>
      </p:sp>
      <p:sp>
        <p:nvSpPr>
          <p:cNvPr id="14" name="Rectangle 13"/>
          <p:cNvSpPr/>
          <p:nvPr/>
        </p:nvSpPr>
        <p:spPr>
          <a:xfrm>
            <a:off x="6830568" y="2697480"/>
            <a:ext cx="2212848" cy="178308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SOPORTE 2</a:t>
            </a:r>
          </a:p>
        </p:txBody>
      </p:sp>
      <p:sp>
        <p:nvSpPr>
          <p:cNvPr id="16" name="TextBox 15"/>
          <p:cNvSpPr txBox="1"/>
          <p:nvPr/>
        </p:nvSpPr>
        <p:spPr>
          <a:xfrm>
            <a:off x="6995160"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Sección permanente en web</a:t>
            </a:r>
          </a:p>
        </p:txBody>
      </p:sp>
      <p:sp>
        <p:nvSpPr>
          <p:cNvPr id="17" name="TextBox 16"/>
          <p:cNvSpPr txBox="1"/>
          <p:nvPr/>
        </p:nvSpPr>
        <p:spPr>
          <a:xfrm>
            <a:off x="6995160" y="3593592"/>
            <a:ext cx="1883664" cy="758952"/>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La selección viva y buscable, enlazada con los aliados verificados.</a:t>
            </a:r>
          </a:p>
        </p:txBody>
      </p:sp>
      <p:sp>
        <p:nvSpPr>
          <p:cNvPr id="18" name="Rectangle 17"/>
          <p:cNvSpPr/>
          <p:nvPr/>
        </p:nvSpPr>
        <p:spPr>
          <a:xfrm>
            <a:off x="9180576" y="2697480"/>
            <a:ext cx="2212848" cy="178308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SOPORTE 3</a:t>
            </a:r>
          </a:p>
        </p:txBody>
      </p:sp>
      <p:sp>
        <p:nvSpPr>
          <p:cNvPr id="20" name="TextBox 19"/>
          <p:cNvSpPr txBox="1"/>
          <p:nvPr/>
        </p:nvSpPr>
        <p:spPr>
          <a:xfrm>
            <a:off x="9345167"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Serie de video</a:t>
            </a:r>
          </a:p>
        </p:txBody>
      </p:sp>
      <p:sp>
        <p:nvSpPr>
          <p:cNvPr id="21" name="TextBox 20"/>
          <p:cNvSpPr txBox="1"/>
          <p:nvPr/>
        </p:nvSpPr>
        <p:spPr>
          <a:xfrm>
            <a:off x="9345167" y="3419856"/>
            <a:ext cx="1883664" cy="93268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Los protagonistas en video editorial, en canales propios y del invitado.</a:t>
            </a:r>
          </a:p>
        </p:txBody>
      </p:sp>
      <p:sp>
        <p:nvSpPr>
          <p:cNvPr id="22" name="Rectangle 21"/>
          <p:cNvSpPr/>
          <p:nvPr/>
        </p:nvSpPr>
        <p:spPr>
          <a:xfrm>
            <a:off x="4480560" y="4663440"/>
            <a:ext cx="6903720" cy="128016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5152" y="4818888"/>
            <a:ext cx="6574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LA REGLA QUE PROTEGE LA CURADURÍA</a:t>
            </a:r>
          </a:p>
        </p:txBody>
      </p:sp>
      <p:sp>
        <p:nvSpPr>
          <p:cNvPr id="24" name="TextBox 23"/>
          <p:cNvSpPr txBox="1"/>
          <p:nvPr/>
        </p:nvSpPr>
        <p:spPr>
          <a:xfrm>
            <a:off x="4645152" y="5029200"/>
            <a:ext cx="6574536" cy="457200"/>
          </a:xfrm>
          <a:prstGeom prst="rect">
            <a:avLst/>
          </a:prstGeom>
          <a:noFill/>
        </p:spPr>
        <p:txBody>
          <a:bodyPr wrap="square" lIns="0" rIns="0" tIns="0" bIns="0" anchor="t">
            <a:spAutoFit/>
          </a:bodyPr>
          <a:lstStyle/>
          <a:p>
            <a:pPr algn="l">
              <a:lnSpc>
                <a:spcPct val="106000"/>
              </a:lnSpc>
              <a:spcAft>
                <a:spcPts val="0"/>
              </a:spcAft>
            </a:pPr>
            <a:r>
              <a:rPr sz="1200" b="1">
                <a:solidFill>
                  <a:srgbClr val="FFFFFF"/>
                </a:solidFill>
                <a:latin typeface="Georgia"/>
              </a:rPr>
              <a:t>La entrada la define el editor</a:t>
            </a:r>
          </a:p>
        </p:txBody>
      </p:sp>
      <p:sp>
        <p:nvSpPr>
          <p:cNvPr id="25" name="TextBox 24"/>
          <p:cNvSpPr txBox="1"/>
          <p:nvPr/>
        </p:nvSpPr>
        <p:spPr>
          <a:xfrm>
            <a:off x="4645152" y="5385816"/>
            <a:ext cx="6574536" cy="429767"/>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Pagar amplía la ficha, no compra el lugar en la selección. Sin esa regla la sección se lee como publirreportaje y se pierde la autoridad editorial, que es lo único que ninguna agencia puede replicar.</a:t>
            </a:r>
          </a:p>
        </p:txBody>
      </p:sp>
      <p:sp>
        <p:nvSpPr>
          <p:cNvPr id="26" name="TextBox 25"/>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BESPOKE DINING CONTENT</a:t>
            </a:r>
          </a:p>
        </p:txBody>
      </p:sp>
      <p:sp>
        <p:nvSpPr>
          <p:cNvPr id="27" name="TextBox 26"/>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obi.jpg"/>
          <p:cNvPicPr>
            <a:picLocks noChangeAspect="1"/>
          </p:cNvPicPr>
          <p:nvPr/>
        </p:nvPicPr>
        <p:blipFill>
          <a:blip r:embed="rId2"/>
          <a:stretch>
            <a:fillRect/>
          </a:stretch>
        </p:blipFill>
        <p:spPr>
          <a:xfrm>
            <a:off x="8321040" y="0"/>
            <a:ext cx="3867912" cy="6858000"/>
          </a:xfrm>
          <a:prstGeom prst="rect">
            <a:avLst/>
          </a:prstGeom>
        </p:spPr>
      </p:pic>
      <p:sp>
        <p:nvSpPr>
          <p:cNvPr id="4" name="Rectangle 3"/>
          <p:cNvSpPr/>
          <p:nvPr/>
        </p:nvSpPr>
        <p:spPr>
          <a:xfrm>
            <a:off x="8321040" y="0"/>
            <a:ext cx="386791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77072" y="5532120"/>
            <a:ext cx="335584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Lo que se reparte
a todos deja de
distinguir a alguien</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3 · EL ESTATUS</a:t>
            </a:r>
          </a:p>
        </p:txBody>
      </p:sp>
      <p:sp>
        <p:nvSpPr>
          <p:cNvPr id="7" name="TextBox 6"/>
          <p:cNvSpPr txBox="1"/>
          <p:nvPr/>
        </p:nvSpPr>
        <p:spPr>
          <a:xfrm>
            <a:off x="731520" y="932688"/>
            <a:ext cx="7040880" cy="1188720"/>
          </a:xfrm>
          <a:prstGeom prst="rect">
            <a:avLst/>
          </a:prstGeom>
          <a:noFill/>
        </p:spPr>
        <p:txBody>
          <a:bodyPr wrap="square" lIns="0" rIns="0" tIns="0" bIns="0" anchor="t">
            <a:spAutoFit/>
          </a:bodyPr>
          <a:lstStyle/>
          <a:p>
            <a:pPr algn="l">
              <a:lnSpc>
                <a:spcPct val="102000"/>
              </a:lnSpc>
              <a:spcAft>
                <a:spcPts val="0"/>
              </a:spcAft>
            </a:pPr>
            <a:r>
              <a:rPr sz="2900" b="0">
                <a:solidFill>
                  <a:srgbClr val="0A2540"/>
                </a:solidFill>
                <a:latin typeface="Georgia"/>
              </a:rPr>
              <a:t>Experiencias Only By Invitation</a:t>
            </a:r>
          </a:p>
        </p:txBody>
      </p:sp>
      <p:sp>
        <p:nvSpPr>
          <p:cNvPr id="8" name="Rectangle 7"/>
          <p:cNvSpPr/>
          <p:nvPr/>
        </p:nvSpPr>
        <p:spPr>
          <a:xfrm>
            <a:off x="731520" y="1737360"/>
            <a:ext cx="694944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94944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Seis experiencias gastronómicas en el año, con cupo limitado y acceso por invitación. Catas privadas con maridaje de autor, cenas a cuatro manos, mesas con cocineros que no abren al público.</a:t>
            </a:r>
          </a:p>
        </p:txBody>
      </p:sp>
      <p:sp>
        <p:nvSpPr>
          <p:cNvPr id="10" name="Rectangle 9"/>
          <p:cNvSpPr/>
          <p:nvPr/>
        </p:nvSpPr>
        <p:spPr>
          <a:xfrm>
            <a:off x="731520" y="2697480"/>
            <a:ext cx="6949440" cy="98755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LA ESCASEZ ES EL PUNTO</a:t>
            </a:r>
          </a:p>
        </p:txBody>
      </p:sp>
      <p:sp>
        <p:nvSpPr>
          <p:cNvPr id="12" name="TextBox 11"/>
          <p:cNvSpPr txBox="1"/>
          <p:nvPr/>
        </p:nvSpPr>
        <p:spPr>
          <a:xfrm>
            <a:off x="896112" y="306324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18.400 Black · 150 cupos</a:t>
            </a:r>
          </a:p>
        </p:txBody>
      </p:sp>
      <p:sp>
        <p:nvSpPr>
          <p:cNvPr id="13" name="TextBox 12"/>
          <p:cNvSpPr txBox="1"/>
          <p:nvPr/>
        </p:nvSpPr>
        <p:spPr>
          <a:xfrm>
            <a:off x="896112" y="341985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El cupo corto no es una restricción de logística. Es el beneficio.</a:t>
            </a:r>
          </a:p>
        </p:txBody>
      </p:sp>
      <p:sp>
        <p:nvSpPr>
          <p:cNvPr id="14" name="Rectangle 13"/>
          <p:cNvSpPr/>
          <p:nvPr/>
        </p:nvSpPr>
        <p:spPr>
          <a:xfrm>
            <a:off x="731520" y="3794760"/>
            <a:ext cx="6949440" cy="987552"/>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5020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RENDIMIENTO TRIPLE</a:t>
            </a:r>
          </a:p>
        </p:txBody>
      </p:sp>
      <p:sp>
        <p:nvSpPr>
          <p:cNvPr id="16" name="TextBox 15"/>
          <p:cNvSpPr txBox="1"/>
          <p:nvPr/>
        </p:nvSpPr>
        <p:spPr>
          <a:xfrm>
            <a:off x="896112" y="416052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Se produce una vez, se distribuye tres</a:t>
            </a:r>
          </a:p>
        </p:txBody>
      </p:sp>
      <p:sp>
        <p:nvSpPr>
          <p:cNvPr id="17" name="TextBox 16"/>
          <p:cNvSpPr txBox="1"/>
          <p:nvPr/>
        </p:nvSpPr>
        <p:spPr>
          <a:xfrm>
            <a:off x="896112" y="451713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Evento, reel y artículo permanente. Alcanza a quien no estuvo, incluidos prospectos.</a:t>
            </a:r>
          </a:p>
        </p:txBody>
      </p:sp>
      <p:sp>
        <p:nvSpPr>
          <p:cNvPr id="18" name="Rectangle 17"/>
          <p:cNvSpPr/>
          <p:nvPr/>
        </p:nvSpPr>
        <p:spPr>
          <a:xfrm>
            <a:off x="731520" y="4892040"/>
            <a:ext cx="6949440" cy="987552"/>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PRUEBA SOCIAL</a:t>
            </a:r>
          </a:p>
        </p:txBody>
      </p:sp>
      <p:sp>
        <p:nvSpPr>
          <p:cNvPr id="20" name="TextBox 19"/>
          <p:cNvSpPr txBox="1"/>
          <p:nvPr/>
        </p:nvSpPr>
        <p:spPr>
          <a:xfrm>
            <a:off x="896112" y="525780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Testimonios de Clubmembers</a:t>
            </a:r>
          </a:p>
        </p:txBody>
      </p:sp>
      <p:sp>
        <p:nvSpPr>
          <p:cNvPr id="21" name="TextBox 20"/>
          <p:cNvSpPr txBox="1"/>
          <p:nvPr/>
        </p:nvSpPr>
        <p:spPr>
          <a:xfrm>
            <a:off x="896112" y="561441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El propio tracker recomienda usar testimonios para mostrar relevancia a prospectos.</a:t>
            </a:r>
          </a:p>
        </p:txBody>
      </p:sp>
      <p:sp>
        <p:nvSpPr>
          <p:cNvPr id="22" name="TextBox 21"/>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DINING EXPERIENCES</a:t>
            </a:r>
          </a:p>
        </p:txBody>
      </p:sp>
      <p:sp>
        <p:nvSpPr>
          <p:cNvPr id="23" name="TextBox 22"/>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blema.jpg"/>
          <p:cNvPicPr>
            <a:picLocks noChangeAspect="1"/>
          </p:cNvPicPr>
          <p:nvPr/>
        </p:nvPicPr>
        <p:blipFill>
          <a:blip r:embed="rId2"/>
          <a:stretch>
            <a:fillRect/>
          </a:stretch>
        </p:blipFill>
        <p:spPr>
          <a:xfrm>
            <a:off x="8183879" y="0"/>
            <a:ext cx="4005072" cy="6858000"/>
          </a:xfrm>
          <a:prstGeom prst="rect">
            <a:avLst/>
          </a:prstGeom>
        </p:spPr>
      </p:pic>
      <p:sp>
        <p:nvSpPr>
          <p:cNvPr id="4" name="Rectangle 3"/>
          <p:cNvSpPr/>
          <p:nvPr/>
        </p:nvSpPr>
        <p:spPr>
          <a:xfrm>
            <a:off x="8183879"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39911"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La barrera de aceptación
se resuelve en la puerta,
no en la campaña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 PIEZA QUE RESUELVE LA ACEPTACIÓN</a:t>
            </a:r>
          </a:p>
        </p:txBody>
      </p:sp>
      <p:sp>
        <p:nvSpPr>
          <p:cNvPr id="7" name="TextBox 6"/>
          <p:cNvSpPr txBox="1"/>
          <p:nvPr/>
        </p:nvSpPr>
        <p:spPr>
          <a:xfrm>
            <a:off x="73152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Un sello en la vitrina</a:t>
            </a:r>
          </a:p>
        </p:txBody>
      </p:sp>
      <p:sp>
        <p:nvSpPr>
          <p:cNvPr id="8" name="Rectangle 7"/>
          <p:cNvSpPr/>
          <p:nvPr/>
        </p:nvSpPr>
        <p:spPr>
          <a:xfrm>
            <a:off x="731520" y="1737360"/>
            <a:ext cx="676656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7665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Material de punto de venta en la entrada de cada aliado verificado, siguiendo el formato que la franquicia ya usa en la región. Es la pieza de menor costo unitario del plan y la de mayor rendimiento.</a:t>
            </a:r>
          </a:p>
        </p:txBody>
      </p:sp>
      <p:sp>
        <p:nvSpPr>
          <p:cNvPr id="10" name="Rectangle 9"/>
          <p:cNvSpPr/>
          <p:nvPr/>
        </p:nvSpPr>
        <p:spPr>
          <a:xfrm>
            <a:off x="731520" y="2697480"/>
            <a:ext cx="3291840" cy="150876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RESUELVE 1</a:t>
            </a:r>
          </a:p>
        </p:txBody>
      </p:sp>
      <p:sp>
        <p:nvSpPr>
          <p:cNvPr id="12" name="TextBox 11"/>
          <p:cNvSpPr txBox="1"/>
          <p:nvPr/>
        </p:nvSpPr>
        <p:spPr>
          <a:xfrm>
            <a:off x="896112" y="3063240"/>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Señala dónde sí funciona</a:t>
            </a:r>
          </a:p>
        </p:txBody>
      </p:sp>
      <p:sp>
        <p:nvSpPr>
          <p:cNvPr id="13" name="TextBox 12"/>
          <p:cNvSpPr txBox="1"/>
          <p:nvPr/>
        </p:nvSpPr>
        <p:spPr>
          <a:xfrm>
            <a:off x="896112" y="3419856"/>
            <a:ext cx="2962656" cy="658367"/>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 la respuesta física a la barrera que el tracker identifica como riesgo de retención.</a:t>
            </a:r>
          </a:p>
        </p:txBody>
      </p:sp>
      <p:sp>
        <p:nvSpPr>
          <p:cNvPr id="14" name="Rectangle 13"/>
          <p:cNvSpPr/>
          <p:nvPr/>
        </p:nvSpPr>
        <p:spPr>
          <a:xfrm>
            <a:off x="4206240" y="2697480"/>
            <a:ext cx="3291840" cy="150876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RESUELVE 2</a:t>
            </a:r>
          </a:p>
        </p:txBody>
      </p:sp>
      <p:sp>
        <p:nvSpPr>
          <p:cNvPr id="16" name="TextBox 15"/>
          <p:cNvSpPr txBox="1"/>
          <p:nvPr/>
        </p:nvSpPr>
        <p:spPr>
          <a:xfrm>
            <a:off x="4370831" y="3063240"/>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Convierte la selección en estatus</a:t>
            </a:r>
          </a:p>
        </p:txBody>
      </p:sp>
      <p:sp>
        <p:nvSpPr>
          <p:cNvPr id="17" name="TextBox 16"/>
          <p:cNvSpPr txBox="1"/>
          <p:nvPr/>
        </p:nvSpPr>
        <p:spPr>
          <a:xfrm>
            <a:off x="4370831" y="3593592"/>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Estar en la lista prestigia al restaurante. No es publicidad que tolera: es reconocimiento que exhibe.</a:t>
            </a:r>
          </a:p>
        </p:txBody>
      </p:sp>
      <p:sp>
        <p:nvSpPr>
          <p:cNvPr id="18" name="Rectangle 17"/>
          <p:cNvSpPr/>
          <p:nvPr/>
        </p:nvSpPr>
        <p:spPr>
          <a:xfrm>
            <a:off x="731520" y="4325112"/>
            <a:ext cx="3291840" cy="150876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480560"/>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RESUELVE 3</a:t>
            </a:r>
          </a:p>
        </p:txBody>
      </p:sp>
      <p:sp>
        <p:nvSpPr>
          <p:cNvPr id="20" name="TextBox 19"/>
          <p:cNvSpPr txBox="1"/>
          <p:nvPr/>
        </p:nvSpPr>
        <p:spPr>
          <a:xfrm>
            <a:off x="896112" y="4690872"/>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Sostiene la economía de la red</a:t>
            </a:r>
          </a:p>
        </p:txBody>
      </p:sp>
      <p:sp>
        <p:nvSpPr>
          <p:cNvPr id="21" name="TextBox 20"/>
          <p:cNvSpPr txBox="1"/>
          <p:nvPr/>
        </p:nvSpPr>
        <p:spPr>
          <a:xfrm>
            <a:off x="896112" y="5221224"/>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 el argumento para que el aliado entre y pague su visibilidad.</a:t>
            </a:r>
          </a:p>
        </p:txBody>
      </p:sp>
      <p:sp>
        <p:nvSpPr>
          <p:cNvPr id="22" name="Rectangle 21"/>
          <p:cNvSpPr/>
          <p:nvPr/>
        </p:nvSpPr>
        <p:spPr>
          <a:xfrm>
            <a:off x="4206240" y="4325112"/>
            <a:ext cx="3291840" cy="150876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0831" y="4480560"/>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RESUELVE 4</a:t>
            </a:r>
          </a:p>
        </p:txBody>
      </p:sp>
      <p:sp>
        <p:nvSpPr>
          <p:cNvPr id="24" name="TextBox 23"/>
          <p:cNvSpPr txBox="1"/>
          <p:nvPr/>
        </p:nvSpPr>
        <p:spPr>
          <a:xfrm>
            <a:off x="4370831" y="4690872"/>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40 vitrinas sin costo de pauta</a:t>
            </a:r>
          </a:p>
        </p:txBody>
      </p:sp>
      <p:sp>
        <p:nvSpPr>
          <p:cNvPr id="25" name="TextBox 24"/>
          <p:cNvSpPr txBox="1"/>
          <p:nvPr/>
        </p:nvSpPr>
        <p:spPr>
          <a:xfrm>
            <a:off x="4370831" y="5221224"/>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En las mejores zonas de Bogotá. Con código al catálogo digital y, desde 2027, a la app.</a:t>
            </a:r>
          </a:p>
        </p:txBody>
      </p:sp>
      <p:sp>
        <p:nvSpPr>
          <p:cNvPr id="26" name="TextBox 25"/>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DINING MERCHANT ACCEPTANCE PUSH</a:t>
            </a:r>
          </a:p>
        </p:txBody>
      </p:sp>
      <p:sp>
        <p:nvSpPr>
          <p:cNvPr id="27" name="TextBox 26"/>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CÓMO CIERRA EL CICLO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De la revista al dato, y del dato a la app</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Cada pieza del plan alimenta la siguiente. El año uno construye la base de datos propia que el ecosistema digital de la franquicia podrá explotar desde 2027.</a:t>
            </a:r>
          </a:p>
        </p:txBody>
      </p:sp>
      <p:sp>
        <p:nvSpPr>
          <p:cNvPr id="7" name="Rectangle 6"/>
          <p:cNvSpPr/>
          <p:nvPr/>
        </p:nvSpPr>
        <p:spPr>
          <a:xfrm>
            <a:off x="731520"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01</a:t>
            </a:r>
          </a:p>
        </p:txBody>
      </p:sp>
      <p:sp>
        <p:nvSpPr>
          <p:cNvPr id="9" name="TextBox 8"/>
          <p:cNvSpPr txBox="1"/>
          <p:nvPr/>
        </p:nvSpPr>
        <p:spPr>
          <a:xfrm>
            <a:off x="896112"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ALCANCE</a:t>
            </a:r>
          </a:p>
        </p:txBody>
      </p:sp>
      <p:sp>
        <p:nvSpPr>
          <p:cNvPr id="10" name="TextBox 9"/>
          <p:cNvSpPr txBox="1"/>
          <p:nvPr/>
        </p:nvSpPr>
        <p:spPr>
          <a:xfrm>
            <a:off x="896112"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La revista entra al hogar</a:t>
            </a:r>
          </a:p>
        </p:txBody>
      </p:sp>
      <p:sp>
        <p:nvSpPr>
          <p:cNvPr id="11" name="TextBox 10"/>
          <p:cNvSpPr txBox="1"/>
          <p:nvPr/>
        </p:nvSpPr>
        <p:spPr>
          <a:xfrm>
            <a:off x="896112"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Doce veces al año, a 146.000 hogares del perfil premium. Clubmembers y prospectos.</a:t>
            </a:r>
          </a:p>
        </p:txBody>
      </p:sp>
      <p:sp>
        <p:nvSpPr>
          <p:cNvPr id="12" name="Rectangle 11"/>
          <p:cNvSpPr/>
          <p:nvPr/>
        </p:nvSpPr>
        <p:spPr>
          <a:xfrm>
            <a:off x="3456432"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1024"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02</a:t>
            </a:r>
          </a:p>
        </p:txBody>
      </p:sp>
      <p:sp>
        <p:nvSpPr>
          <p:cNvPr id="14" name="TextBox 13"/>
          <p:cNvSpPr txBox="1"/>
          <p:nvPr/>
        </p:nvSpPr>
        <p:spPr>
          <a:xfrm>
            <a:off x="3621024"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CAPTURA</a:t>
            </a:r>
          </a:p>
        </p:txBody>
      </p:sp>
      <p:sp>
        <p:nvSpPr>
          <p:cNvPr id="15" name="TextBox 14"/>
          <p:cNvSpPr txBox="1"/>
          <p:nvPr/>
        </p:nvSpPr>
        <p:spPr>
          <a:xfrm>
            <a:off x="3621024"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Código de activación</a:t>
            </a:r>
          </a:p>
        </p:txBody>
      </p:sp>
      <p:sp>
        <p:nvSpPr>
          <p:cNvPr id="16" name="TextBox 15"/>
          <p:cNvSpPr txBox="1"/>
          <p:nvPr/>
        </p:nvSpPr>
        <p:spPr>
          <a:xfrm>
            <a:off x="3621024"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Cada ejemplar lleva un código único. Convierte alcance anónimo en registro rastreable.</a:t>
            </a:r>
          </a:p>
        </p:txBody>
      </p:sp>
      <p:sp>
        <p:nvSpPr>
          <p:cNvPr id="17" name="Rectangle 16"/>
          <p:cNvSpPr/>
          <p:nvPr/>
        </p:nvSpPr>
        <p:spPr>
          <a:xfrm>
            <a:off x="6181344"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03</a:t>
            </a:r>
          </a:p>
        </p:txBody>
      </p:sp>
      <p:sp>
        <p:nvSpPr>
          <p:cNvPr id="19" name="TextBox 18"/>
          <p:cNvSpPr txBox="1"/>
          <p:nvPr/>
        </p:nvSpPr>
        <p:spPr>
          <a:xfrm>
            <a:off x="6345936"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USO</a:t>
            </a:r>
          </a:p>
        </p:txBody>
      </p:sp>
      <p:sp>
        <p:nvSpPr>
          <p:cNvPr id="20" name="TextBox 19"/>
          <p:cNvSpPr txBox="1"/>
          <p:nvPr/>
        </p:nvSpPr>
        <p:spPr>
          <a:xfrm>
            <a:off x="6345936"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Redención verificada</a:t>
            </a:r>
          </a:p>
        </p:txBody>
      </p:sp>
      <p:sp>
        <p:nvSpPr>
          <p:cNvPr id="21" name="TextBox 20"/>
          <p:cNvSpPr txBox="1"/>
          <p:nvPr/>
        </p:nvSpPr>
        <p:spPr>
          <a:xfrm>
            <a:off x="6345936"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Se redime en aliados con aceptación confirmada. Genera dato de categoría, zona y frecuencia.</a:t>
            </a:r>
          </a:p>
        </p:txBody>
      </p:sp>
      <p:sp>
        <p:nvSpPr>
          <p:cNvPr id="22" name="Rectangle 21"/>
          <p:cNvSpPr/>
          <p:nvPr/>
        </p:nvSpPr>
        <p:spPr>
          <a:xfrm>
            <a:off x="8906256" y="2606040"/>
            <a:ext cx="2542032" cy="23774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70848"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04</a:t>
            </a:r>
          </a:p>
        </p:txBody>
      </p:sp>
      <p:sp>
        <p:nvSpPr>
          <p:cNvPr id="24" name="TextBox 23"/>
          <p:cNvSpPr txBox="1"/>
          <p:nvPr/>
        </p:nvSpPr>
        <p:spPr>
          <a:xfrm>
            <a:off x="9070848"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ESCALA · DESDE 2027</a:t>
            </a:r>
          </a:p>
        </p:txBody>
      </p:sp>
      <p:sp>
        <p:nvSpPr>
          <p:cNvPr id="25" name="TextBox 24"/>
          <p:cNvSpPr txBox="1"/>
          <p:nvPr/>
        </p:nvSpPr>
        <p:spPr>
          <a:xfrm>
            <a:off x="9070848"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La app carga la selección</a:t>
            </a:r>
          </a:p>
        </p:txBody>
      </p:sp>
      <p:sp>
        <p:nvSpPr>
          <p:cNvPr id="26" name="TextBox 25"/>
          <p:cNvSpPr txBox="1"/>
          <p:nvPr/>
        </p:nvSpPr>
        <p:spPr>
          <a:xfrm>
            <a:off x="9070848"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El hub habilita que el emisor cargue ofertas locales por ubicación. La lista verificada es ese contenido.</a:t>
            </a:r>
          </a:p>
        </p:txBody>
      </p:sp>
      <p:sp>
        <p:nvSpPr>
          <p:cNvPr id="27" name="Rectangle 26"/>
          <p:cNvSpPr/>
          <p:nvPr/>
        </p:nvSpPr>
        <p:spPr>
          <a:xfrm>
            <a:off x="731520" y="5166360"/>
            <a:ext cx="10725912" cy="82296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321808"/>
            <a:ext cx="10396728"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POR QUÉ IMPORTA EL ORDEN</a:t>
            </a:r>
          </a:p>
        </p:txBody>
      </p:sp>
      <p:sp>
        <p:nvSpPr>
          <p:cNvPr id="29" name="TextBox 28"/>
          <p:cNvSpPr txBox="1"/>
          <p:nvPr/>
        </p:nvSpPr>
        <p:spPr>
          <a:xfrm>
            <a:off x="896112" y="5532120"/>
            <a:ext cx="10396728" cy="329183"/>
          </a:xfrm>
          <a:prstGeom prst="rect">
            <a:avLst/>
          </a:prstGeom>
          <a:noFill/>
        </p:spPr>
        <p:txBody>
          <a:bodyPr wrap="square" lIns="0" rIns="0" tIns="0" bIns="0" anchor="t">
            <a:spAutoFit/>
          </a:bodyPr>
          <a:lstStyle/>
          <a:p>
            <a:pPr algn="l">
              <a:lnSpc>
                <a:spcPct val="126000"/>
              </a:lnSpc>
              <a:spcAft>
                <a:spcPts val="0"/>
              </a:spcAft>
            </a:pPr>
            <a:r>
              <a:rPr sz="919" b="0">
                <a:solidFill>
                  <a:srgbClr val="D8DDE4"/>
                </a:solidFill>
                <a:latin typeface="Helvetica Neue"/>
              </a:rPr>
              <a:t>La app necesita contenido curado y aliados verificados para ser útil el día que se encienda. El año uno produce las dos cosas. Sin esa base, la funcionalidad llega vacía.</a:t>
            </a:r>
          </a:p>
        </p:txBody>
      </p:sp>
      <p:sp>
        <p:nvSpPr>
          <p:cNvPr id="30" name="TextBox 2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ALINEADO CON EL CHS BENEFITS HUB</a:t>
            </a:r>
          </a:p>
        </p:txBody>
      </p:sp>
      <p:sp>
        <p:nvSpPr>
          <p:cNvPr id="31" name="TextBox 3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EFICIENCIA DEL MODELO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Multiplicadores de la inversión</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Seis mecanismos que hacen que una misma inversión produzca resultado en más de un frente. Están incorporados en los tres paquetes.</a:t>
            </a:r>
          </a:p>
        </p:txBody>
      </p:sp>
      <p:sp>
        <p:nvSpPr>
          <p:cNvPr id="7" name="Rectangle 6"/>
          <p:cNvSpPr/>
          <p:nvPr/>
        </p:nvSpPr>
        <p:spPr>
          <a:xfrm>
            <a:off x="7315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01</a:t>
            </a:r>
          </a:p>
        </p:txBody>
      </p:sp>
      <p:sp>
        <p:nvSpPr>
          <p:cNvPr id="9" name="TextBox 8"/>
          <p:cNvSpPr txBox="1"/>
          <p:nvPr/>
        </p:nvSpPr>
        <p:spPr>
          <a:xfrm>
            <a:off x="8961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RENDIMIENTO POR PIEZA</a:t>
            </a:r>
          </a:p>
        </p:txBody>
      </p:sp>
      <p:sp>
        <p:nvSpPr>
          <p:cNvPr id="10" name="TextBox 9"/>
          <p:cNvSpPr txBox="1"/>
          <p:nvPr/>
        </p:nvSpPr>
        <p:spPr>
          <a:xfrm>
            <a:off x="8961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Una experiencia, cinco salidas</a:t>
            </a:r>
          </a:p>
        </p:txBody>
      </p:sp>
      <p:sp>
        <p:nvSpPr>
          <p:cNvPr id="11" name="TextBox 10"/>
          <p:cNvSpPr txBox="1"/>
          <p:nvPr/>
        </p:nvSpPr>
        <p:spPr>
          <a:xfrm>
            <a:off x="896112" y="3785615"/>
            <a:ext cx="3145536" cy="256032"/>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Un costo de producción, cinco superficies: evento, reel, artículo, La Mesa Diners y newsletter.</a:t>
            </a:r>
          </a:p>
        </p:txBody>
      </p:sp>
      <p:sp>
        <p:nvSpPr>
          <p:cNvPr id="12" name="Rectangle 11"/>
          <p:cNvSpPr/>
          <p:nvPr/>
        </p:nvSpPr>
        <p:spPr>
          <a:xfrm>
            <a:off x="43891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02</a:t>
            </a:r>
          </a:p>
        </p:txBody>
      </p:sp>
      <p:sp>
        <p:nvSpPr>
          <p:cNvPr id="14" name="TextBox 13"/>
          <p:cNvSpPr txBox="1"/>
          <p:nvPr/>
        </p:nvSpPr>
        <p:spPr>
          <a:xfrm>
            <a:off x="45537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TRASLADO DE COSTO</a:t>
            </a:r>
          </a:p>
        </p:txBody>
      </p:sp>
      <p:sp>
        <p:nvSpPr>
          <p:cNvPr id="15" name="TextBox 14"/>
          <p:cNvSpPr txBox="1"/>
          <p:nvPr/>
        </p:nvSpPr>
        <p:spPr>
          <a:xfrm>
            <a:off x="45537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El aliado produce la experiencia</a:t>
            </a:r>
          </a:p>
        </p:txBody>
      </p:sp>
      <p:sp>
        <p:nvSpPr>
          <p:cNvPr id="16" name="TextBox 15"/>
          <p:cNvSpPr txBox="1"/>
          <p:nvPr/>
        </p:nvSpPr>
        <p:spPr>
          <a:xfrm>
            <a:off x="4553712" y="3785615"/>
            <a:ext cx="3145536" cy="256032"/>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Aporta cocina, espacio y equipo a cambio del cubrimiento. La línea de mayor costo baja a coordinación.</a:t>
            </a:r>
          </a:p>
        </p:txBody>
      </p:sp>
      <p:sp>
        <p:nvSpPr>
          <p:cNvPr id="17" name="Rectangle 16"/>
          <p:cNvSpPr/>
          <p:nvPr/>
        </p:nvSpPr>
        <p:spPr>
          <a:xfrm>
            <a:off x="80467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03</a:t>
            </a:r>
          </a:p>
        </p:txBody>
      </p:sp>
      <p:sp>
        <p:nvSpPr>
          <p:cNvPr id="19" name="TextBox 18"/>
          <p:cNvSpPr txBox="1"/>
          <p:nvPr/>
        </p:nvSpPr>
        <p:spPr>
          <a:xfrm>
            <a:off x="82113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ACTIVO EXISTENTE</a:t>
            </a:r>
          </a:p>
        </p:txBody>
      </p:sp>
      <p:sp>
        <p:nvSpPr>
          <p:cNvPr id="20" name="TextBox 19"/>
          <p:cNvSpPr txBox="1"/>
          <p:nvPr/>
        </p:nvSpPr>
        <p:spPr>
          <a:xfrm>
            <a:off x="82113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Sesenta años de archivo</a:t>
            </a:r>
          </a:p>
        </p:txBody>
      </p:sp>
      <p:sp>
        <p:nvSpPr>
          <p:cNvPr id="21" name="TextBox 20"/>
          <p:cNvSpPr txBox="1"/>
          <p:nvPr/>
        </p:nvSpPr>
        <p:spPr>
          <a:xfrm>
            <a:off x="8211312" y="3611879"/>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El archivo editorial y los datos del programa se vuelven publicación anual con potencial de prensa.</a:t>
            </a:r>
          </a:p>
        </p:txBody>
      </p:sp>
      <p:sp>
        <p:nvSpPr>
          <p:cNvPr id="22" name="Rectangle 21"/>
          <p:cNvSpPr/>
          <p:nvPr/>
        </p:nvSpPr>
        <p:spPr>
          <a:xfrm>
            <a:off x="7315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04</a:t>
            </a:r>
          </a:p>
        </p:txBody>
      </p:sp>
      <p:sp>
        <p:nvSpPr>
          <p:cNvPr id="24" name="TextBox 23"/>
          <p:cNvSpPr txBox="1"/>
          <p:nvPr/>
        </p:nvSpPr>
        <p:spPr>
          <a:xfrm>
            <a:off x="8961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RED COMO CANAL</a:t>
            </a:r>
          </a:p>
        </p:txBody>
      </p:sp>
      <p:sp>
        <p:nvSpPr>
          <p:cNvPr id="25" name="TextBox 24"/>
          <p:cNvSpPr txBox="1"/>
          <p:nvPr/>
        </p:nvSpPr>
        <p:spPr>
          <a:xfrm>
            <a:off x="8961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40 cuentas publicando</a:t>
            </a:r>
          </a:p>
        </p:txBody>
      </p:sp>
      <p:sp>
        <p:nvSpPr>
          <p:cNvPr id="26" name="TextBox 25"/>
          <p:cNvSpPr txBox="1"/>
          <p:nvPr/>
        </p:nvSpPr>
        <p:spPr>
          <a:xfrm>
            <a:off x="896112" y="5349240"/>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Cada aliado promueve el beneficio porque le genera tráfico de alto ticket. Sin inversión en medios.</a:t>
            </a:r>
          </a:p>
        </p:txBody>
      </p:sp>
      <p:sp>
        <p:nvSpPr>
          <p:cNvPr id="27" name="Rectangle 26"/>
          <p:cNvSpPr/>
          <p:nvPr/>
        </p:nvSpPr>
        <p:spPr>
          <a:xfrm>
            <a:off x="43891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05</a:t>
            </a:r>
          </a:p>
        </p:txBody>
      </p:sp>
      <p:sp>
        <p:nvSpPr>
          <p:cNvPr id="29" name="TextBox 28"/>
          <p:cNvSpPr txBox="1"/>
          <p:nvPr/>
        </p:nvSpPr>
        <p:spPr>
          <a:xfrm>
            <a:off x="45537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AJUSTE SIN DESCUENTO</a:t>
            </a:r>
          </a:p>
        </p:txBody>
      </p:sp>
      <p:sp>
        <p:nvSpPr>
          <p:cNvPr id="30" name="TextBox 29"/>
          <p:cNvSpPr txBox="1"/>
          <p:nvPr/>
        </p:nvSpPr>
        <p:spPr>
          <a:xfrm>
            <a:off x="45537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AXXIS como variable</a:t>
            </a:r>
          </a:p>
        </p:txBody>
      </p:sp>
      <p:sp>
        <p:nvSpPr>
          <p:cNvPr id="31" name="TextBox 30"/>
          <p:cNvSpPr txBox="1"/>
          <p:nvPr/>
        </p:nvSpPr>
        <p:spPr>
          <a:xfrm>
            <a:off x="4553712" y="5349240"/>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Ficha idéntica con tarifa menor. Amplía cobertura sin afectar el valor del plan.</a:t>
            </a:r>
          </a:p>
        </p:txBody>
      </p:sp>
      <p:sp>
        <p:nvSpPr>
          <p:cNvPr id="32" name="Rectangle 31"/>
          <p:cNvSpPr/>
          <p:nvPr/>
        </p:nvSpPr>
        <p:spPr>
          <a:xfrm>
            <a:off x="80467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113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06</a:t>
            </a:r>
          </a:p>
        </p:txBody>
      </p:sp>
      <p:sp>
        <p:nvSpPr>
          <p:cNvPr id="34" name="TextBox 33"/>
          <p:cNvSpPr txBox="1"/>
          <p:nvPr/>
        </p:nvSpPr>
        <p:spPr>
          <a:xfrm>
            <a:off x="82113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CONTENIDO DEL SOCIO</a:t>
            </a:r>
          </a:p>
        </p:txBody>
      </p:sp>
      <p:sp>
        <p:nvSpPr>
          <p:cNvPr id="35" name="TextBox 34"/>
          <p:cNvSpPr txBox="1"/>
          <p:nvPr/>
        </p:nvSpPr>
        <p:spPr>
          <a:xfrm>
            <a:off x="82113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La selección la nominan ellos</a:t>
            </a:r>
          </a:p>
        </p:txBody>
      </p:sp>
      <p:sp>
        <p:nvSpPr>
          <p:cNvPr id="36" name="TextBox 35"/>
          <p:cNvSpPr txBox="1"/>
          <p:nvPr/>
        </p:nvSpPr>
        <p:spPr>
          <a:xfrm>
            <a:off x="8211312" y="5522976"/>
            <a:ext cx="3145536" cy="256031"/>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Contenido sin costo, datos de preferencia inexistentes hoy y pertenencia sobre la lista.</a:t>
            </a:r>
          </a:p>
        </p:txBody>
      </p:sp>
      <p:sp>
        <p:nvSpPr>
          <p:cNvPr id="37" name="TextBox 36"/>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LAS SEIS OPERAN EN LOS TRES PAQUETES</a:t>
            </a:r>
          </a:p>
        </p:txBody>
      </p:sp>
      <p:sp>
        <p:nvSpPr>
          <p:cNvPr id="38" name="TextBox 37"/>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LAS OPCIONES</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Tres paquetes</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misma estrategia, en tres tamaños. Todos incluyen la suscripción a la Revista Diners con 60% de beneficio exclusivo y código de activación.</a:t>
            </a:r>
          </a:p>
        </p:txBody>
      </p:sp>
      <p:sp>
        <p:nvSpPr>
          <p:cNvPr id="7" name="Rectangle 6"/>
          <p:cNvSpPr/>
          <p:nvPr/>
        </p:nvSpPr>
        <p:spPr>
          <a:xfrm>
            <a:off x="731520" y="2542032"/>
            <a:ext cx="3474720" cy="342900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697479"/>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PAQUETE A</a:t>
            </a:r>
          </a:p>
        </p:txBody>
      </p:sp>
      <p:sp>
        <p:nvSpPr>
          <p:cNvPr id="9" name="TextBox 8"/>
          <p:cNvSpPr txBox="1"/>
          <p:nvPr/>
        </p:nvSpPr>
        <p:spPr>
          <a:xfrm>
            <a:off x="896112" y="2907791"/>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Esencial</a:t>
            </a:r>
          </a:p>
        </p:txBody>
      </p:sp>
      <p:sp>
        <p:nvSpPr>
          <p:cNvPr id="10" name="TextBox 9"/>
          <p:cNvSpPr txBox="1"/>
          <p:nvPr/>
        </p:nvSpPr>
        <p:spPr>
          <a:xfrm>
            <a:off x="896112" y="3264408"/>
            <a:ext cx="3145536" cy="2578608"/>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Instalar la marca y probar el programa sin comprometer el año entero.</a:t>
            </a:r>
          </a:p>
        </p:txBody>
      </p:sp>
      <p:sp>
        <p:nvSpPr>
          <p:cNvPr id="11" name="TextBox 10"/>
          <p:cNvSpPr txBox="1"/>
          <p:nvPr/>
        </p:nvSpPr>
        <p:spPr>
          <a:xfrm>
            <a:off x="896112" y="3575303"/>
            <a:ext cx="3145536" cy="2267712"/>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Pauta dinámica los 12 meses</a:t>
            </a:r>
          </a:p>
          <a:p>
            <a:pPr algn="l">
              <a:lnSpc>
                <a:spcPct val="119000"/>
              </a:lnSpc>
              <a:spcAft>
                <a:spcPts val="320"/>
              </a:spcAft>
            </a:pPr>
            <a:r>
              <a:rPr sz="840" b="0">
                <a:solidFill>
                  <a:srgbClr val="14263D"/>
                </a:solidFill>
                <a:latin typeface="Helvetica Neue"/>
              </a:rPr>
              <a:t>•  Una pieza de alto impacto de lanzamiento</a:t>
            </a:r>
          </a:p>
          <a:p>
            <a:pPr algn="l">
              <a:lnSpc>
                <a:spcPct val="119000"/>
              </a:lnSpc>
              <a:spcAft>
                <a:spcPts val="320"/>
              </a:spcAft>
            </a:pPr>
            <a:r>
              <a:rPr sz="840" b="0">
                <a:solidFill>
                  <a:srgbClr val="14263D"/>
                </a:solidFill>
                <a:latin typeface="Helvetica Neue"/>
              </a:rPr>
              <a:t>•  Mesa Diners Club en 20 aliados, Bogotá</a:t>
            </a:r>
          </a:p>
          <a:p>
            <a:pPr algn="l">
              <a:lnSpc>
                <a:spcPct val="119000"/>
              </a:lnSpc>
              <a:spcAft>
                <a:spcPts val="320"/>
              </a:spcAft>
            </a:pPr>
            <a:r>
              <a:rPr sz="840" b="0">
                <a:solidFill>
                  <a:srgbClr val="14263D"/>
                </a:solidFill>
                <a:latin typeface="Helvetica Neue"/>
              </a:rPr>
              <a:t>•  2 experiencias OBI</a:t>
            </a:r>
          </a:p>
          <a:p>
            <a:pPr algn="l">
              <a:lnSpc>
                <a:spcPct val="119000"/>
              </a:lnSpc>
              <a:spcAft>
                <a:spcPts val="320"/>
              </a:spcAft>
            </a:pPr>
            <a:r>
              <a:rPr sz="840" b="0">
                <a:solidFill>
                  <a:srgbClr val="14263D"/>
                </a:solidFill>
                <a:latin typeface="Helvetica Neue"/>
              </a:rPr>
              <a:t>•  Solo Revista Diners</a:t>
            </a:r>
          </a:p>
        </p:txBody>
      </p:sp>
      <p:sp>
        <p:nvSpPr>
          <p:cNvPr id="12" name="Rectangle 11"/>
          <p:cNvSpPr/>
          <p:nvPr/>
        </p:nvSpPr>
        <p:spPr>
          <a:xfrm>
            <a:off x="4389120" y="2542032"/>
            <a:ext cx="3474720" cy="342900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53712" y="2697479"/>
            <a:ext cx="1005840" cy="219456"/>
          </a:xfrm>
          <a:prstGeom prst="rect">
            <a:avLst/>
          </a:prstGeom>
          <a:solidFill>
            <a:srgbClr val="8A6B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738627"/>
            <a:ext cx="896112" cy="164592"/>
          </a:xfrm>
          <a:prstGeom prst="rect">
            <a:avLst/>
          </a:prstGeom>
          <a:noFill/>
        </p:spPr>
        <p:txBody>
          <a:bodyPr wrap="square" lIns="0" rIns="0" tIns="0" bIns="0" anchor="t">
            <a:spAutoFit/>
          </a:bodyPr>
          <a:lstStyle/>
          <a:p>
            <a:pPr algn="l">
              <a:lnSpc>
                <a:spcPct val="108000"/>
              </a:lnSpc>
              <a:spcAft>
                <a:spcPts val="0"/>
              </a:spcAft>
            </a:pPr>
            <a:r>
              <a:rPr sz="650" b="1">
                <a:solidFill>
                  <a:srgbClr val="FFFFFF"/>
                </a:solidFill>
                <a:latin typeface="Helvetica Neue"/>
              </a:rPr>
              <a:t>RECOMENDADO</a:t>
            </a:r>
          </a:p>
        </p:txBody>
      </p:sp>
      <p:sp>
        <p:nvSpPr>
          <p:cNvPr id="15" name="TextBox 14"/>
          <p:cNvSpPr txBox="1"/>
          <p:nvPr/>
        </p:nvSpPr>
        <p:spPr>
          <a:xfrm>
            <a:off x="4553712" y="299923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PAQUETE B</a:t>
            </a:r>
          </a:p>
        </p:txBody>
      </p:sp>
      <p:sp>
        <p:nvSpPr>
          <p:cNvPr id="16" name="TextBox 15"/>
          <p:cNvSpPr txBox="1"/>
          <p:nvPr/>
        </p:nvSpPr>
        <p:spPr>
          <a:xfrm>
            <a:off x="4553712" y="3209544"/>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Completo</a:t>
            </a:r>
          </a:p>
        </p:txBody>
      </p:sp>
      <p:sp>
        <p:nvSpPr>
          <p:cNvPr id="17" name="TextBox 16"/>
          <p:cNvSpPr txBox="1"/>
          <p:nvPr/>
        </p:nvSpPr>
        <p:spPr>
          <a:xfrm>
            <a:off x="4553712" y="3566160"/>
            <a:ext cx="3145536" cy="2276856"/>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El año completo con las tres capas operando y dato propio a escala.</a:t>
            </a:r>
          </a:p>
        </p:txBody>
      </p:sp>
      <p:sp>
        <p:nvSpPr>
          <p:cNvPr id="18" name="TextBox 17"/>
          <p:cNvSpPr txBox="1"/>
          <p:nvPr/>
        </p:nvSpPr>
        <p:spPr>
          <a:xfrm>
            <a:off x="4553712" y="3877056"/>
            <a:ext cx="3145536" cy="1965959"/>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59 piezas en medios propios: Diners y AXXIS</a:t>
            </a:r>
          </a:p>
          <a:p>
            <a:pPr algn="l">
              <a:lnSpc>
                <a:spcPct val="119000"/>
              </a:lnSpc>
              <a:spcAft>
                <a:spcPts val="320"/>
              </a:spcAft>
            </a:pPr>
            <a:r>
              <a:rPr sz="840" b="0">
                <a:solidFill>
                  <a:srgbClr val="14263D"/>
                </a:solidFill>
                <a:latin typeface="Helvetica Neue"/>
              </a:rPr>
              <a:t>•  20 campañas digitales en 5 canales</a:t>
            </a:r>
          </a:p>
          <a:p>
            <a:pPr algn="l">
              <a:lnSpc>
                <a:spcPct val="119000"/>
              </a:lnSpc>
              <a:spcAft>
                <a:spcPts val="320"/>
              </a:spcAft>
            </a:pPr>
            <a:r>
              <a:rPr sz="840" b="0">
                <a:solidFill>
                  <a:srgbClr val="14263D"/>
                </a:solidFill>
                <a:latin typeface="Helvetica Neue"/>
              </a:rPr>
              <a:t>•  Alto impacto: portada falsa, carnet, gatefold</a:t>
            </a:r>
          </a:p>
          <a:p>
            <a:pPr algn="l">
              <a:lnSpc>
                <a:spcPct val="119000"/>
              </a:lnSpc>
              <a:spcAft>
                <a:spcPts val="320"/>
              </a:spcAft>
            </a:pPr>
            <a:r>
              <a:rPr sz="840" b="0">
                <a:solidFill>
                  <a:srgbClr val="14263D"/>
                </a:solidFill>
                <a:latin typeface="Helvetica Neue"/>
              </a:rPr>
              <a:t>•  Mesa Diners Club en 40 aliados, Bogotá</a:t>
            </a:r>
          </a:p>
          <a:p>
            <a:pPr algn="l">
              <a:lnSpc>
                <a:spcPct val="119000"/>
              </a:lnSpc>
              <a:spcAft>
                <a:spcPts val="320"/>
              </a:spcAft>
            </a:pPr>
            <a:r>
              <a:rPr sz="840" b="0">
                <a:solidFill>
                  <a:srgbClr val="14263D"/>
                </a:solidFill>
                <a:latin typeface="Helvetica Neue"/>
              </a:rPr>
              <a:t>•  La Mesa Diners en los tres soportes</a:t>
            </a:r>
          </a:p>
          <a:p>
            <a:pPr algn="l">
              <a:lnSpc>
                <a:spcPct val="119000"/>
              </a:lnSpc>
              <a:spcAft>
                <a:spcPts val="320"/>
              </a:spcAft>
            </a:pPr>
            <a:r>
              <a:rPr sz="840" b="0">
                <a:solidFill>
                  <a:srgbClr val="14263D"/>
                </a:solidFill>
                <a:latin typeface="Helvetica Neue"/>
              </a:rPr>
              <a:t>•  6 experiencias OBI</a:t>
            </a:r>
          </a:p>
          <a:p>
            <a:pPr algn="l">
              <a:lnSpc>
                <a:spcPct val="119000"/>
              </a:lnSpc>
              <a:spcAft>
                <a:spcPts val="320"/>
              </a:spcAft>
            </a:pPr>
            <a:r>
              <a:rPr sz="840" b="0">
                <a:solidFill>
                  <a:srgbClr val="14263D"/>
                </a:solidFill>
                <a:latin typeface="Helvetica Neue"/>
              </a:rPr>
              <a:t>•  Tablero de cohortes e informe de año</a:t>
            </a:r>
          </a:p>
        </p:txBody>
      </p:sp>
      <p:sp>
        <p:nvSpPr>
          <p:cNvPr id="19" name="Rectangle 18"/>
          <p:cNvSpPr/>
          <p:nvPr/>
        </p:nvSpPr>
        <p:spPr>
          <a:xfrm>
            <a:off x="8046720" y="2542032"/>
            <a:ext cx="3474720" cy="342900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2697479"/>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PAQUETE C</a:t>
            </a:r>
          </a:p>
        </p:txBody>
      </p:sp>
      <p:sp>
        <p:nvSpPr>
          <p:cNvPr id="21" name="TextBox 20"/>
          <p:cNvSpPr txBox="1"/>
          <p:nvPr/>
        </p:nvSpPr>
        <p:spPr>
          <a:xfrm>
            <a:off x="8211312" y="2907791"/>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Insignia</a:t>
            </a:r>
          </a:p>
        </p:txBody>
      </p:sp>
      <p:sp>
        <p:nvSpPr>
          <p:cNvPr id="22" name="TextBox 21"/>
          <p:cNvSpPr txBox="1"/>
          <p:nvPr/>
        </p:nvSpPr>
        <p:spPr>
          <a:xfrm>
            <a:off x="8211312" y="3264408"/>
            <a:ext cx="3145536" cy="2578608"/>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El año completo más un activo editorial que sobrevive a la campaña.</a:t>
            </a:r>
          </a:p>
        </p:txBody>
      </p:sp>
      <p:sp>
        <p:nvSpPr>
          <p:cNvPr id="23" name="TextBox 22"/>
          <p:cNvSpPr txBox="1"/>
          <p:nvPr/>
        </p:nvSpPr>
        <p:spPr>
          <a:xfrm>
            <a:off x="8211312" y="3575303"/>
            <a:ext cx="3145536" cy="2267712"/>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Todo lo del Paquete B</a:t>
            </a:r>
          </a:p>
          <a:p>
            <a:pPr algn="l">
              <a:lnSpc>
                <a:spcPct val="119000"/>
              </a:lnSpc>
              <a:spcAft>
                <a:spcPts val="320"/>
              </a:spcAft>
            </a:pPr>
            <a:r>
              <a:rPr sz="840" b="0">
                <a:solidFill>
                  <a:srgbClr val="14263D"/>
                </a:solidFill>
                <a:latin typeface="Helvetica Neue"/>
              </a:rPr>
              <a:t>•  Línea de video con personaje</a:t>
            </a:r>
          </a:p>
          <a:p>
            <a:pPr algn="l">
              <a:lnSpc>
                <a:spcPct val="119000"/>
              </a:lnSpc>
              <a:spcAft>
                <a:spcPts val="320"/>
              </a:spcAft>
            </a:pPr>
            <a:r>
              <a:rPr sz="840" b="0">
                <a:solidFill>
                  <a:srgbClr val="14263D"/>
                </a:solidFill>
                <a:latin typeface="Helvetica Neue"/>
              </a:rPr>
              <a:t>•  Evento insignia anual con los aliados</a:t>
            </a:r>
          </a:p>
          <a:p>
            <a:pPr algn="l">
              <a:lnSpc>
                <a:spcPct val="119000"/>
              </a:lnSpc>
              <a:spcAft>
                <a:spcPts val="320"/>
              </a:spcAft>
            </a:pPr>
            <a:r>
              <a:rPr sz="840" b="0">
                <a:solidFill>
                  <a:srgbClr val="14263D"/>
                </a:solidFill>
                <a:latin typeface="Helvetica Neue"/>
              </a:rPr>
              <a:t>•  8 OBI y apertura a una segunda ciudad</a:t>
            </a:r>
          </a:p>
          <a:p>
            <a:pPr algn="l">
              <a:lnSpc>
                <a:spcPct val="119000"/>
              </a:lnSpc>
              <a:spcAft>
                <a:spcPts val="320"/>
              </a:spcAft>
            </a:pPr>
            <a:r>
              <a:rPr sz="840" b="0">
                <a:solidFill>
                  <a:srgbClr val="14263D"/>
                </a:solidFill>
                <a:latin typeface="Helvetica Neue"/>
              </a:rPr>
              <a:t>•  Compendio coleccionable de fin de año</a:t>
            </a:r>
          </a:p>
          <a:p>
            <a:pPr algn="l">
              <a:lnSpc>
                <a:spcPct val="119000"/>
              </a:lnSpc>
              <a:spcAft>
                <a:spcPts val="320"/>
              </a:spcAft>
            </a:pPr>
            <a:r>
              <a:rPr sz="840" b="0">
                <a:solidFill>
                  <a:srgbClr val="14263D"/>
                </a:solidFill>
                <a:latin typeface="Helvetica Neue"/>
              </a:rPr>
              <a:t>•  Base para el premio gastronómico colombiano</a:t>
            </a:r>
          </a:p>
        </p:txBody>
      </p:sp>
      <p:sp>
        <p:nvSpPr>
          <p:cNvPr id="24" name="TextBox 23"/>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VALORES POR SEPARADO EN LA COTIZACIÓN</a:t>
            </a:r>
          </a:p>
        </p:txBody>
      </p:sp>
      <p:sp>
        <p:nvSpPr>
          <p:cNvPr id="25" name="TextBox 24"/>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COMPARATIVO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Qué incluye cada paquete</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2103120"/>
          <a:ext cx="10725912" cy="3374136"/>
        </p:xfrm>
        <a:graphic>
          <a:graphicData uri="http://schemas.openxmlformats.org/drawingml/2006/table">
            <a:tbl>
              <a:tblPr firstRow="1" bandRow="1">
                <a:tableStyleId>{5C22544A-7EE6-4342-B048-85BDC9FD1C3A}</a:tableStyleId>
              </a:tblPr>
              <a:tblGrid>
                <a:gridCol w="2468880"/>
                <a:gridCol w="2743200"/>
                <a:gridCol w="2743200"/>
                <a:gridCol w="2770632"/>
              </a:tblGrid>
              <a:tr h="374904">
                <a:tc>
                  <a:txBody>
                    <a:bodyPr/>
                    <a:lstStyle/>
                    <a:p>
                      <a:r>
                        <a:rPr sz="840" b="1">
                          <a:solidFill>
                            <a:srgbClr val="FFFFFF"/>
                          </a:solidFill>
                          <a:latin typeface="Helvetica Neue"/>
                        </a:rPr>
                        <a:t>Componente</a:t>
                      </a:r>
                    </a:p>
                  </a:txBody>
                  <a:tcPr marL="73152" marR="45720" anchor="ctr">
                    <a:solidFill>
                      <a:srgbClr val="0A2540"/>
                    </a:solidFill>
                  </a:tcPr>
                </a:tc>
                <a:tc>
                  <a:txBody>
                    <a:bodyPr/>
                    <a:lstStyle/>
                    <a:p>
                      <a:r>
                        <a:rPr sz="840" b="1">
                          <a:solidFill>
                            <a:srgbClr val="FFFFFF"/>
                          </a:solidFill>
                          <a:latin typeface="Helvetica Neue"/>
                        </a:rPr>
                        <a:t>A · Esencial</a:t>
                      </a:r>
                    </a:p>
                  </a:txBody>
                  <a:tcPr marL="73152" marR="45720" anchor="ctr">
                    <a:solidFill>
                      <a:srgbClr val="0A2540"/>
                    </a:solidFill>
                  </a:tcPr>
                </a:tc>
                <a:tc>
                  <a:txBody>
                    <a:bodyPr/>
                    <a:lstStyle/>
                    <a:p>
                      <a:r>
                        <a:rPr sz="840" b="1">
                          <a:solidFill>
                            <a:srgbClr val="FFFFFF"/>
                          </a:solidFill>
                          <a:latin typeface="Helvetica Neue"/>
                        </a:rPr>
                        <a:t>B · Completo</a:t>
                      </a:r>
                    </a:p>
                  </a:txBody>
                  <a:tcPr marL="73152" marR="45720" anchor="ctr">
                    <a:solidFill>
                      <a:srgbClr val="8A6B1F"/>
                    </a:solidFill>
                  </a:tcPr>
                </a:tc>
                <a:tc>
                  <a:txBody>
                    <a:bodyPr/>
                    <a:lstStyle/>
                    <a:p>
                      <a:r>
                        <a:rPr sz="840" b="1">
                          <a:solidFill>
                            <a:srgbClr val="FFFFFF"/>
                          </a:solidFill>
                          <a:latin typeface="Helvetica Neue"/>
                        </a:rPr>
                        <a:t>C · Insignia</a:t>
                      </a:r>
                    </a:p>
                  </a:txBody>
                  <a:tcPr marL="73152" marR="45720" anchor="ctr">
                    <a:solidFill>
                      <a:srgbClr val="0A2540"/>
                    </a:solidFill>
                  </a:tcPr>
                </a:tc>
              </a:tr>
              <a:tr h="374904">
                <a:tc>
                  <a:txBody>
                    <a:bodyPr/>
                    <a:lstStyle/>
                    <a:p>
                      <a:r>
                        <a:rPr sz="900" b="1">
                          <a:solidFill>
                            <a:srgbClr val="0A2540"/>
                          </a:solidFill>
                          <a:latin typeface="Georgia"/>
                        </a:rPr>
                        <a:t>Medios propios</a:t>
                      </a:r>
                    </a:p>
                  </a:txBody>
                  <a:tcPr marL="73152" marR="45720" anchor="ctr">
                    <a:solidFill>
                      <a:srgbClr val="FFFDF9"/>
                    </a:solidFill>
                  </a:tcPr>
                </a:tc>
                <a:tc>
                  <a:txBody>
                    <a:bodyPr/>
                    <a:lstStyle/>
                    <a:p>
                      <a:r>
                        <a:rPr sz="900" b="0">
                          <a:solidFill>
                            <a:srgbClr val="0A2540"/>
                          </a:solidFill>
                          <a:latin typeface="Georgia"/>
                        </a:rPr>
                        <a:t>Pauta dinámica + 1 alto impacto</a:t>
                      </a:r>
                    </a:p>
                  </a:txBody>
                  <a:tcPr marL="73152" marR="45720" anchor="ctr">
                    <a:solidFill>
                      <a:srgbClr val="FFFDF9"/>
                    </a:solidFill>
                  </a:tcPr>
                </a:tc>
                <a:tc>
                  <a:txBody>
                    <a:bodyPr/>
                    <a:lstStyle/>
                    <a:p>
                      <a:r>
                        <a:rPr sz="900" b="1">
                          <a:solidFill>
                            <a:srgbClr val="0A2540"/>
                          </a:solidFill>
                          <a:latin typeface="Georgia"/>
                        </a:rPr>
                        <a:t>59 piezas</a:t>
                      </a:r>
                    </a:p>
                  </a:txBody>
                  <a:tcPr marL="73152" marR="45720" anchor="ctr">
                    <a:solidFill>
                      <a:srgbClr val="F4EAD5"/>
                    </a:solidFill>
                  </a:tcPr>
                </a:tc>
                <a:tc>
                  <a:txBody>
                    <a:bodyPr/>
                    <a:lstStyle/>
                    <a:p>
                      <a:r>
                        <a:rPr sz="900" b="0">
                          <a:solidFill>
                            <a:srgbClr val="0A2540"/>
                          </a:solidFill>
                          <a:latin typeface="Georgia"/>
                        </a:rPr>
                        <a:t>59 piezas + evento insignia</a:t>
                      </a:r>
                    </a:p>
                  </a:txBody>
                  <a:tcPr marL="73152" marR="45720" anchor="ctr">
                    <a:solidFill>
                      <a:srgbClr val="FFFDF9"/>
                    </a:solidFill>
                  </a:tcPr>
                </a:tc>
              </a:tr>
              <a:tr h="374904">
                <a:tc>
                  <a:txBody>
                    <a:bodyPr/>
                    <a:lstStyle/>
                    <a:p>
                      <a:r>
                        <a:rPr sz="900" b="1">
                          <a:solidFill>
                            <a:srgbClr val="0A2540"/>
                          </a:solidFill>
                          <a:latin typeface="Georgia"/>
                        </a:rPr>
                        <a:t>Marcas</a:t>
                      </a:r>
                    </a:p>
                  </a:txBody>
                  <a:tcPr marL="73152" marR="45720" anchor="ctr">
                    <a:solidFill>
                      <a:srgbClr val="F6F3EC"/>
                    </a:solidFill>
                  </a:tcPr>
                </a:tc>
                <a:tc>
                  <a:txBody>
                    <a:bodyPr/>
                    <a:lstStyle/>
                    <a:p>
                      <a:r>
                        <a:rPr sz="900" b="0">
                          <a:solidFill>
                            <a:srgbClr val="0A2540"/>
                          </a:solidFill>
                          <a:latin typeface="Georgia"/>
                        </a:rPr>
                        <a:t>Solo Diners</a:t>
                      </a:r>
                    </a:p>
                  </a:txBody>
                  <a:tcPr marL="73152" marR="45720" anchor="ctr">
                    <a:solidFill>
                      <a:srgbClr val="F6F3EC"/>
                    </a:solidFill>
                  </a:tcPr>
                </a:tc>
                <a:tc>
                  <a:txBody>
                    <a:bodyPr/>
                    <a:lstStyle/>
                    <a:p>
                      <a:r>
                        <a:rPr sz="900" b="1">
                          <a:solidFill>
                            <a:srgbClr val="0A2540"/>
                          </a:solidFill>
                          <a:latin typeface="Georgia"/>
                        </a:rPr>
                        <a:t>Diners + AXXIS</a:t>
                      </a:r>
                    </a:p>
                  </a:txBody>
                  <a:tcPr marL="73152" marR="45720" anchor="ctr">
                    <a:solidFill>
                      <a:srgbClr val="F4EAD5"/>
                    </a:solidFill>
                  </a:tcPr>
                </a:tc>
                <a:tc>
                  <a:txBody>
                    <a:bodyPr/>
                    <a:lstStyle/>
                    <a:p>
                      <a:r>
                        <a:rPr sz="900" b="0">
                          <a:solidFill>
                            <a:srgbClr val="0A2540"/>
                          </a:solidFill>
                          <a:latin typeface="Georgia"/>
                        </a:rPr>
                        <a:t>Diners + AXXIS</a:t>
                      </a:r>
                    </a:p>
                  </a:txBody>
                  <a:tcPr marL="73152" marR="45720" anchor="ctr">
                    <a:solidFill>
                      <a:srgbClr val="F6F3EC"/>
                    </a:solidFill>
                  </a:tcPr>
                </a:tc>
              </a:tr>
              <a:tr h="374904">
                <a:tc>
                  <a:txBody>
                    <a:bodyPr/>
                    <a:lstStyle/>
                    <a:p>
                      <a:r>
                        <a:rPr sz="900" b="1">
                          <a:solidFill>
                            <a:srgbClr val="0A2540"/>
                          </a:solidFill>
                          <a:latin typeface="Georgia"/>
                        </a:rPr>
                        <a:t>Pauta digital</a:t>
                      </a:r>
                    </a:p>
                  </a:txBody>
                  <a:tcPr marL="73152" marR="45720" anchor="ctr">
                    <a:solidFill>
                      <a:srgbClr val="FFFDF9"/>
                    </a:solidFill>
                  </a:tcPr>
                </a:tc>
                <a:tc>
                  <a:txBody>
                    <a:bodyPr/>
                    <a:lstStyle/>
                    <a:p>
                      <a:r>
                        <a:rPr sz="900" b="0">
                          <a:solidFill>
                            <a:srgbClr val="0A2540"/>
                          </a:solidFill>
                          <a:latin typeface="Georgia"/>
                        </a:rPr>
                        <a:t>—</a:t>
                      </a:r>
                    </a:p>
                  </a:txBody>
                  <a:tcPr marL="73152" marR="45720" anchor="ctr">
                    <a:solidFill>
                      <a:srgbClr val="FFFDF9"/>
                    </a:solidFill>
                  </a:tcPr>
                </a:tc>
                <a:tc>
                  <a:txBody>
                    <a:bodyPr/>
                    <a:lstStyle/>
                    <a:p>
                      <a:r>
                        <a:rPr sz="900" b="1">
                          <a:solidFill>
                            <a:srgbClr val="0A2540"/>
                          </a:solidFill>
                          <a:latin typeface="Georgia"/>
                        </a:rPr>
                        <a:t>20 campañas, 5 canales</a:t>
                      </a:r>
                    </a:p>
                  </a:txBody>
                  <a:tcPr marL="73152" marR="45720" anchor="ctr">
                    <a:solidFill>
                      <a:srgbClr val="F4EAD5"/>
                    </a:solidFill>
                  </a:tcPr>
                </a:tc>
                <a:tc>
                  <a:txBody>
                    <a:bodyPr/>
                    <a:lstStyle/>
                    <a:p>
                      <a:r>
                        <a:rPr sz="900" b="0">
                          <a:solidFill>
                            <a:srgbClr val="0A2540"/>
                          </a:solidFill>
                          <a:latin typeface="Georgia"/>
                        </a:rPr>
                        <a:t>20 campañas, 5 canales</a:t>
                      </a:r>
                    </a:p>
                  </a:txBody>
                  <a:tcPr marL="73152" marR="45720" anchor="ctr">
                    <a:solidFill>
                      <a:srgbClr val="FFFDF9"/>
                    </a:solidFill>
                  </a:tcPr>
                </a:tc>
              </a:tr>
              <a:tr h="374904">
                <a:tc>
                  <a:txBody>
                    <a:bodyPr/>
                    <a:lstStyle/>
                    <a:p>
                      <a:r>
                        <a:rPr sz="900" b="1">
                          <a:solidFill>
                            <a:srgbClr val="0A2540"/>
                          </a:solidFill>
                          <a:latin typeface="Georgia"/>
                        </a:rPr>
                        <a:t>Mesa Diners Club</a:t>
                      </a:r>
                    </a:p>
                  </a:txBody>
                  <a:tcPr marL="73152" marR="45720" anchor="ctr">
                    <a:solidFill>
                      <a:srgbClr val="F6F3EC"/>
                    </a:solidFill>
                  </a:tcPr>
                </a:tc>
                <a:tc>
                  <a:txBody>
                    <a:bodyPr/>
                    <a:lstStyle/>
                    <a:p>
                      <a:r>
                        <a:rPr sz="900" b="0">
                          <a:solidFill>
                            <a:srgbClr val="0A2540"/>
                          </a:solidFill>
                          <a:latin typeface="Georgia"/>
                        </a:rPr>
                        <a:t>20 aliados, Bogotá</a:t>
                      </a:r>
                    </a:p>
                  </a:txBody>
                  <a:tcPr marL="73152" marR="45720" anchor="ctr">
                    <a:solidFill>
                      <a:srgbClr val="F6F3EC"/>
                    </a:solidFill>
                  </a:tcPr>
                </a:tc>
                <a:tc>
                  <a:txBody>
                    <a:bodyPr/>
                    <a:lstStyle/>
                    <a:p>
                      <a:r>
                        <a:rPr sz="900" b="1">
                          <a:solidFill>
                            <a:srgbClr val="0A2540"/>
                          </a:solidFill>
                          <a:latin typeface="Georgia"/>
                        </a:rPr>
                        <a:t>40 aliados, Bogotá</a:t>
                      </a:r>
                    </a:p>
                  </a:txBody>
                  <a:tcPr marL="73152" marR="45720" anchor="ctr">
                    <a:solidFill>
                      <a:srgbClr val="F4EAD5"/>
                    </a:solidFill>
                  </a:tcPr>
                </a:tc>
                <a:tc>
                  <a:txBody>
                    <a:bodyPr/>
                    <a:lstStyle/>
                    <a:p>
                      <a:r>
                        <a:rPr sz="900" b="0">
                          <a:solidFill>
                            <a:srgbClr val="0A2540"/>
                          </a:solidFill>
                          <a:latin typeface="Georgia"/>
                        </a:rPr>
                        <a:t>40 aliados + 2a ciudad</a:t>
                      </a:r>
                    </a:p>
                  </a:txBody>
                  <a:tcPr marL="73152" marR="45720" anchor="ctr">
                    <a:solidFill>
                      <a:srgbClr val="F6F3EC"/>
                    </a:solidFill>
                  </a:tcPr>
                </a:tc>
              </a:tr>
              <a:tr h="374904">
                <a:tc>
                  <a:txBody>
                    <a:bodyPr/>
                    <a:lstStyle/>
                    <a:p>
                      <a:r>
                        <a:rPr sz="900" b="1">
                          <a:solidFill>
                            <a:srgbClr val="0A2540"/>
                          </a:solidFill>
                          <a:latin typeface="Georgia"/>
                        </a:rPr>
                        <a:t>La Mesa Diners</a:t>
                      </a:r>
                    </a:p>
                  </a:txBody>
                  <a:tcPr marL="73152" marR="45720" anchor="ctr">
                    <a:solidFill>
                      <a:srgbClr val="FFFDF9"/>
                    </a:solidFill>
                  </a:tcPr>
                </a:tc>
                <a:tc>
                  <a:txBody>
                    <a:bodyPr/>
                    <a:lstStyle/>
                    <a:p>
                      <a:r>
                        <a:rPr sz="900" b="0">
                          <a:solidFill>
                            <a:srgbClr val="0A2540"/>
                          </a:solidFill>
                          <a:latin typeface="Georgia"/>
                        </a:rPr>
                        <a:t>Sección mensual</a:t>
                      </a:r>
                    </a:p>
                  </a:txBody>
                  <a:tcPr marL="73152" marR="45720" anchor="ctr">
                    <a:solidFill>
                      <a:srgbClr val="FFFDF9"/>
                    </a:solidFill>
                  </a:tcPr>
                </a:tc>
                <a:tc>
                  <a:txBody>
                    <a:bodyPr/>
                    <a:lstStyle/>
                    <a:p>
                      <a:r>
                        <a:rPr sz="900" b="1">
                          <a:solidFill>
                            <a:srgbClr val="0A2540"/>
                          </a:solidFill>
                          <a:latin typeface="Georgia"/>
                        </a:rPr>
                        <a:t>Sección, web y video</a:t>
                      </a:r>
                    </a:p>
                  </a:txBody>
                  <a:tcPr marL="73152" marR="45720" anchor="ctr">
                    <a:solidFill>
                      <a:srgbClr val="F4EAD5"/>
                    </a:solidFill>
                  </a:tcPr>
                </a:tc>
                <a:tc>
                  <a:txBody>
                    <a:bodyPr/>
                    <a:lstStyle/>
                    <a:p>
                      <a:r>
                        <a:rPr sz="900" b="0">
                          <a:solidFill>
                            <a:srgbClr val="0A2540"/>
                          </a:solidFill>
                          <a:latin typeface="Georgia"/>
                        </a:rPr>
                        <a:t>Sección, web, video y compendio</a:t>
                      </a:r>
                    </a:p>
                  </a:txBody>
                  <a:tcPr marL="73152" marR="45720" anchor="ctr">
                    <a:solidFill>
                      <a:srgbClr val="FFFDF9"/>
                    </a:solidFill>
                  </a:tcPr>
                </a:tc>
              </a:tr>
              <a:tr h="374904">
                <a:tc>
                  <a:txBody>
                    <a:bodyPr/>
                    <a:lstStyle/>
                    <a:p>
                      <a:r>
                        <a:rPr sz="900" b="1">
                          <a:solidFill>
                            <a:srgbClr val="0A2540"/>
                          </a:solidFill>
                          <a:latin typeface="Georgia"/>
                        </a:rPr>
                        <a:t>Experiencias OBI</a:t>
                      </a:r>
                    </a:p>
                  </a:txBody>
                  <a:tcPr marL="73152" marR="45720" anchor="ctr">
                    <a:solidFill>
                      <a:srgbClr val="F6F3EC"/>
                    </a:solidFill>
                  </a:tcPr>
                </a:tc>
                <a:tc>
                  <a:txBody>
                    <a:bodyPr/>
                    <a:lstStyle/>
                    <a:p>
                      <a:r>
                        <a:rPr sz="900" b="0">
                          <a:solidFill>
                            <a:srgbClr val="0A2540"/>
                          </a:solidFill>
                          <a:latin typeface="Georgia"/>
                        </a:rPr>
                        <a:t>2</a:t>
                      </a:r>
                    </a:p>
                  </a:txBody>
                  <a:tcPr marL="73152" marR="45720" anchor="ctr">
                    <a:solidFill>
                      <a:srgbClr val="F6F3EC"/>
                    </a:solidFill>
                  </a:tcPr>
                </a:tc>
                <a:tc>
                  <a:txBody>
                    <a:bodyPr/>
                    <a:lstStyle/>
                    <a:p>
                      <a:r>
                        <a:rPr sz="900" b="1">
                          <a:solidFill>
                            <a:srgbClr val="0A2540"/>
                          </a:solidFill>
                          <a:latin typeface="Georgia"/>
                        </a:rPr>
                        <a:t>6</a:t>
                      </a:r>
                    </a:p>
                  </a:txBody>
                  <a:tcPr marL="73152" marR="45720" anchor="ctr">
                    <a:solidFill>
                      <a:srgbClr val="F4EAD5"/>
                    </a:solidFill>
                  </a:tcPr>
                </a:tc>
                <a:tc>
                  <a:txBody>
                    <a:bodyPr/>
                    <a:lstStyle/>
                    <a:p>
                      <a:r>
                        <a:rPr sz="900" b="0">
                          <a:solidFill>
                            <a:srgbClr val="0A2540"/>
                          </a:solidFill>
                          <a:latin typeface="Georgia"/>
                        </a:rPr>
                        <a:t>8</a:t>
                      </a:r>
                    </a:p>
                  </a:txBody>
                  <a:tcPr marL="73152" marR="45720" anchor="ctr">
                    <a:solidFill>
                      <a:srgbClr val="F6F3EC"/>
                    </a:solidFill>
                  </a:tcPr>
                </a:tc>
              </a:tr>
              <a:tr h="374904">
                <a:tc>
                  <a:txBody>
                    <a:bodyPr/>
                    <a:lstStyle/>
                    <a:p>
                      <a:r>
                        <a:rPr sz="900" b="1">
                          <a:solidFill>
                            <a:srgbClr val="0A2540"/>
                          </a:solidFill>
                          <a:latin typeface="Georgia"/>
                        </a:rPr>
                        <a:t>Alcance a prospectos</a:t>
                      </a:r>
                    </a:p>
                  </a:txBody>
                  <a:tcPr marL="73152" marR="45720" anchor="ctr">
                    <a:solidFill>
                      <a:srgbClr val="FFFDF9"/>
                    </a:solidFill>
                  </a:tcPr>
                </a:tc>
                <a:tc>
                  <a:txBody>
                    <a:bodyPr/>
                    <a:lstStyle/>
                    <a:p>
                      <a:r>
                        <a:rPr sz="900" b="0">
                          <a:solidFill>
                            <a:srgbClr val="0A2540"/>
                          </a:solidFill>
                          <a:latin typeface="Georgia"/>
                        </a:rPr>
                        <a:t>Sí</a:t>
                      </a:r>
                    </a:p>
                  </a:txBody>
                  <a:tcPr marL="73152" marR="45720" anchor="ctr">
                    <a:solidFill>
                      <a:srgbClr val="FFFDF9"/>
                    </a:solidFill>
                  </a:tcPr>
                </a:tc>
                <a:tc>
                  <a:txBody>
                    <a:bodyPr/>
                    <a:lstStyle/>
                    <a:p>
                      <a:r>
                        <a:rPr sz="900" b="1">
                          <a:solidFill>
                            <a:srgbClr val="0A2540"/>
                          </a:solidFill>
                          <a:latin typeface="Georgia"/>
                        </a:rPr>
                        <a:t>Sí, a escala</a:t>
                      </a:r>
                    </a:p>
                  </a:txBody>
                  <a:tcPr marL="73152" marR="45720" anchor="ctr">
                    <a:solidFill>
                      <a:srgbClr val="F4EAD5"/>
                    </a:solidFill>
                  </a:tcPr>
                </a:tc>
                <a:tc>
                  <a:txBody>
                    <a:bodyPr/>
                    <a:lstStyle/>
                    <a:p>
                      <a:r>
                        <a:rPr sz="900" b="0">
                          <a:solidFill>
                            <a:srgbClr val="0A2540"/>
                          </a:solidFill>
                          <a:latin typeface="Georgia"/>
                        </a:rPr>
                        <a:t>Sí, a escala</a:t>
                      </a:r>
                    </a:p>
                  </a:txBody>
                  <a:tcPr marL="73152" marR="45720" anchor="ctr">
                    <a:solidFill>
                      <a:srgbClr val="FFFDF9"/>
                    </a:solidFill>
                  </a:tcPr>
                </a:tc>
              </a:tr>
              <a:tr h="374904">
                <a:tc>
                  <a:txBody>
                    <a:bodyPr/>
                    <a:lstStyle/>
                    <a:p>
                      <a:r>
                        <a:rPr sz="900" b="1">
                          <a:solidFill>
                            <a:srgbClr val="0A2540"/>
                          </a:solidFill>
                          <a:latin typeface="Georgia"/>
                        </a:rPr>
                        <a:t>Catálogo listo para la app</a:t>
                      </a:r>
                    </a:p>
                  </a:txBody>
                  <a:tcPr marL="73152" marR="45720" anchor="ctr">
                    <a:solidFill>
                      <a:srgbClr val="F6F3EC"/>
                    </a:solidFill>
                  </a:tcPr>
                </a:tc>
                <a:tc>
                  <a:txBody>
                    <a:bodyPr/>
                    <a:lstStyle/>
                    <a:p>
                      <a:r>
                        <a:rPr sz="900" b="0">
                          <a:solidFill>
                            <a:srgbClr val="0A2540"/>
                          </a:solidFill>
                          <a:latin typeface="Georgia"/>
                        </a:rPr>
                        <a:t>Parcial</a:t>
                      </a:r>
                    </a:p>
                  </a:txBody>
                  <a:tcPr marL="73152" marR="45720" anchor="ctr">
                    <a:solidFill>
                      <a:srgbClr val="F6F3EC"/>
                    </a:solidFill>
                  </a:tcPr>
                </a:tc>
                <a:tc>
                  <a:txBody>
                    <a:bodyPr/>
                    <a:lstStyle/>
                    <a:p>
                      <a:r>
                        <a:rPr sz="900" b="1">
                          <a:solidFill>
                            <a:srgbClr val="0A2540"/>
                          </a:solidFill>
                          <a:latin typeface="Georgia"/>
                        </a:rPr>
                        <a:t>Completo</a:t>
                      </a:r>
                    </a:p>
                  </a:txBody>
                  <a:tcPr marL="73152" marR="45720" anchor="ctr">
                    <a:solidFill>
                      <a:srgbClr val="F4EAD5"/>
                    </a:solidFill>
                  </a:tcPr>
                </a:tc>
                <a:tc>
                  <a:txBody>
                    <a:bodyPr/>
                    <a:lstStyle/>
                    <a:p>
                      <a:r>
                        <a:rPr sz="900" b="0">
                          <a:solidFill>
                            <a:srgbClr val="0A2540"/>
                          </a:solidFill>
                          <a:latin typeface="Georgia"/>
                        </a:rPr>
                        <a:t>Completo</a:t>
                      </a:r>
                    </a:p>
                  </a:txBody>
                  <a:tcPr marL="73152" marR="45720" anchor="ctr">
                    <a:solidFill>
                      <a:srgbClr val="F6F3EC"/>
                    </a:solidFill>
                  </a:tcPr>
                </a:tc>
              </a:tr>
            </a:tbl>
          </a:graphicData>
        </a:graphic>
      </p:graphicFrame>
      <p:sp>
        <p:nvSpPr>
          <p:cNvPr id="7" name="Rectangle 6"/>
          <p:cNvSpPr/>
          <p:nvPr/>
        </p:nvSpPr>
        <p:spPr>
          <a:xfrm>
            <a:off x="731520" y="5486400"/>
            <a:ext cx="10725912" cy="7132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5641848"/>
            <a:ext cx="10396728"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POR QUÉ RECOMENDAMOS EL PAQUETE B</a:t>
            </a:r>
          </a:p>
        </p:txBody>
      </p:sp>
      <p:sp>
        <p:nvSpPr>
          <p:cNvPr id="9" name="TextBox 8"/>
          <p:cNvSpPr txBox="1"/>
          <p:nvPr/>
        </p:nvSpPr>
        <p:spPr>
          <a:xfrm>
            <a:off x="896112" y="5852160"/>
            <a:ext cx="10396728" cy="219455"/>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Es el único que cubre los dos públicos y genera volumen de registro suficiente para leer resultados por cohorte. Con el A se valida la mecánica; con el B se decide el año siguiente con datos propios.</a:t>
            </a:r>
          </a:p>
        </p:txBody>
      </p:sp>
      <p:sp>
        <p:nvSpPr>
          <p:cNvPr id="10" name="TextBox 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TARIFAS 2026 SUJETAS A IVA</a:t>
            </a:r>
          </a:p>
        </p:txBody>
      </p:sp>
      <p:sp>
        <p:nvSpPr>
          <p:cNvPr id="11" name="TextBox 1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lanca.jpg"/>
          <p:cNvPicPr>
            <a:picLocks noChangeAspect="1"/>
          </p:cNvPicPr>
          <p:nvPr/>
        </p:nvPicPr>
        <p:blipFill>
          <a:blip r:embed="rId2"/>
          <a:stretch>
            <a:fillRect/>
          </a:stretch>
        </p:blipFill>
        <p:spPr>
          <a:xfrm>
            <a:off x="8001000" y="0"/>
            <a:ext cx="4187952" cy="6858000"/>
          </a:xfrm>
          <a:prstGeom prst="rect">
            <a:avLst/>
          </a:prstGeom>
        </p:spPr>
      </p:pic>
      <p:sp>
        <p:nvSpPr>
          <p:cNvPr id="4" name="Rectangle 3"/>
          <p:cNvSpPr/>
          <p:nvPr/>
        </p:nvSpPr>
        <p:spPr>
          <a:xfrm>
            <a:off x="8001000" y="0"/>
            <a:ext cx="418795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7031" y="5532120"/>
            <a:ext cx="3675887"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El territorio lo
construyó una
casa editorial</a:t>
            </a:r>
          </a:p>
        </p:txBody>
      </p:sp>
      <p:sp>
        <p:nvSpPr>
          <p:cNvPr id="6" name="TextBox 5"/>
          <p:cNvSpPr txBox="1"/>
          <p:nvPr/>
        </p:nvSpPr>
        <p:spPr>
          <a:xfrm>
            <a:off x="8257031" y="6437376"/>
            <a:ext cx="3675887" cy="256032"/>
          </a:xfrm>
          <a:prstGeom prst="rect">
            <a:avLst/>
          </a:prstGeom>
          <a:noFill/>
        </p:spPr>
        <p:txBody>
          <a:bodyPr wrap="square" lIns="0" rIns="0" tIns="0" bIns="0" anchor="t">
            <a:spAutoFit/>
          </a:bodyPr>
          <a:lstStyle/>
          <a:p>
            <a:pPr algn="l">
              <a:lnSpc>
                <a:spcPct val="108000"/>
              </a:lnSpc>
              <a:spcAft>
                <a:spcPts val="0"/>
              </a:spcAft>
            </a:pPr>
            <a:r>
              <a:rPr sz="800" b="0">
                <a:solidFill>
                  <a:srgbClr val="C9CED6"/>
                </a:solidFill>
                <a:latin typeface="Helvetica Neue"/>
              </a:rPr>
              <a:t>DINERS CLUB DEL ECUADOR</a:t>
            </a:r>
          </a:p>
        </p:txBody>
      </p:sp>
      <p:sp>
        <p:nvSpPr>
          <p:cNvPr id="7" name="TextBox 6"/>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CASO DE REFERENCIA EN LA REGIÓN</a:t>
            </a:r>
          </a:p>
        </p:txBody>
      </p:sp>
      <p:sp>
        <p:nvSpPr>
          <p:cNvPr id="8" name="TextBox 7"/>
          <p:cNvSpPr txBox="1"/>
          <p:nvPr/>
        </p:nvSpPr>
        <p:spPr>
          <a:xfrm>
            <a:off x="731520" y="932688"/>
            <a:ext cx="667512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Lo que ya funcionó en Ecuador</a:t>
            </a:r>
          </a:p>
        </p:txBody>
      </p:sp>
      <p:sp>
        <p:nvSpPr>
          <p:cNvPr id="9" name="Rectangle 8"/>
          <p:cNvSpPr/>
          <p:nvPr/>
        </p:nvSpPr>
        <p:spPr>
          <a:xfrm>
            <a:off x="731520" y="1737360"/>
            <a:ext cx="658368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83664"/>
            <a:ext cx="658368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franquicia construyó su territorio gastronómico apoyada en su propia casa editorial.</a:t>
            </a:r>
          </a:p>
        </p:txBody>
      </p:sp>
      <p:sp>
        <p:nvSpPr>
          <p:cNvPr id="11" name="Rectangle 10"/>
          <p:cNvSpPr/>
          <p:nvPr/>
        </p:nvSpPr>
        <p:spPr>
          <a:xfrm>
            <a:off x="731520" y="2468880"/>
            <a:ext cx="2084831" cy="118872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8A6B1F"/>
                </a:solidFill>
                <a:latin typeface="Georgia"/>
              </a:rPr>
              <a:t>76%</a:t>
            </a:r>
          </a:p>
        </p:txBody>
      </p:sp>
      <p:sp>
        <p:nvSpPr>
          <p:cNvPr id="13" name="TextBox 12"/>
          <p:cNvSpPr txBox="1"/>
          <p:nvPr/>
        </p:nvSpPr>
        <p:spPr>
          <a:xfrm>
            <a:off x="877824"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Recordación de marca en socios, en experiencias gastronómicas</a:t>
            </a:r>
          </a:p>
        </p:txBody>
      </p:sp>
      <p:sp>
        <p:nvSpPr>
          <p:cNvPr id="14" name="Rectangle 13"/>
          <p:cNvSpPr/>
          <p:nvPr/>
        </p:nvSpPr>
        <p:spPr>
          <a:xfrm>
            <a:off x="2962656" y="2468880"/>
            <a:ext cx="2084831" cy="118872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08960"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0A2540"/>
                </a:solidFill>
                <a:latin typeface="Georgia"/>
              </a:rPr>
              <a:t>+14%</a:t>
            </a:r>
          </a:p>
        </p:txBody>
      </p:sp>
      <p:sp>
        <p:nvSpPr>
          <p:cNvPr id="16" name="TextBox 15"/>
          <p:cNvSpPr txBox="1"/>
          <p:nvPr/>
        </p:nvSpPr>
        <p:spPr>
          <a:xfrm>
            <a:off x="3108960"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Incremento en socios del territorio</a:t>
            </a:r>
          </a:p>
        </p:txBody>
      </p:sp>
      <p:sp>
        <p:nvSpPr>
          <p:cNvPr id="17" name="Rectangle 16"/>
          <p:cNvSpPr/>
          <p:nvPr/>
        </p:nvSpPr>
        <p:spPr>
          <a:xfrm>
            <a:off x="5193792" y="2468880"/>
            <a:ext cx="2084831" cy="118872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096"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0A2540"/>
                </a:solidFill>
                <a:latin typeface="Georgia"/>
              </a:rPr>
              <a:t>1.053</a:t>
            </a:r>
          </a:p>
        </p:txBody>
      </p:sp>
      <p:sp>
        <p:nvSpPr>
          <p:cNvPr id="19" name="TextBox 18"/>
          <p:cNvSpPr txBox="1"/>
          <p:nvPr/>
        </p:nvSpPr>
        <p:spPr>
          <a:xfrm>
            <a:off x="5340096"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Recetas compiladas en libros de su editorial</a:t>
            </a:r>
          </a:p>
        </p:txBody>
      </p:sp>
      <p:sp>
        <p:nvSpPr>
          <p:cNvPr id="20" name="Rectangle 19"/>
          <p:cNvSpPr/>
          <p:nvPr/>
        </p:nvSpPr>
        <p:spPr>
          <a:xfrm>
            <a:off x="731520" y="3840480"/>
            <a:ext cx="6583680" cy="214884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995928"/>
            <a:ext cx="625449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LO QUE DEMUESTRA</a:t>
            </a:r>
          </a:p>
        </p:txBody>
      </p:sp>
      <p:sp>
        <p:nvSpPr>
          <p:cNvPr id="22" name="TextBox 21"/>
          <p:cNvSpPr txBox="1"/>
          <p:nvPr/>
        </p:nvSpPr>
        <p:spPr>
          <a:xfrm>
            <a:off x="896112" y="4206240"/>
            <a:ext cx="625449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La casa editorial es el motor</a:t>
            </a:r>
          </a:p>
        </p:txBody>
      </p:sp>
      <p:sp>
        <p:nvSpPr>
          <p:cNvPr id="23" name="TextBox 22"/>
          <p:cNvSpPr txBox="1"/>
          <p:nvPr/>
        </p:nvSpPr>
        <p:spPr>
          <a:xfrm>
            <a:off x="896112" y="4562856"/>
            <a:ext cx="6254496" cy="1298448"/>
          </a:xfrm>
          <a:prstGeom prst="rect">
            <a:avLst/>
          </a:prstGeom>
          <a:noFill/>
        </p:spPr>
        <p:txBody>
          <a:bodyPr wrap="square" lIns="0" rIns="0" tIns="0" bIns="0" anchor="t">
            <a:spAutoFit/>
          </a:bodyPr>
          <a:lstStyle/>
          <a:p>
            <a:pPr algn="l">
              <a:lnSpc>
                <a:spcPct val="126000"/>
              </a:lnSpc>
              <a:spcAft>
                <a:spcPts val="0"/>
              </a:spcAft>
            </a:pPr>
            <a:r>
              <a:rPr sz="919" b="0">
                <a:solidFill>
                  <a:srgbClr val="D8DDE4"/>
                </a:solidFill>
                <a:latin typeface="Helvetica Neue"/>
              </a:rPr>
              <a:t>El territorio no se construyó solo con pauta: se construyó con contenido propio, publicaciones y series, producidas por la editorial del emisor. Ediciones Gamma ocupa en Colombia la misma posición, con una revista homónima de 60 años, una unidad de Libros en operación y un alcance mensual de 1.133.000 personas.</a:t>
            </a:r>
          </a:p>
        </p:txBody>
      </p:sp>
      <p:sp>
        <p:nvSpPr>
          <p:cNvPr id="24" name="TextBox 23"/>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CAROLINA RAMIREZ · EDICIONES GAMMA</a:t>
            </a:r>
          </a:p>
        </p:txBody>
      </p:sp>
      <p:sp>
        <p:nvSpPr>
          <p:cNvPr id="25" name="TextBox 24"/>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