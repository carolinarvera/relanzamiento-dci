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70" r:id="rId21"/>
    <p:sldId id="260" r:id="rId11"/>
    <p:sldId id="261" r:id="rId12"/>
    <p:sldId id="262" r:id="rId13"/>
    <p:sldId id="263" r:id="rId14"/>
    <p:sldId id="264" r:id="rId15"/>
    <p:sldId id="271" r:id="rId22"/>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5.xml"/><Relationship Id="rId22"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tada.jpg"/>
          <p:cNvPicPr>
            <a:picLocks noChangeAspect="1"/>
          </p:cNvPicPr>
          <p:nvPr/>
        </p:nvPicPr>
        <p:blipFill>
          <a:blip r:embed="rId2"/>
          <a:stretch>
            <a:fillRect/>
          </a:stretch>
        </p:blipFill>
        <p:spPr>
          <a:xfrm>
            <a:off x="7040880" y="0"/>
            <a:ext cx="5148072" cy="6858000"/>
          </a:xfrm>
          <a:prstGeom prst="rect">
            <a:avLst/>
          </a:prstGeom>
        </p:spPr>
      </p:pic>
      <p:sp>
        <p:nvSpPr>
          <p:cNvPr id="4" name="Rectangle 3"/>
          <p:cNvSpPr/>
          <p:nvPr/>
        </p:nvSpPr>
        <p:spPr>
          <a:xfrm>
            <a:off x="7040880" y="0"/>
            <a:ext cx="5148072" cy="6858000"/>
          </a:xfrm>
          <a:prstGeom prst="rect">
            <a:avLst/>
          </a:prstGeom>
          <a:solidFill>
            <a:srgbClr val="0A2540">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96912" y="5532120"/>
            <a:ext cx="4636008" cy="914400"/>
          </a:xfrm>
          <a:prstGeom prst="rect">
            <a:avLst/>
          </a:prstGeom>
          <a:noFill/>
        </p:spPr>
        <p:txBody>
          <a:bodyPr wrap="square" lIns="0" rIns="0" tIns="0" bIns="0" anchor="b">
            <a:spAutoFit/>
          </a:bodyPr>
          <a:lstStyle/>
          <a:p>
            <a:pPr algn="l">
              <a:lnSpc>
                <a:spcPct val="115000"/>
              </a:lnSpc>
              <a:spcAft>
                <a:spcPts val="0"/>
              </a:spcAft>
            </a:pPr>
            <a:r>
              <a:rPr sz="1800" b="0">
                <a:solidFill>
                  <a:srgbClr val="FFFFFF"/>
                </a:solidFill>
                <a:latin typeface="Georgia"/>
              </a:rPr>
              <a:t>It's the ( Dining ) Club</a:t>
            </a:r>
          </a:p>
        </p:txBody>
      </p:sp>
      <p:sp>
        <p:nvSpPr>
          <p:cNvPr id="6" name="TextBox 5"/>
          <p:cNvSpPr txBox="1"/>
          <p:nvPr/>
        </p:nvSpPr>
        <p:spPr>
          <a:xfrm>
            <a:off x="7296912" y="6437376"/>
            <a:ext cx="4636008" cy="256032"/>
          </a:xfrm>
          <a:prstGeom prst="rect">
            <a:avLst/>
          </a:prstGeom>
          <a:noFill/>
        </p:spPr>
        <p:txBody>
          <a:bodyPr wrap="square" lIns="0" rIns="0" tIns="0" bIns="0" anchor="t">
            <a:spAutoFit/>
          </a:bodyPr>
          <a:lstStyle/>
          <a:p>
            <a:pPr algn="l">
              <a:lnSpc>
                <a:spcPct val="108000"/>
              </a:lnSpc>
              <a:spcAft>
                <a:spcPts val="0"/>
              </a:spcAft>
            </a:pPr>
            <a:r>
              <a:rPr sz="800" b="0">
                <a:solidFill>
                  <a:srgbClr val="C9CED6"/>
                </a:solidFill>
                <a:latin typeface="Helvetica Neue"/>
              </a:rPr>
              <a:t>UNLOCK INTERESTING · COLOMBIA</a:t>
            </a:r>
          </a:p>
        </p:txBody>
      </p:sp>
      <p:sp>
        <p:nvSpPr>
          <p:cNvPr id="7" name="TextBox 6"/>
          <p:cNvSpPr txBox="1"/>
          <p:nvPr/>
        </p:nvSpPr>
        <p:spPr>
          <a:xfrm>
            <a:off x="731520" y="658368"/>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DINERS CLUB INTERNATIONAL &amp; EDICIONES GAMMA · OCTUBRE 2026</a:t>
            </a:r>
          </a:p>
        </p:txBody>
      </p:sp>
      <p:sp>
        <p:nvSpPr>
          <p:cNvPr id="8" name="TextBox 7"/>
          <p:cNvSpPr txBox="1"/>
          <p:nvPr/>
        </p:nvSpPr>
        <p:spPr>
          <a:xfrm>
            <a:off x="731520" y="1078992"/>
            <a:ext cx="5852160" cy="1188720"/>
          </a:xfrm>
          <a:prstGeom prst="rect">
            <a:avLst/>
          </a:prstGeom>
          <a:noFill/>
        </p:spPr>
        <p:txBody>
          <a:bodyPr wrap="square" lIns="0" rIns="0" tIns="0" bIns="0" anchor="t">
            <a:spAutoFit/>
          </a:bodyPr>
          <a:lstStyle/>
          <a:p>
            <a:pPr algn="l">
              <a:lnSpc>
                <a:spcPct val="102000"/>
              </a:lnSpc>
              <a:spcAft>
                <a:spcPts val="0"/>
              </a:spcAft>
            </a:pPr>
            <a:r>
              <a:rPr sz="3700" b="0">
                <a:solidFill>
                  <a:srgbClr val="0A2540"/>
                </a:solidFill>
                <a:latin typeface="Georgia"/>
              </a:rPr>
              <a:t>Campaña de
posicionamiento
Saber dónde</a:t>
            </a:r>
          </a:p>
        </p:txBody>
      </p:sp>
      <p:sp>
        <p:nvSpPr>
          <p:cNvPr id="9" name="TextBox 8"/>
          <p:cNvSpPr txBox="1"/>
          <p:nvPr/>
        </p:nvSpPr>
        <p:spPr>
          <a:xfrm>
            <a:off x="731520" y="3611880"/>
            <a:ext cx="5760720" cy="82296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Doce semanas para relanzar la marca y posicionar sus beneficios ante quien todavía no es Clubmember. El plan corre desde la firma, sin depender del mes del calendario.</a:t>
            </a:r>
          </a:p>
        </p:txBody>
      </p:sp>
      <p:sp>
        <p:nvSpPr>
          <p:cNvPr id="10" name="Rectangle 9"/>
          <p:cNvSpPr/>
          <p:nvPr/>
        </p:nvSpPr>
        <p:spPr>
          <a:xfrm>
            <a:off x="731520" y="4754880"/>
            <a:ext cx="1874519" cy="100584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910328"/>
            <a:ext cx="1645920" cy="365760"/>
          </a:xfrm>
          <a:prstGeom prst="rect">
            <a:avLst/>
          </a:prstGeom>
          <a:noFill/>
        </p:spPr>
        <p:txBody>
          <a:bodyPr wrap="square" lIns="0" rIns="0" tIns="0" bIns="0" anchor="t">
            <a:spAutoFit/>
          </a:bodyPr>
          <a:lstStyle/>
          <a:p>
            <a:pPr algn="l">
              <a:lnSpc>
                <a:spcPct val="108000"/>
              </a:lnSpc>
              <a:spcAft>
                <a:spcPts val="0"/>
              </a:spcAft>
            </a:pPr>
            <a:r>
              <a:rPr sz="1800" b="1">
                <a:solidFill>
                  <a:srgbClr val="8A6B1F"/>
                </a:solidFill>
                <a:latin typeface="Georgia"/>
              </a:rPr>
              <a:t>169K</a:t>
            </a:r>
          </a:p>
        </p:txBody>
      </p:sp>
      <p:sp>
        <p:nvSpPr>
          <p:cNvPr id="12" name="TextBox 11"/>
          <p:cNvSpPr txBox="1"/>
          <p:nvPr/>
        </p:nvSpPr>
        <p:spPr>
          <a:xfrm>
            <a:off x="868680" y="5321808"/>
            <a:ext cx="1645920" cy="365760"/>
          </a:xfrm>
          <a:prstGeom prst="rect">
            <a:avLst/>
          </a:prstGeom>
          <a:noFill/>
        </p:spPr>
        <p:txBody>
          <a:bodyPr wrap="square" lIns="0" rIns="0" tIns="0" bIns="0" anchor="t">
            <a:spAutoFit/>
          </a:bodyPr>
          <a:lstStyle/>
          <a:p>
            <a:pPr algn="l">
              <a:lnSpc>
                <a:spcPct val="120000"/>
              </a:lnSpc>
              <a:spcAft>
                <a:spcPts val="0"/>
              </a:spcAft>
            </a:pPr>
            <a:r>
              <a:rPr sz="700" b="0">
                <a:solidFill>
                  <a:srgbClr val="75808F"/>
                </a:solidFill>
                <a:latin typeface="Helvetica Neue"/>
              </a:rPr>
              <a:t>Clubmembers en Colombia · 18.4K Black</a:t>
            </a:r>
          </a:p>
        </p:txBody>
      </p:sp>
      <p:sp>
        <p:nvSpPr>
          <p:cNvPr id="13" name="Rectangle 12"/>
          <p:cNvSpPr/>
          <p:nvPr/>
        </p:nvSpPr>
        <p:spPr>
          <a:xfrm>
            <a:off x="2743200" y="4754880"/>
            <a:ext cx="1874519" cy="100584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0360" y="4910328"/>
            <a:ext cx="1645920" cy="365760"/>
          </a:xfrm>
          <a:prstGeom prst="rect">
            <a:avLst/>
          </a:prstGeom>
          <a:noFill/>
        </p:spPr>
        <p:txBody>
          <a:bodyPr wrap="square" lIns="0" rIns="0" tIns="0" bIns="0" anchor="t">
            <a:spAutoFit/>
          </a:bodyPr>
          <a:lstStyle/>
          <a:p>
            <a:pPr algn="l">
              <a:lnSpc>
                <a:spcPct val="108000"/>
              </a:lnSpc>
              <a:spcAft>
                <a:spcPts val="0"/>
              </a:spcAft>
            </a:pPr>
            <a:r>
              <a:rPr sz="1800" b="1">
                <a:solidFill>
                  <a:srgbClr val="0A2540"/>
                </a:solidFill>
                <a:latin typeface="Georgia"/>
              </a:rPr>
              <a:t>1.133.000</a:t>
            </a:r>
          </a:p>
        </p:txBody>
      </p:sp>
      <p:sp>
        <p:nvSpPr>
          <p:cNvPr id="15" name="TextBox 14"/>
          <p:cNvSpPr txBox="1"/>
          <p:nvPr/>
        </p:nvSpPr>
        <p:spPr>
          <a:xfrm>
            <a:off x="2880360" y="5321808"/>
            <a:ext cx="1645920" cy="365760"/>
          </a:xfrm>
          <a:prstGeom prst="rect">
            <a:avLst/>
          </a:prstGeom>
          <a:noFill/>
        </p:spPr>
        <p:txBody>
          <a:bodyPr wrap="square" lIns="0" rIns="0" tIns="0" bIns="0" anchor="t">
            <a:spAutoFit/>
          </a:bodyPr>
          <a:lstStyle/>
          <a:p>
            <a:pPr algn="l">
              <a:lnSpc>
                <a:spcPct val="120000"/>
              </a:lnSpc>
              <a:spcAft>
                <a:spcPts val="0"/>
              </a:spcAft>
            </a:pPr>
            <a:r>
              <a:rPr sz="700" b="0">
                <a:solidFill>
                  <a:srgbClr val="75808F"/>
                </a:solidFill>
                <a:latin typeface="Helvetica Neue"/>
              </a:rPr>
              <a:t>Alcance mensual propio</a:t>
            </a:r>
          </a:p>
        </p:txBody>
      </p:sp>
      <p:sp>
        <p:nvSpPr>
          <p:cNvPr id="16" name="Rectangle 15"/>
          <p:cNvSpPr/>
          <p:nvPr/>
        </p:nvSpPr>
        <p:spPr>
          <a:xfrm>
            <a:off x="4754880" y="4754880"/>
            <a:ext cx="1874519" cy="100584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92040" y="4910328"/>
            <a:ext cx="1645920" cy="365760"/>
          </a:xfrm>
          <a:prstGeom prst="rect">
            <a:avLst/>
          </a:prstGeom>
          <a:noFill/>
        </p:spPr>
        <p:txBody>
          <a:bodyPr wrap="square" lIns="0" rIns="0" tIns="0" bIns="0" anchor="t">
            <a:spAutoFit/>
          </a:bodyPr>
          <a:lstStyle/>
          <a:p>
            <a:pPr algn="l">
              <a:lnSpc>
                <a:spcPct val="108000"/>
              </a:lnSpc>
              <a:spcAft>
                <a:spcPts val="0"/>
              </a:spcAft>
            </a:pPr>
            <a:r>
              <a:rPr sz="1800" b="1">
                <a:solidFill>
                  <a:srgbClr val="0A2540"/>
                </a:solidFill>
                <a:latin typeface="Georgia"/>
              </a:rPr>
              <a:t>146.000</a:t>
            </a:r>
          </a:p>
        </p:txBody>
      </p:sp>
      <p:sp>
        <p:nvSpPr>
          <p:cNvPr id="18" name="TextBox 17"/>
          <p:cNvSpPr txBox="1"/>
          <p:nvPr/>
        </p:nvSpPr>
        <p:spPr>
          <a:xfrm>
            <a:off x="4892040" y="5321808"/>
            <a:ext cx="1645920" cy="365760"/>
          </a:xfrm>
          <a:prstGeom prst="rect">
            <a:avLst/>
          </a:prstGeom>
          <a:noFill/>
        </p:spPr>
        <p:txBody>
          <a:bodyPr wrap="square" lIns="0" rIns="0" tIns="0" bIns="0" anchor="t">
            <a:spAutoFit/>
          </a:bodyPr>
          <a:lstStyle/>
          <a:p>
            <a:pPr algn="l">
              <a:lnSpc>
                <a:spcPct val="120000"/>
              </a:lnSpc>
              <a:spcAft>
                <a:spcPts val="0"/>
              </a:spcAft>
            </a:pPr>
            <a:r>
              <a:rPr sz="700" b="0">
                <a:solidFill>
                  <a:srgbClr val="75808F"/>
                </a:solidFill>
                <a:latin typeface="Helvetica Neue"/>
              </a:rPr>
              <a:t>Suscriptores del mismo perfil</a:t>
            </a:r>
          </a:p>
        </p:txBody>
      </p:sp>
      <p:sp>
        <p:nvSpPr>
          <p:cNvPr id="19" name="TextBox 18"/>
          <p:cNvSpPr txBox="1"/>
          <p:nvPr/>
        </p:nvSpPr>
        <p:spPr>
          <a:xfrm>
            <a:off x="731520" y="6327648"/>
            <a:ext cx="5943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EDICIONES GAMMA · DOCUMENTO CONFIDENCIAL</a:t>
            </a:r>
          </a:p>
        </p:txBody>
      </p:sp>
      <p:sp>
        <p:nvSpPr>
          <p:cNvPr id="20" name="TextBox 19"/>
          <p:cNvSpPr txBox="1"/>
          <p:nvPr/>
        </p:nvSpPr>
        <p:spPr>
          <a:xfrm>
            <a:off x="9174175" y="6327648"/>
            <a:ext cx="2286000" cy="219456"/>
          </a:xfrm>
          <a:prstGeom prst="rect">
            <a:avLst/>
          </a:prstGeom>
          <a:noFill/>
        </p:spPr>
        <p:txBody>
          <a:bodyPr wrap="square" lIns="0" rIns="0" tIns="0" bIns="0" anchor="t">
            <a:spAutoFit/>
          </a:bodyPr>
          <a:lstStyle/>
          <a:p>
            <a:pPr algn="r">
              <a:lnSpc>
                <a:spcPct val="108000"/>
              </a:lnSpc>
              <a:spcAft>
                <a:spcPts val="0"/>
              </a:spcAft>
            </a:pPr>
            <a:r>
              <a:rPr sz="700" b="0">
                <a:solidFill>
                  <a:srgbClr val="75808F"/>
                </a:solidFill>
                <a:latin typeface="Helvetica Neue"/>
              </a:rPr>
              <a:t>TRES MESES DESDE LA FIRMA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EL ENCARGO</a:t>
            </a:r>
          </a:p>
        </p:txBody>
      </p:sp>
      <p:sp>
        <p:nvSpPr>
          <p:cNvPr id="4" name="TextBox 3"/>
          <p:cNvSpPr txBox="1"/>
          <p:nvPr/>
        </p:nvSpPr>
        <p:spPr>
          <a:xfrm>
            <a:off x="731520" y="932688"/>
            <a:ext cx="786384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Esto es lo que el roadmap pidió</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83664"/>
            <a:ext cx="603504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El encargo tiene dos objetivos: relanzamiento estratégico de marca y posicionamiento de beneficios. Esta propuesta cubre el primer trimestre, construida sobre las mejores prácticas de la franquicia y sobre el roadmap global.</a:t>
            </a:r>
          </a:p>
        </p:txBody>
      </p:sp>
      <p:graphicFrame>
        <p:nvGraphicFramePr>
          <p:cNvPr id="7" name="Table 6"/>
          <p:cNvGraphicFramePr>
            <a:graphicFrameLocks noGrp="1"/>
          </p:cNvGraphicFramePr>
          <p:nvPr/>
        </p:nvGraphicFramePr>
        <p:xfrm>
          <a:off x="731520" y="2697480"/>
          <a:ext cx="6035040" cy="2029968"/>
        </p:xfrm>
        <a:graphic>
          <a:graphicData uri="http://schemas.openxmlformats.org/drawingml/2006/table">
            <a:tbl>
              <a:tblPr firstRow="1" bandRow="1">
                <a:tableStyleId>{5C22544A-7EE6-4342-B048-85BDC9FD1C3A}</a:tableStyleId>
              </a:tblPr>
              <a:tblGrid>
                <a:gridCol w="1234440"/>
                <a:gridCol w="4800600"/>
              </a:tblGrid>
              <a:tr h="338328">
                <a:tc>
                  <a:txBody>
                    <a:bodyPr/>
                    <a:lstStyle/>
                    <a:p>
                      <a:r>
                        <a:rPr sz="790" b="1">
                          <a:solidFill>
                            <a:srgbClr val="FFFFFF"/>
                          </a:solidFill>
                          <a:latin typeface="Helvetica Neue"/>
                        </a:rPr>
                        <a:t>Trimestre</a:t>
                      </a:r>
                    </a:p>
                  </a:txBody>
                  <a:tcPr marL="73152" marR="45720" anchor="ctr">
                    <a:solidFill>
                      <a:srgbClr val="0A2540"/>
                    </a:solidFill>
                  </a:tcPr>
                </a:tc>
                <a:tc>
                  <a:txBody>
                    <a:bodyPr/>
                    <a:lstStyle/>
                    <a:p>
                      <a:r>
                        <a:rPr sz="790" b="1">
                          <a:solidFill>
                            <a:srgbClr val="FFFFFF"/>
                          </a:solidFill>
                          <a:latin typeface="Helvetica Neue"/>
                        </a:rPr>
                        <a:t>Hito del roadmap</a:t>
                      </a:r>
                    </a:p>
                  </a:txBody>
                  <a:tcPr marL="73152" marR="45720" anchor="ctr">
                    <a:solidFill>
                      <a:srgbClr val="0A2540"/>
                    </a:solidFill>
                  </a:tcPr>
                </a:tc>
              </a:tr>
              <a:tr h="338328">
                <a:tc>
                  <a:txBody>
                    <a:bodyPr/>
                    <a:lstStyle/>
                    <a:p>
                      <a:r>
                        <a:rPr sz="850" b="1">
                          <a:solidFill>
                            <a:srgbClr val="0A2540"/>
                          </a:solidFill>
                          <a:latin typeface="Georgia"/>
                        </a:rPr>
                        <a:t>Q2 2026</a:t>
                      </a:r>
                    </a:p>
                  </a:txBody>
                  <a:tcPr marL="73152" marR="45720" anchor="ctr">
                    <a:solidFill>
                      <a:srgbClr val="FFFDF9"/>
                    </a:solidFill>
                  </a:tcPr>
                </a:tc>
                <a:tc>
                  <a:txBody>
                    <a:bodyPr/>
                    <a:lstStyle/>
                    <a:p>
                      <a:r>
                        <a:rPr sz="850" b="0">
                          <a:solidFill>
                            <a:srgbClr val="0A2540"/>
                          </a:solidFill>
                          <a:latin typeface="Georgia"/>
                        </a:rPr>
                        <a:t>DC Colombia empieza a adaptar las mejores prácticas</a:t>
                      </a:r>
                    </a:p>
                  </a:txBody>
                  <a:tcPr marL="73152" marR="45720" anchor="ctr">
                    <a:solidFill>
                      <a:srgbClr val="FFFDF9"/>
                    </a:solidFill>
                  </a:tcPr>
                </a:tc>
              </a:tr>
              <a:tr h="338328">
                <a:tc>
                  <a:txBody>
                    <a:bodyPr/>
                    <a:lstStyle/>
                    <a:p>
                      <a:r>
                        <a:rPr sz="850" b="1">
                          <a:solidFill>
                            <a:srgbClr val="0A2540"/>
                          </a:solidFill>
                          <a:latin typeface="Georgia"/>
                        </a:rPr>
                        <a:t>Q3 2026</a:t>
                      </a:r>
                    </a:p>
                  </a:txBody>
                  <a:tcPr marL="73152" marR="45720" anchor="ctr">
                    <a:solidFill>
                      <a:srgbClr val="F6F3EC"/>
                    </a:solidFill>
                  </a:tcPr>
                </a:tc>
                <a:tc>
                  <a:txBody>
                    <a:bodyPr/>
                    <a:lstStyle/>
                    <a:p>
                      <a:r>
                        <a:rPr sz="850" b="0">
                          <a:solidFill>
                            <a:srgbClr val="0A2540"/>
                          </a:solidFill>
                          <a:latin typeface="Georgia"/>
                        </a:rPr>
                        <a:t>Los socios de LATAM entregan su plan de medios</a:t>
                      </a:r>
                    </a:p>
                  </a:txBody>
                  <a:tcPr marL="73152" marR="45720" anchor="ctr">
                    <a:solidFill>
                      <a:srgbClr val="F6F3EC"/>
                    </a:solidFill>
                  </a:tcPr>
                </a:tc>
              </a:tr>
              <a:tr h="338328">
                <a:tc>
                  <a:txBody>
                    <a:bodyPr/>
                    <a:lstStyle/>
                    <a:p>
                      <a:r>
                        <a:rPr sz="850" b="1">
                          <a:solidFill>
                            <a:srgbClr val="0A2540"/>
                          </a:solidFill>
                          <a:latin typeface="Georgia"/>
                        </a:rPr>
                        <a:t>Q4 2026</a:t>
                      </a:r>
                    </a:p>
                  </a:txBody>
                  <a:tcPr marL="73152" marR="45720" anchor="ctr">
                    <a:solidFill>
                      <a:srgbClr val="FFFDF9"/>
                    </a:solidFill>
                  </a:tcPr>
                </a:tc>
                <a:tc>
                  <a:txBody>
                    <a:bodyPr/>
                    <a:lstStyle/>
                    <a:p>
                      <a:r>
                        <a:rPr sz="850" b="0">
                          <a:solidFill>
                            <a:srgbClr val="0A2540"/>
                          </a:solidFill>
                          <a:latin typeface="Georgia"/>
                        </a:rPr>
                        <a:t>Desarrollo de la campaña LATAM</a:t>
                      </a:r>
                    </a:p>
                  </a:txBody>
                  <a:tcPr marL="73152" marR="45720" anchor="ctr">
                    <a:solidFill>
                      <a:srgbClr val="FFFDF9"/>
                    </a:solidFill>
                  </a:tcPr>
                </a:tc>
              </a:tr>
              <a:tr h="338328">
                <a:tc>
                  <a:txBody>
                    <a:bodyPr/>
                    <a:lstStyle/>
                    <a:p>
                      <a:r>
                        <a:rPr sz="850" b="1">
                          <a:solidFill>
                            <a:srgbClr val="0A2540"/>
                          </a:solidFill>
                          <a:latin typeface="Georgia"/>
                        </a:rPr>
                        <a:t>Q1 2027</a:t>
                      </a:r>
                    </a:p>
                  </a:txBody>
                  <a:tcPr marL="73152" marR="45720" anchor="ctr">
                    <a:solidFill>
                      <a:srgbClr val="F6F3EC"/>
                    </a:solidFill>
                  </a:tcPr>
                </a:tc>
                <a:tc>
                  <a:txBody>
                    <a:bodyPr/>
                    <a:lstStyle/>
                    <a:p>
                      <a:r>
                        <a:rPr sz="850" b="0">
                          <a:solidFill>
                            <a:srgbClr val="0A2540"/>
                          </a:solidFill>
                          <a:latin typeface="Georgia"/>
                        </a:rPr>
                        <a:t>Los socios de LATAM lanzan la campaña de dining</a:t>
                      </a:r>
                    </a:p>
                  </a:txBody>
                  <a:tcPr marL="73152" marR="45720" anchor="ctr">
                    <a:solidFill>
                      <a:srgbClr val="F6F3EC"/>
                    </a:solidFill>
                  </a:tcPr>
                </a:tc>
              </a:tr>
              <a:tr h="338328">
                <a:tc>
                  <a:txBody>
                    <a:bodyPr/>
                    <a:lstStyle/>
                    <a:p>
                      <a:r>
                        <a:rPr sz="850" b="1">
                          <a:solidFill>
                            <a:srgbClr val="0A2540"/>
                          </a:solidFill>
                          <a:latin typeface="Georgia"/>
                        </a:rPr>
                        <a:t>2027</a:t>
                      </a:r>
                    </a:p>
                  </a:txBody>
                  <a:tcPr marL="73152" marR="45720" anchor="ctr">
                    <a:solidFill>
                      <a:srgbClr val="FFFDF9"/>
                    </a:solidFill>
                  </a:tcPr>
                </a:tc>
                <a:tc>
                  <a:txBody>
                    <a:bodyPr/>
                    <a:lstStyle/>
                    <a:p>
                      <a:r>
                        <a:rPr sz="850" b="0">
                          <a:solidFill>
                            <a:srgbClr val="0A2540"/>
                          </a:solidFill>
                          <a:latin typeface="Georgia"/>
                        </a:rPr>
                        <a:t>La app habilita ofertas locales cargadas por el emisor</a:t>
                      </a:r>
                    </a:p>
                  </a:txBody>
                  <a:tcPr marL="73152" marR="45720" anchor="ctr">
                    <a:solidFill>
                      <a:srgbClr val="FFFDF9"/>
                    </a:solidFill>
                  </a:tcPr>
                </a:tc>
              </a:tr>
            </a:tbl>
          </a:graphicData>
        </a:graphic>
      </p:graphicFrame>
      <p:sp>
        <p:nvSpPr>
          <p:cNvPr id="8" name="Rectangle 7"/>
          <p:cNvSpPr/>
          <p:nvPr/>
        </p:nvSpPr>
        <p:spPr>
          <a:xfrm>
            <a:off x="7086600" y="2697480"/>
            <a:ext cx="4370832" cy="320040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51192" y="2852928"/>
            <a:ext cx="4041648"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CÓMO SE MAPEA SOBRE LOS CUATRO ELEMENTOS DEL PROGRAMA</a:t>
            </a:r>
          </a:p>
        </p:txBody>
      </p:sp>
      <p:sp>
        <p:nvSpPr>
          <p:cNvPr id="10" name="TextBox 9"/>
          <p:cNvSpPr txBox="1"/>
          <p:nvPr/>
        </p:nvSpPr>
        <p:spPr>
          <a:xfrm>
            <a:off x="7251192" y="3063240"/>
            <a:ext cx="4041648" cy="2706624"/>
          </a:xfrm>
          <a:prstGeom prst="rect">
            <a:avLst/>
          </a:prstGeom>
          <a:noFill/>
        </p:spPr>
        <p:txBody>
          <a:bodyPr wrap="square" lIns="0" rIns="0" tIns="0" bIns="0" anchor="t">
            <a:spAutoFit/>
          </a:bodyPr>
          <a:lstStyle/>
          <a:p>
            <a:pPr algn="l">
              <a:lnSpc>
                <a:spcPct val="119000"/>
              </a:lnSpc>
              <a:spcAft>
                <a:spcPts val="320"/>
              </a:spcAft>
            </a:pPr>
            <a:r>
              <a:rPr sz="919" b="0">
                <a:solidFill>
                  <a:srgbClr val="D8DDE4"/>
                </a:solidFill>
                <a:latin typeface="Helvetica Neue"/>
              </a:rPr>
              <a:t>•  01 Dining Experiences · Experiencias OBI con cupo limitado</a:t>
            </a:r>
          </a:p>
          <a:p>
            <a:pPr algn="l">
              <a:lnSpc>
                <a:spcPct val="119000"/>
              </a:lnSpc>
              <a:spcAft>
                <a:spcPts val="320"/>
              </a:spcAft>
            </a:pPr>
            <a:r>
              <a:rPr sz="919" b="0">
                <a:solidFill>
                  <a:srgbClr val="D8DDE4"/>
                </a:solidFill>
                <a:latin typeface="Helvetica Neue"/>
              </a:rPr>
              <a:t>•  02 Rewards &amp; Dining Offers · Mesa Diners Club sobre aliados verificados</a:t>
            </a:r>
          </a:p>
          <a:p>
            <a:pPr algn="l">
              <a:lnSpc>
                <a:spcPct val="119000"/>
              </a:lnSpc>
              <a:spcAft>
                <a:spcPts val="320"/>
              </a:spcAft>
            </a:pPr>
            <a:r>
              <a:rPr sz="919" b="0">
                <a:solidFill>
                  <a:srgbClr val="D8DDE4"/>
                </a:solidFill>
                <a:latin typeface="Helvetica Neue"/>
              </a:rPr>
              <a:t>•  03 Chef &amp; Dining Partnerships · Serie de video con cocineros y personajes</a:t>
            </a:r>
          </a:p>
          <a:p>
            <a:pPr algn="l">
              <a:lnSpc>
                <a:spcPct val="119000"/>
              </a:lnSpc>
              <a:spcAft>
                <a:spcPts val="320"/>
              </a:spcAft>
            </a:pPr>
            <a:r>
              <a:rPr sz="919" b="0">
                <a:solidFill>
                  <a:srgbClr val="D8DDE4"/>
                </a:solidFill>
                <a:latin typeface="Helvetica Neue"/>
              </a:rPr>
              <a:t>•  04 Dining Awards · Base editorial para un premio gastronómico colombiano</a:t>
            </a:r>
          </a:p>
          <a:p>
            <a:pPr algn="l">
              <a:lnSpc>
                <a:spcPct val="119000"/>
              </a:lnSpc>
              <a:spcAft>
                <a:spcPts val="320"/>
              </a:spcAft>
            </a:pPr>
            <a:r>
              <a:rPr sz="919" b="0">
                <a:solidFill>
                  <a:srgbClr val="D8DDE4"/>
                </a:solidFill>
                <a:latin typeface="Helvetica Neue"/>
              </a:rPr>
              <a:t>•  </a:t>
            </a:r>
          </a:p>
          <a:p>
            <a:pPr algn="l">
              <a:lnSpc>
                <a:spcPct val="119000"/>
              </a:lnSpc>
              <a:spcAft>
                <a:spcPts val="320"/>
              </a:spcAft>
            </a:pPr>
            <a:r>
              <a:rPr sz="919" b="0">
                <a:solidFill>
                  <a:srgbClr val="D8DDE4"/>
                </a:solidFill>
                <a:latin typeface="Helvetica Neue"/>
              </a:rPr>
              <a:t>•  Ningún componente es invención local: cada uno responde a un elemento ya definido por el programa global.</a:t>
            </a:r>
          </a:p>
        </p:txBody>
      </p:sp>
      <p:sp>
        <p:nvSpPr>
          <p:cNvPr id="11" name="TextBox 10"/>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DCI DINING PROGRAM · ROADMAP COLOMBIA</a:t>
            </a:r>
          </a:p>
        </p:txBody>
      </p:sp>
      <p:sp>
        <p:nvSpPr>
          <p:cNvPr id="12" name="TextBox 11"/>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EL PUNTO DE PARTIDA</a:t>
            </a:r>
          </a:p>
        </p:txBody>
      </p:sp>
      <p:sp>
        <p:nvSpPr>
          <p:cNvPr id="4" name="TextBox 3"/>
          <p:cNvSpPr txBox="1"/>
          <p:nvPr/>
        </p:nvSpPr>
        <p:spPr>
          <a:xfrm>
            <a:off x="731520" y="932688"/>
            <a:ext cx="786384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Lo que su investigación ya señala</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5486400" cy="201168"/>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ACCESIBILIDAD PERCIBIDA, GLOBAL, ENTRE CLUBMEMBERS PROPIOS</a:t>
            </a:r>
          </a:p>
        </p:txBody>
      </p:sp>
      <p:graphicFrame>
        <p:nvGraphicFramePr>
          <p:cNvPr id="7" name="Table 6"/>
          <p:cNvGraphicFramePr>
            <a:graphicFrameLocks noGrp="1"/>
          </p:cNvGraphicFramePr>
          <p:nvPr/>
        </p:nvGraphicFramePr>
        <p:xfrm>
          <a:off x="731520" y="2194560"/>
          <a:ext cx="5486400" cy="987552"/>
        </p:xfrm>
        <a:graphic>
          <a:graphicData uri="http://schemas.openxmlformats.org/drawingml/2006/table">
            <a:tbl>
              <a:tblPr firstRow="1" bandRow="1">
                <a:tableStyleId>{5C22544A-7EE6-4342-B048-85BDC9FD1C3A}</a:tableStyleId>
              </a:tblPr>
              <a:tblGrid>
                <a:gridCol w="2194560"/>
                <a:gridCol w="822960"/>
                <a:gridCol w="1097280"/>
                <a:gridCol w="822960"/>
                <a:gridCol w="548640"/>
              </a:tblGrid>
              <a:tr h="329184">
                <a:tc>
                  <a:txBody>
                    <a:bodyPr/>
                    <a:lstStyle/>
                    <a:p>
                      <a:r>
                        <a:rPr sz="840" b="1">
                          <a:solidFill>
                            <a:srgbClr val="FFFFFF"/>
                          </a:solidFill>
                          <a:latin typeface="Helvetica Neue"/>
                        </a:rPr>
                        <a:t>Atributo</a:t>
                      </a:r>
                    </a:p>
                  </a:txBody>
                  <a:tcPr marL="73152" marR="45720" anchor="ctr">
                    <a:solidFill>
                      <a:srgbClr val="0A2540"/>
                    </a:solidFill>
                  </a:tcPr>
                </a:tc>
                <a:tc>
                  <a:txBody>
                    <a:bodyPr/>
                    <a:lstStyle/>
                    <a:p>
                      <a:r>
                        <a:rPr sz="840" b="1">
                          <a:solidFill>
                            <a:srgbClr val="FFFFFF"/>
                          </a:solidFill>
                          <a:latin typeface="Helvetica Neue"/>
                        </a:rPr>
                        <a:t>Visa</a:t>
                      </a:r>
                    </a:p>
                  </a:txBody>
                  <a:tcPr marL="73152" marR="45720" anchor="ctr">
                    <a:solidFill>
                      <a:srgbClr val="0A2540"/>
                    </a:solidFill>
                  </a:tcPr>
                </a:tc>
                <a:tc>
                  <a:txBody>
                    <a:bodyPr/>
                    <a:lstStyle/>
                    <a:p>
                      <a:r>
                        <a:rPr sz="840" b="1">
                          <a:solidFill>
                            <a:srgbClr val="FFFFFF"/>
                          </a:solidFill>
                          <a:latin typeface="Helvetica Neue"/>
                        </a:rPr>
                        <a:t>Mastercard</a:t>
                      </a:r>
                    </a:p>
                  </a:txBody>
                  <a:tcPr marL="73152" marR="45720" anchor="ctr">
                    <a:solidFill>
                      <a:srgbClr val="0A2540"/>
                    </a:solidFill>
                  </a:tcPr>
                </a:tc>
                <a:tc>
                  <a:txBody>
                    <a:bodyPr/>
                    <a:lstStyle/>
                    <a:p>
                      <a:r>
                        <a:rPr sz="840" b="1">
                          <a:solidFill>
                            <a:srgbClr val="FFFFFF"/>
                          </a:solidFill>
                          <a:latin typeface="Helvetica Neue"/>
                        </a:rPr>
                        <a:t>Diners</a:t>
                      </a:r>
                    </a:p>
                  </a:txBody>
                  <a:tcPr marL="73152" marR="45720" anchor="ctr">
                    <a:solidFill>
                      <a:srgbClr val="8A6B1F"/>
                    </a:solidFill>
                  </a:tcPr>
                </a:tc>
                <a:tc>
                  <a:txBody>
                    <a:bodyPr/>
                    <a:lstStyle/>
                    <a:p>
                      <a:r>
                        <a:rPr sz="840" b="1">
                          <a:solidFill>
                            <a:srgbClr val="FFFFFF"/>
                          </a:solidFill>
                          <a:latin typeface="Helvetica Neue"/>
                        </a:rPr>
                        <a:t>Amex</a:t>
                      </a:r>
                    </a:p>
                  </a:txBody>
                  <a:tcPr marL="73152" marR="45720" anchor="ctr">
                    <a:solidFill>
                      <a:srgbClr val="0A2540"/>
                    </a:solidFill>
                  </a:tcPr>
                </a:tc>
              </a:tr>
              <a:tr h="329184">
                <a:tc>
                  <a:txBody>
                    <a:bodyPr/>
                    <a:lstStyle/>
                    <a:p>
                      <a:r>
                        <a:rPr sz="900" b="1">
                          <a:solidFill>
                            <a:srgbClr val="0A2540"/>
                          </a:solidFill>
                          <a:latin typeface="Georgia"/>
                        </a:rPr>
                        <a:t>Aceptada en mi zona</a:t>
                      </a:r>
                    </a:p>
                  </a:txBody>
                  <a:tcPr marL="73152" marR="45720" anchor="ctr">
                    <a:solidFill>
                      <a:srgbClr val="FFFDF9"/>
                    </a:solidFill>
                  </a:tcPr>
                </a:tc>
                <a:tc>
                  <a:txBody>
                    <a:bodyPr/>
                    <a:lstStyle/>
                    <a:p>
                      <a:r>
                        <a:rPr sz="900" b="0">
                          <a:solidFill>
                            <a:srgbClr val="0A2540"/>
                          </a:solidFill>
                          <a:latin typeface="Georgia"/>
                        </a:rPr>
                        <a:t>72</a:t>
                      </a:r>
                    </a:p>
                  </a:txBody>
                  <a:tcPr marL="73152" marR="45720" anchor="ctr">
                    <a:solidFill>
                      <a:srgbClr val="FFFDF9"/>
                    </a:solidFill>
                  </a:tcPr>
                </a:tc>
                <a:tc>
                  <a:txBody>
                    <a:bodyPr/>
                    <a:lstStyle/>
                    <a:p>
                      <a:r>
                        <a:rPr sz="900" b="0">
                          <a:solidFill>
                            <a:srgbClr val="0A2540"/>
                          </a:solidFill>
                          <a:latin typeface="Georgia"/>
                        </a:rPr>
                        <a:t>59</a:t>
                      </a:r>
                    </a:p>
                  </a:txBody>
                  <a:tcPr marL="73152" marR="45720" anchor="ctr">
                    <a:solidFill>
                      <a:srgbClr val="FFFDF9"/>
                    </a:solidFill>
                  </a:tcPr>
                </a:tc>
                <a:tc>
                  <a:txBody>
                    <a:bodyPr/>
                    <a:lstStyle/>
                    <a:p>
                      <a:r>
                        <a:rPr sz="900" b="1">
                          <a:solidFill>
                            <a:srgbClr val="0A2540"/>
                          </a:solidFill>
                          <a:latin typeface="Georgia"/>
                        </a:rPr>
                        <a:t>54</a:t>
                      </a:r>
                    </a:p>
                  </a:txBody>
                  <a:tcPr marL="73152" marR="45720" anchor="ctr">
                    <a:solidFill>
                      <a:srgbClr val="F4EAD5"/>
                    </a:solidFill>
                  </a:tcPr>
                </a:tc>
                <a:tc>
                  <a:txBody>
                    <a:bodyPr/>
                    <a:lstStyle/>
                    <a:p>
                      <a:r>
                        <a:rPr sz="900" b="0">
                          <a:solidFill>
                            <a:srgbClr val="0A2540"/>
                          </a:solidFill>
                          <a:latin typeface="Georgia"/>
                        </a:rPr>
                        <a:t>27</a:t>
                      </a:r>
                    </a:p>
                  </a:txBody>
                  <a:tcPr marL="73152" marR="45720" anchor="ctr">
                    <a:solidFill>
                      <a:srgbClr val="FFFDF9"/>
                    </a:solidFill>
                  </a:tcPr>
                </a:tc>
              </a:tr>
              <a:tr h="329184">
                <a:tc>
                  <a:txBody>
                    <a:bodyPr/>
                    <a:lstStyle/>
                    <a:p>
                      <a:r>
                        <a:rPr sz="900" b="1">
                          <a:solidFill>
                            <a:srgbClr val="0A2540"/>
                          </a:solidFill>
                          <a:latin typeface="Georgia"/>
                        </a:rPr>
                        <a:t>Aceptación en el mundo</a:t>
                      </a:r>
                    </a:p>
                  </a:txBody>
                  <a:tcPr marL="73152" marR="45720" anchor="ctr">
                    <a:solidFill>
                      <a:srgbClr val="F6F3EC"/>
                    </a:solidFill>
                  </a:tcPr>
                </a:tc>
                <a:tc>
                  <a:txBody>
                    <a:bodyPr/>
                    <a:lstStyle/>
                    <a:p>
                      <a:r>
                        <a:rPr sz="900" b="0">
                          <a:solidFill>
                            <a:srgbClr val="0A2540"/>
                          </a:solidFill>
                          <a:latin typeface="Georgia"/>
                        </a:rPr>
                        <a:t>76</a:t>
                      </a:r>
                    </a:p>
                  </a:txBody>
                  <a:tcPr marL="73152" marR="45720" anchor="ctr">
                    <a:solidFill>
                      <a:srgbClr val="F6F3EC"/>
                    </a:solidFill>
                  </a:tcPr>
                </a:tc>
                <a:tc>
                  <a:txBody>
                    <a:bodyPr/>
                    <a:lstStyle/>
                    <a:p>
                      <a:r>
                        <a:rPr sz="900" b="0">
                          <a:solidFill>
                            <a:srgbClr val="0A2540"/>
                          </a:solidFill>
                          <a:latin typeface="Georgia"/>
                        </a:rPr>
                        <a:t>56</a:t>
                      </a:r>
                    </a:p>
                  </a:txBody>
                  <a:tcPr marL="73152" marR="45720" anchor="ctr">
                    <a:solidFill>
                      <a:srgbClr val="F6F3EC"/>
                    </a:solidFill>
                  </a:tcPr>
                </a:tc>
                <a:tc>
                  <a:txBody>
                    <a:bodyPr/>
                    <a:lstStyle/>
                    <a:p>
                      <a:r>
                        <a:rPr sz="900" b="1">
                          <a:solidFill>
                            <a:srgbClr val="0A2540"/>
                          </a:solidFill>
                          <a:latin typeface="Georgia"/>
                        </a:rPr>
                        <a:t>28</a:t>
                      </a:r>
                    </a:p>
                  </a:txBody>
                  <a:tcPr marL="73152" marR="45720" anchor="ctr">
                    <a:solidFill>
                      <a:srgbClr val="F4EAD5"/>
                    </a:solidFill>
                  </a:tcPr>
                </a:tc>
                <a:tc>
                  <a:txBody>
                    <a:bodyPr/>
                    <a:lstStyle/>
                    <a:p>
                      <a:r>
                        <a:rPr sz="900" b="0">
                          <a:solidFill>
                            <a:srgbClr val="0A2540"/>
                          </a:solidFill>
                          <a:latin typeface="Georgia"/>
                        </a:rPr>
                        <a:t>24</a:t>
                      </a:r>
                    </a:p>
                  </a:txBody>
                  <a:tcPr marL="73152" marR="45720" anchor="ctr">
                    <a:solidFill>
                      <a:srgbClr val="F6F3EC"/>
                    </a:solidFill>
                  </a:tcPr>
                </a:tc>
              </a:tr>
            </a:tbl>
          </a:graphicData>
        </a:graphic>
      </p:graphicFrame>
      <p:sp>
        <p:nvSpPr>
          <p:cNvPr id="8" name="Rectangle 7"/>
          <p:cNvSpPr/>
          <p:nvPr/>
        </p:nvSpPr>
        <p:spPr>
          <a:xfrm>
            <a:off x="731520" y="3429000"/>
            <a:ext cx="5486400" cy="141732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429000"/>
            <a:ext cx="32004" cy="1417320"/>
          </a:xfrm>
          <a:prstGeom prst="rect">
            <a:avLst/>
          </a:prstGeom>
          <a:solidFill>
            <a:srgbClr val="D2A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5120640" cy="960120"/>
          </a:xfrm>
          <a:prstGeom prst="rect">
            <a:avLst/>
          </a:prstGeom>
          <a:noFill/>
        </p:spPr>
        <p:txBody>
          <a:bodyPr wrap="square" lIns="0" rIns="0" tIns="0" bIns="0" anchor="t">
            <a:spAutoFit/>
          </a:bodyPr>
          <a:lstStyle/>
          <a:p>
            <a:pPr algn="l">
              <a:lnSpc>
                <a:spcPct val="134000"/>
              </a:lnSpc>
              <a:spcAft>
                <a:spcPts val="0"/>
              </a:spcAft>
            </a:pPr>
            <a:r>
              <a:rPr sz="880" b="0">
                <a:solidFill>
                  <a:srgbClr val="14263D"/>
                </a:solidFill>
                <a:latin typeface="Helvetica Neue"/>
              </a:rPr>
              <a:t>“Visa y Mastercard siguen liderando en aceptación, particularmente entre Clubmembers. Resolver las barreras de aceptación es clave para retener a los clientes actuales, que de lo contrario pueden optar por la competencia.”</a:t>
            </a:r>
          </a:p>
        </p:txBody>
      </p:sp>
      <p:sp>
        <p:nvSpPr>
          <p:cNvPr id="11" name="TextBox 10"/>
          <p:cNvSpPr txBox="1"/>
          <p:nvPr/>
        </p:nvSpPr>
        <p:spPr>
          <a:xfrm>
            <a:off x="914400" y="4553712"/>
            <a:ext cx="5120640" cy="219456"/>
          </a:xfrm>
          <a:prstGeom prst="rect">
            <a:avLst/>
          </a:prstGeom>
          <a:noFill/>
        </p:spPr>
        <p:txBody>
          <a:bodyPr wrap="square" lIns="0" rIns="0" tIns="0" bIns="0" anchor="t">
            <a:spAutoFit/>
          </a:bodyPr>
          <a:lstStyle/>
          <a:p>
            <a:pPr algn="l">
              <a:lnSpc>
                <a:spcPct val="108000"/>
              </a:lnSpc>
              <a:spcAft>
                <a:spcPts val="0"/>
              </a:spcAft>
            </a:pPr>
            <a:r>
              <a:rPr sz="680" b="0">
                <a:solidFill>
                  <a:srgbClr val="75808F"/>
                </a:solidFill>
                <a:latin typeface="Helvetica Neue"/>
              </a:rPr>
              <a:t>BRAND HEALTH TRACKER 2026 · 9.721 ENCUESTADOS · 16 MERCADOS, COLOMBIA INCLUIDA</a:t>
            </a:r>
          </a:p>
        </p:txBody>
      </p:sp>
      <p:sp>
        <p:nvSpPr>
          <p:cNvPr id="12" name="Rectangle 11"/>
          <p:cNvSpPr/>
          <p:nvPr/>
        </p:nvSpPr>
        <p:spPr>
          <a:xfrm>
            <a:off x="731520" y="4983480"/>
            <a:ext cx="5486400" cy="1005840"/>
          </a:xfrm>
          <a:prstGeom prst="rect">
            <a:avLst/>
          </a:prstGeom>
          <a:solidFill>
            <a:srgbClr val="F6ECEC"/>
          </a:solidFill>
          <a:ln w="12700">
            <a:solidFill>
              <a:srgbClr val="D8B8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138928"/>
            <a:ext cx="5157216" cy="182880"/>
          </a:xfrm>
          <a:prstGeom prst="rect">
            <a:avLst/>
          </a:prstGeom>
          <a:noFill/>
        </p:spPr>
        <p:txBody>
          <a:bodyPr wrap="square" lIns="0" rIns="0" tIns="0" bIns="0" anchor="t">
            <a:spAutoFit/>
          </a:bodyPr>
          <a:lstStyle/>
          <a:p>
            <a:pPr algn="l">
              <a:lnSpc>
                <a:spcPct val="108000"/>
              </a:lnSpc>
              <a:spcAft>
                <a:spcPts val="0"/>
              </a:spcAft>
            </a:pPr>
            <a:r>
              <a:rPr sz="700" b="1">
                <a:solidFill>
                  <a:srgbClr val="8C3A3A"/>
                </a:solidFill>
                <a:latin typeface="Helvetica Neue"/>
              </a:rPr>
              <a:t>LA CONSECUENCIA OPERATIVA</a:t>
            </a:r>
          </a:p>
        </p:txBody>
      </p:sp>
      <p:sp>
        <p:nvSpPr>
          <p:cNvPr id="14" name="TextBox 13"/>
          <p:cNvSpPr txBox="1"/>
          <p:nvPr/>
        </p:nvSpPr>
        <p:spPr>
          <a:xfrm>
            <a:off x="896112" y="5349240"/>
            <a:ext cx="5157216" cy="457200"/>
          </a:xfrm>
          <a:prstGeom prst="rect">
            <a:avLst/>
          </a:prstGeom>
          <a:noFill/>
        </p:spPr>
        <p:txBody>
          <a:bodyPr wrap="square" lIns="0" rIns="0" tIns="0" bIns="0" anchor="t">
            <a:spAutoFit/>
          </a:bodyPr>
          <a:lstStyle/>
          <a:p>
            <a:pPr algn="l">
              <a:lnSpc>
                <a:spcPct val="106000"/>
              </a:lnSpc>
              <a:spcAft>
                <a:spcPts val="0"/>
              </a:spcAft>
            </a:pPr>
            <a:r>
              <a:rPr sz="1100" b="1">
                <a:solidFill>
                  <a:srgbClr val="0A2540"/>
                </a:solidFill>
                <a:latin typeface="Georgia"/>
              </a:rPr>
              <a:t>El plan no genera intención hacia comercios sin verificar</a:t>
            </a:r>
          </a:p>
        </p:txBody>
      </p:sp>
      <p:sp>
        <p:nvSpPr>
          <p:cNvPr id="15" name="TextBox 14"/>
          <p:cNvSpPr txBox="1"/>
          <p:nvPr/>
        </p:nvSpPr>
        <p:spPr>
          <a:xfrm>
            <a:off x="896112" y="5879592"/>
            <a:ext cx="5157216" cy="-18288"/>
          </a:xfrm>
          <a:prstGeom prst="rect">
            <a:avLst/>
          </a:prstGeom>
          <a:noFill/>
        </p:spPr>
        <p:txBody>
          <a:bodyPr wrap="square" lIns="0" rIns="0" tIns="0" bIns="0" anchor="t">
            <a:spAutoFit/>
          </a:bodyPr>
          <a:lstStyle/>
          <a:p>
            <a:pPr algn="l">
              <a:lnSpc>
                <a:spcPct val="126000"/>
              </a:lnSpc>
              <a:spcAft>
                <a:spcPts val="0"/>
              </a:spcAft>
            </a:pPr>
            <a:r>
              <a:rPr sz="860" b="0">
                <a:solidFill>
                  <a:srgbClr val="14263D"/>
                </a:solidFill>
                <a:latin typeface="Helvetica Neue"/>
              </a:rPr>
              <a:t>Cada intento fallido en caja confirma la percepción que la investigación ya midió.</a:t>
            </a:r>
          </a:p>
        </p:txBody>
      </p:sp>
      <p:sp>
        <p:nvSpPr>
          <p:cNvPr id="16" name="TextBox 15"/>
          <p:cNvSpPr txBox="1"/>
          <p:nvPr/>
        </p:nvSpPr>
        <p:spPr>
          <a:xfrm>
            <a:off x="6583680" y="1920240"/>
            <a:ext cx="4846320" cy="201168"/>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OFERTAS ÚNICAS DE DINING, ENTRE CLUBMEMBERS</a:t>
            </a:r>
          </a:p>
        </p:txBody>
      </p:sp>
      <p:graphicFrame>
        <p:nvGraphicFramePr>
          <p:cNvPr id="17" name="Table 16"/>
          <p:cNvGraphicFramePr>
            <a:graphicFrameLocks noGrp="1"/>
          </p:cNvGraphicFramePr>
          <p:nvPr/>
        </p:nvGraphicFramePr>
        <p:xfrm>
          <a:off x="6583680" y="2194560"/>
          <a:ext cx="4846320" cy="1645920"/>
        </p:xfrm>
        <a:graphic>
          <a:graphicData uri="http://schemas.openxmlformats.org/drawingml/2006/table">
            <a:tbl>
              <a:tblPr firstRow="1" bandRow="1">
                <a:tableStyleId>{5C22544A-7EE6-4342-B048-85BDC9FD1C3A}</a:tableStyleId>
              </a:tblPr>
              <a:tblGrid>
                <a:gridCol w="3657600"/>
                <a:gridCol w="1188720"/>
              </a:tblGrid>
              <a:tr h="329184">
                <a:tc>
                  <a:txBody>
                    <a:bodyPr/>
                    <a:lstStyle/>
                    <a:p>
                      <a:r>
                        <a:rPr sz="840" b="1">
                          <a:solidFill>
                            <a:srgbClr val="FFFFFF"/>
                          </a:solidFill>
                          <a:latin typeface="Helvetica Neue"/>
                        </a:rPr>
                        <a:t>Marca</a:t>
                      </a:r>
                    </a:p>
                  </a:txBody>
                  <a:tcPr marL="73152" marR="45720" anchor="ctr">
                    <a:solidFill>
                      <a:srgbClr val="0A2540"/>
                    </a:solidFill>
                  </a:tcPr>
                </a:tc>
                <a:tc>
                  <a:txBody>
                    <a:bodyPr/>
                    <a:lstStyle/>
                    <a:p>
                      <a:r>
                        <a:rPr sz="840" b="1">
                          <a:solidFill>
                            <a:srgbClr val="FFFFFF"/>
                          </a:solidFill>
                          <a:latin typeface="Helvetica Neue"/>
                        </a:rPr>
                        <a:t>%</a:t>
                      </a:r>
                    </a:p>
                  </a:txBody>
                  <a:tcPr marL="73152" marR="45720" anchor="ctr">
                    <a:solidFill>
                      <a:srgbClr val="8A6B1F"/>
                    </a:solidFill>
                  </a:tcPr>
                </a:tc>
              </a:tr>
              <a:tr h="329184">
                <a:tc>
                  <a:txBody>
                    <a:bodyPr/>
                    <a:lstStyle/>
                    <a:p>
                      <a:r>
                        <a:rPr sz="900" b="1">
                          <a:solidFill>
                            <a:srgbClr val="0A2540"/>
                          </a:solidFill>
                          <a:latin typeface="Georgia"/>
                        </a:rPr>
                        <a:t>Diners Club</a:t>
                      </a:r>
                    </a:p>
                  </a:txBody>
                  <a:tcPr marL="73152" marR="45720" anchor="ctr">
                    <a:solidFill>
                      <a:srgbClr val="FFFDF9"/>
                    </a:solidFill>
                  </a:tcPr>
                </a:tc>
                <a:tc>
                  <a:txBody>
                    <a:bodyPr/>
                    <a:lstStyle/>
                    <a:p>
                      <a:r>
                        <a:rPr sz="900" b="1">
                          <a:solidFill>
                            <a:srgbClr val="0A2540"/>
                          </a:solidFill>
                          <a:latin typeface="Georgia"/>
                        </a:rPr>
                        <a:t>56</a:t>
                      </a:r>
                    </a:p>
                  </a:txBody>
                  <a:tcPr marL="73152" marR="45720" anchor="ctr">
                    <a:solidFill>
                      <a:srgbClr val="F4EAD5"/>
                    </a:solidFill>
                  </a:tcPr>
                </a:tc>
              </a:tr>
              <a:tr h="329184">
                <a:tc>
                  <a:txBody>
                    <a:bodyPr/>
                    <a:lstStyle/>
                    <a:p>
                      <a:r>
                        <a:rPr sz="900" b="1">
                          <a:solidFill>
                            <a:srgbClr val="0A2540"/>
                          </a:solidFill>
                          <a:latin typeface="Georgia"/>
                        </a:rPr>
                        <a:t>American Express</a:t>
                      </a:r>
                    </a:p>
                  </a:txBody>
                  <a:tcPr marL="73152" marR="45720" anchor="ctr">
                    <a:solidFill>
                      <a:srgbClr val="F6F3EC"/>
                    </a:solidFill>
                  </a:tcPr>
                </a:tc>
                <a:tc>
                  <a:txBody>
                    <a:bodyPr/>
                    <a:lstStyle/>
                    <a:p>
                      <a:r>
                        <a:rPr sz="900" b="1">
                          <a:solidFill>
                            <a:srgbClr val="0A2540"/>
                          </a:solidFill>
                          <a:latin typeface="Georgia"/>
                        </a:rPr>
                        <a:t>23</a:t>
                      </a:r>
                    </a:p>
                  </a:txBody>
                  <a:tcPr marL="73152" marR="45720" anchor="ctr">
                    <a:solidFill>
                      <a:srgbClr val="F4EAD5"/>
                    </a:solidFill>
                  </a:tcPr>
                </a:tc>
              </a:tr>
              <a:tr h="329184">
                <a:tc>
                  <a:txBody>
                    <a:bodyPr/>
                    <a:lstStyle/>
                    <a:p>
                      <a:r>
                        <a:rPr sz="900" b="1">
                          <a:solidFill>
                            <a:srgbClr val="0A2540"/>
                          </a:solidFill>
                          <a:latin typeface="Georgia"/>
                        </a:rPr>
                        <a:t>Visa</a:t>
                      </a:r>
                    </a:p>
                  </a:txBody>
                  <a:tcPr marL="73152" marR="45720" anchor="ctr">
                    <a:solidFill>
                      <a:srgbClr val="FFFDF9"/>
                    </a:solidFill>
                  </a:tcPr>
                </a:tc>
                <a:tc>
                  <a:txBody>
                    <a:bodyPr/>
                    <a:lstStyle/>
                    <a:p>
                      <a:r>
                        <a:rPr sz="900" b="1">
                          <a:solidFill>
                            <a:srgbClr val="0A2540"/>
                          </a:solidFill>
                          <a:latin typeface="Georgia"/>
                        </a:rPr>
                        <a:t>23</a:t>
                      </a:r>
                    </a:p>
                  </a:txBody>
                  <a:tcPr marL="73152" marR="45720" anchor="ctr">
                    <a:solidFill>
                      <a:srgbClr val="F4EAD5"/>
                    </a:solidFill>
                  </a:tcPr>
                </a:tc>
              </a:tr>
              <a:tr h="329184">
                <a:tc>
                  <a:txBody>
                    <a:bodyPr/>
                    <a:lstStyle/>
                    <a:p>
                      <a:r>
                        <a:rPr sz="900" b="1">
                          <a:solidFill>
                            <a:srgbClr val="0A2540"/>
                          </a:solidFill>
                          <a:latin typeface="Georgia"/>
                        </a:rPr>
                        <a:t>Mastercard</a:t>
                      </a:r>
                    </a:p>
                  </a:txBody>
                  <a:tcPr marL="73152" marR="45720" anchor="ctr">
                    <a:solidFill>
                      <a:srgbClr val="F6F3EC"/>
                    </a:solidFill>
                  </a:tcPr>
                </a:tc>
                <a:tc>
                  <a:txBody>
                    <a:bodyPr/>
                    <a:lstStyle/>
                    <a:p>
                      <a:r>
                        <a:rPr sz="900" b="1">
                          <a:solidFill>
                            <a:srgbClr val="0A2540"/>
                          </a:solidFill>
                          <a:latin typeface="Georgia"/>
                        </a:rPr>
                        <a:t>14</a:t>
                      </a:r>
                    </a:p>
                  </a:txBody>
                  <a:tcPr marL="73152" marR="45720" anchor="ctr">
                    <a:solidFill>
                      <a:srgbClr val="F4EAD5"/>
                    </a:solidFill>
                  </a:tcPr>
                </a:tc>
              </a:tr>
            </a:tbl>
          </a:graphicData>
        </a:graphic>
      </p:graphicFrame>
      <p:sp>
        <p:nvSpPr>
          <p:cNvPr id="18" name="Rectangle 17"/>
          <p:cNvSpPr/>
          <p:nvPr/>
        </p:nvSpPr>
        <p:spPr>
          <a:xfrm>
            <a:off x="6583680" y="4069080"/>
            <a:ext cx="4846320" cy="192024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48272" y="4224528"/>
            <a:ext cx="451713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LO QUE ESTO DEFINE</a:t>
            </a:r>
          </a:p>
        </p:txBody>
      </p:sp>
      <p:sp>
        <p:nvSpPr>
          <p:cNvPr id="20" name="TextBox 19"/>
          <p:cNvSpPr txBox="1"/>
          <p:nvPr/>
        </p:nvSpPr>
        <p:spPr>
          <a:xfrm>
            <a:off x="6748272" y="4434840"/>
            <a:ext cx="4517136" cy="457200"/>
          </a:xfrm>
          <a:prstGeom prst="rect">
            <a:avLst/>
          </a:prstGeom>
          <a:noFill/>
        </p:spPr>
        <p:txBody>
          <a:bodyPr wrap="square" lIns="0" rIns="0" tIns="0" bIns="0" anchor="t">
            <a:spAutoFit/>
          </a:bodyPr>
          <a:lstStyle/>
          <a:p>
            <a:pPr algn="l">
              <a:lnSpc>
                <a:spcPct val="106000"/>
              </a:lnSpc>
              <a:spcAft>
                <a:spcPts val="0"/>
              </a:spcAft>
            </a:pPr>
            <a:r>
              <a:rPr sz="1200" b="1">
                <a:solidFill>
                  <a:srgbClr val="0A2540"/>
                </a:solidFill>
                <a:latin typeface="Georgia"/>
              </a:rPr>
              <a:t>Dining es el terreno donde la marca ya gana</a:t>
            </a:r>
          </a:p>
        </p:txBody>
      </p:sp>
      <p:sp>
        <p:nvSpPr>
          <p:cNvPr id="21" name="TextBox 20"/>
          <p:cNvSpPr txBox="1"/>
          <p:nvPr/>
        </p:nvSpPr>
        <p:spPr>
          <a:xfrm>
            <a:off x="6748272" y="4965192"/>
            <a:ext cx="4517136" cy="896111"/>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La ventaja en dining duplica a la del segundo competidor. No hay que construirla, hay que hacerla visible. La recomendación del propio tracker es destacar estos beneficios, en dining, tanto a Clubmembers actuales como a prospectos. Esta propuesta atiende los dos.</a:t>
            </a:r>
          </a:p>
        </p:txBody>
      </p:sp>
      <p:sp>
        <p:nvSpPr>
          <p:cNvPr id="22" name="TextBox 21"/>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FUENTE: INVESTIGACIÓN GLOBAL DE MARCA DE DINERS CLUB INTERNATIONAL</a:t>
            </a:r>
          </a:p>
        </p:txBody>
      </p:sp>
      <p:sp>
        <p:nvSpPr>
          <p:cNvPr id="23" name="TextBox 22"/>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erfil.jpg"/>
          <p:cNvPicPr>
            <a:picLocks noChangeAspect="1"/>
          </p:cNvPicPr>
          <p:nvPr/>
        </p:nvPicPr>
        <p:blipFill>
          <a:blip r:embed="rId2"/>
          <a:stretch>
            <a:fillRect/>
          </a:stretch>
        </p:blipFill>
        <p:spPr>
          <a:xfrm>
            <a:off x="8001000" y="0"/>
            <a:ext cx="4187952" cy="6858000"/>
          </a:xfrm>
          <a:prstGeom prst="rect">
            <a:avLst/>
          </a:prstGeom>
        </p:spPr>
      </p:pic>
      <p:sp>
        <p:nvSpPr>
          <p:cNvPr id="4" name="Rectangle 3"/>
          <p:cNvSpPr/>
          <p:nvPr/>
        </p:nvSpPr>
        <p:spPr>
          <a:xfrm>
            <a:off x="8001000" y="0"/>
            <a:ext cx="4187952" cy="6858000"/>
          </a:xfrm>
          <a:prstGeom prst="rect">
            <a:avLst/>
          </a:prstGeom>
          <a:solidFill>
            <a:srgbClr val="0A2540">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57031" y="5532120"/>
            <a:ext cx="3675887" cy="914400"/>
          </a:xfrm>
          <a:prstGeom prst="rect">
            <a:avLst/>
          </a:prstGeom>
          <a:noFill/>
        </p:spPr>
        <p:txBody>
          <a:bodyPr wrap="square" lIns="0" rIns="0" tIns="0" bIns="0" anchor="b">
            <a:spAutoFit/>
          </a:bodyPr>
          <a:lstStyle/>
          <a:p>
            <a:pPr algn="l">
              <a:lnSpc>
                <a:spcPct val="115000"/>
              </a:lnSpc>
              <a:spcAft>
                <a:spcPts val="0"/>
              </a:spcAft>
            </a:pPr>
            <a:r>
              <a:rPr sz="1800" b="0">
                <a:solidFill>
                  <a:srgbClr val="FFFFFF"/>
                </a:solidFill>
                <a:latin typeface="Georgia"/>
              </a:rPr>
              <a:t>Un beneficio llega
a quien ya entró.
Una revista llega
a quien falta.</a:t>
            </a:r>
          </a:p>
        </p:txBody>
      </p:sp>
      <p:sp>
        <p:nvSpPr>
          <p:cNvPr id="6" name="TextBox 5"/>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A QUIÉN LLEGA ESTE PLAN</a:t>
            </a:r>
          </a:p>
        </p:txBody>
      </p:sp>
      <p:sp>
        <p:nvSpPr>
          <p:cNvPr id="7" name="TextBox 6"/>
          <p:cNvSpPr txBox="1"/>
          <p:nvPr/>
        </p:nvSpPr>
        <p:spPr>
          <a:xfrm>
            <a:off x="731520" y="932688"/>
            <a:ext cx="667512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Dos públicos, no uno</a:t>
            </a:r>
          </a:p>
        </p:txBody>
      </p:sp>
      <p:sp>
        <p:nvSpPr>
          <p:cNvPr id="8" name="Rectangle 7"/>
          <p:cNvSpPr/>
          <p:nvPr/>
        </p:nvSpPr>
        <p:spPr>
          <a:xfrm>
            <a:off x="731520" y="1737360"/>
            <a:ext cx="6583680"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83664"/>
            <a:ext cx="658368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Un beneficio de tarjeta solo alcanza a quien ya la tiene. Un medio editorial alcanza a quien todavía no.</a:t>
            </a:r>
          </a:p>
        </p:txBody>
      </p:sp>
      <p:sp>
        <p:nvSpPr>
          <p:cNvPr id="10" name="TextBox 9"/>
          <p:cNvSpPr txBox="1"/>
          <p:nvPr/>
        </p:nvSpPr>
        <p:spPr>
          <a:xfrm>
            <a:off x="731520" y="2395728"/>
            <a:ext cx="6583680" cy="201168"/>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LA BRECHA CON PROSPECTOS, GLOBAL</a:t>
            </a:r>
          </a:p>
        </p:txBody>
      </p:sp>
      <p:graphicFrame>
        <p:nvGraphicFramePr>
          <p:cNvPr id="11" name="Table 10"/>
          <p:cNvGraphicFramePr>
            <a:graphicFrameLocks noGrp="1"/>
          </p:cNvGraphicFramePr>
          <p:nvPr/>
        </p:nvGraphicFramePr>
        <p:xfrm>
          <a:off x="731520" y="2670048"/>
          <a:ext cx="6583680" cy="1645920"/>
        </p:xfrm>
        <a:graphic>
          <a:graphicData uri="http://schemas.openxmlformats.org/drawingml/2006/table">
            <a:tbl>
              <a:tblPr firstRow="1" bandRow="1">
                <a:tableStyleId>{5C22544A-7EE6-4342-B048-85BDC9FD1C3A}</a:tableStyleId>
              </a:tblPr>
              <a:tblGrid>
                <a:gridCol w="3291840"/>
                <a:gridCol w="1097280"/>
                <a:gridCol w="1097280"/>
                <a:gridCol w="1097280"/>
              </a:tblGrid>
              <a:tr h="329184">
                <a:tc>
                  <a:txBody>
                    <a:bodyPr/>
                    <a:lstStyle/>
                    <a:p>
                      <a:r>
                        <a:rPr sz="840" b="1">
                          <a:solidFill>
                            <a:srgbClr val="FFFFFF"/>
                          </a:solidFill>
                          <a:latin typeface="Helvetica Neue"/>
                        </a:rPr>
                        <a:t>Atributo</a:t>
                      </a:r>
                    </a:p>
                  </a:txBody>
                  <a:tcPr marL="73152" marR="45720" anchor="ctr">
                    <a:solidFill>
                      <a:srgbClr val="0A2540"/>
                    </a:solidFill>
                  </a:tcPr>
                </a:tc>
                <a:tc>
                  <a:txBody>
                    <a:bodyPr/>
                    <a:lstStyle/>
                    <a:p>
                      <a:r>
                        <a:rPr sz="840" b="1">
                          <a:solidFill>
                            <a:srgbClr val="FFFFFF"/>
                          </a:solidFill>
                          <a:latin typeface="Helvetica Neue"/>
                        </a:rPr>
                        <a:t>Diners</a:t>
                      </a:r>
                    </a:p>
                  </a:txBody>
                  <a:tcPr marL="73152" marR="45720" anchor="ctr">
                    <a:solidFill>
                      <a:srgbClr val="8A6B1F"/>
                    </a:solidFill>
                  </a:tcPr>
                </a:tc>
                <a:tc>
                  <a:txBody>
                    <a:bodyPr/>
                    <a:lstStyle/>
                    <a:p>
                      <a:r>
                        <a:rPr sz="840" b="1">
                          <a:solidFill>
                            <a:srgbClr val="FFFFFF"/>
                          </a:solidFill>
                          <a:latin typeface="Helvetica Neue"/>
                        </a:rPr>
                        <a:t>Visa</a:t>
                      </a:r>
                    </a:p>
                  </a:txBody>
                  <a:tcPr marL="73152" marR="45720" anchor="ctr">
                    <a:solidFill>
                      <a:srgbClr val="0A2540"/>
                    </a:solidFill>
                  </a:tcPr>
                </a:tc>
                <a:tc>
                  <a:txBody>
                    <a:bodyPr/>
                    <a:lstStyle/>
                    <a:p>
                      <a:r>
                        <a:rPr sz="840" b="1">
                          <a:solidFill>
                            <a:srgbClr val="FFFFFF"/>
                          </a:solidFill>
                          <a:latin typeface="Helvetica Neue"/>
                        </a:rPr>
                        <a:t>Mastercard</a:t>
                      </a:r>
                    </a:p>
                  </a:txBody>
                  <a:tcPr marL="73152" marR="45720" anchor="ctr">
                    <a:solidFill>
                      <a:srgbClr val="0A2540"/>
                    </a:solidFill>
                  </a:tcPr>
                </a:tc>
              </a:tr>
              <a:tr h="329184">
                <a:tc>
                  <a:txBody>
                    <a:bodyPr/>
                    <a:lstStyle/>
                    <a:p>
                      <a:r>
                        <a:rPr sz="900" b="1">
                          <a:solidFill>
                            <a:srgbClr val="0A2540"/>
                          </a:solidFill>
                          <a:latin typeface="Georgia"/>
                        </a:rPr>
                        <a:t>Entiendo del todo sus beneficios</a:t>
                      </a:r>
                    </a:p>
                  </a:txBody>
                  <a:tcPr marL="73152" marR="45720" anchor="ctr">
                    <a:solidFill>
                      <a:srgbClr val="FFFDF9"/>
                    </a:solidFill>
                  </a:tcPr>
                </a:tc>
                <a:tc>
                  <a:txBody>
                    <a:bodyPr/>
                    <a:lstStyle/>
                    <a:p>
                      <a:r>
                        <a:rPr sz="900" b="1">
                          <a:solidFill>
                            <a:srgbClr val="0A2540"/>
                          </a:solidFill>
                          <a:latin typeface="Georgia"/>
                        </a:rPr>
                        <a:t>7</a:t>
                      </a:r>
                    </a:p>
                  </a:txBody>
                  <a:tcPr marL="73152" marR="45720" anchor="ctr">
                    <a:solidFill>
                      <a:srgbClr val="F4EAD5"/>
                    </a:solidFill>
                  </a:tcPr>
                </a:tc>
                <a:tc>
                  <a:txBody>
                    <a:bodyPr/>
                    <a:lstStyle/>
                    <a:p>
                      <a:r>
                        <a:rPr sz="900" b="0">
                          <a:solidFill>
                            <a:srgbClr val="0A2540"/>
                          </a:solidFill>
                          <a:latin typeface="Georgia"/>
                        </a:rPr>
                        <a:t>47</a:t>
                      </a:r>
                    </a:p>
                  </a:txBody>
                  <a:tcPr marL="73152" marR="45720" anchor="ctr">
                    <a:solidFill>
                      <a:srgbClr val="FFFDF9"/>
                    </a:solidFill>
                  </a:tcPr>
                </a:tc>
                <a:tc>
                  <a:txBody>
                    <a:bodyPr/>
                    <a:lstStyle/>
                    <a:p>
                      <a:r>
                        <a:rPr sz="900" b="0">
                          <a:solidFill>
                            <a:srgbClr val="0A2540"/>
                          </a:solidFill>
                          <a:latin typeface="Georgia"/>
                        </a:rPr>
                        <a:t>42</a:t>
                      </a:r>
                    </a:p>
                  </a:txBody>
                  <a:tcPr marL="73152" marR="45720" anchor="ctr">
                    <a:solidFill>
                      <a:srgbClr val="FFFDF9"/>
                    </a:solidFill>
                  </a:tcPr>
                </a:tc>
              </a:tr>
              <a:tr h="329184">
                <a:tc>
                  <a:txBody>
                    <a:bodyPr/>
                    <a:lstStyle/>
                    <a:p>
                      <a:r>
                        <a:rPr sz="900" b="1">
                          <a:solidFill>
                            <a:srgbClr val="0A2540"/>
                          </a:solidFill>
                          <a:latin typeface="Georgia"/>
                        </a:rPr>
                        <a:t>Ofertas de dining relevantes</a:t>
                      </a:r>
                    </a:p>
                  </a:txBody>
                  <a:tcPr marL="73152" marR="45720" anchor="ctr">
                    <a:solidFill>
                      <a:srgbClr val="F6F3EC"/>
                    </a:solidFill>
                  </a:tcPr>
                </a:tc>
                <a:tc>
                  <a:txBody>
                    <a:bodyPr/>
                    <a:lstStyle/>
                    <a:p>
                      <a:r>
                        <a:rPr sz="900" b="1">
                          <a:solidFill>
                            <a:srgbClr val="0A2540"/>
                          </a:solidFill>
                          <a:latin typeface="Georgia"/>
                        </a:rPr>
                        <a:t>16</a:t>
                      </a:r>
                    </a:p>
                  </a:txBody>
                  <a:tcPr marL="73152" marR="45720" anchor="ctr">
                    <a:solidFill>
                      <a:srgbClr val="F4EAD5"/>
                    </a:solidFill>
                  </a:tcPr>
                </a:tc>
                <a:tc>
                  <a:txBody>
                    <a:bodyPr/>
                    <a:lstStyle/>
                    <a:p>
                      <a:r>
                        <a:rPr sz="900" b="0">
                          <a:solidFill>
                            <a:srgbClr val="0A2540"/>
                          </a:solidFill>
                          <a:latin typeface="Georgia"/>
                        </a:rPr>
                        <a:t>39</a:t>
                      </a:r>
                    </a:p>
                  </a:txBody>
                  <a:tcPr marL="73152" marR="45720" anchor="ctr">
                    <a:solidFill>
                      <a:srgbClr val="F6F3EC"/>
                    </a:solidFill>
                  </a:tcPr>
                </a:tc>
                <a:tc>
                  <a:txBody>
                    <a:bodyPr/>
                    <a:lstStyle/>
                    <a:p>
                      <a:r>
                        <a:rPr sz="900" b="0">
                          <a:solidFill>
                            <a:srgbClr val="0A2540"/>
                          </a:solidFill>
                          <a:latin typeface="Georgia"/>
                        </a:rPr>
                        <a:t>35</a:t>
                      </a:r>
                    </a:p>
                  </a:txBody>
                  <a:tcPr marL="73152" marR="45720" anchor="ctr">
                    <a:solidFill>
                      <a:srgbClr val="F6F3EC"/>
                    </a:solidFill>
                  </a:tcPr>
                </a:tc>
              </a:tr>
              <a:tr h="329184">
                <a:tc>
                  <a:txBody>
                    <a:bodyPr/>
                    <a:lstStyle/>
                    <a:p>
                      <a:r>
                        <a:rPr sz="900" b="1">
                          <a:solidFill>
                            <a:srgbClr val="0A2540"/>
                          </a:solidFill>
                          <a:latin typeface="Georgia"/>
                        </a:rPr>
                        <a:t>Aspiro a tenerla</a:t>
                      </a:r>
                    </a:p>
                  </a:txBody>
                  <a:tcPr marL="73152" marR="45720" anchor="ctr">
                    <a:solidFill>
                      <a:srgbClr val="FFFDF9"/>
                    </a:solidFill>
                  </a:tcPr>
                </a:tc>
                <a:tc>
                  <a:txBody>
                    <a:bodyPr/>
                    <a:lstStyle/>
                    <a:p>
                      <a:r>
                        <a:rPr sz="900" b="1">
                          <a:solidFill>
                            <a:srgbClr val="0A2540"/>
                          </a:solidFill>
                          <a:latin typeface="Georgia"/>
                        </a:rPr>
                        <a:t>11</a:t>
                      </a:r>
                    </a:p>
                  </a:txBody>
                  <a:tcPr marL="73152" marR="45720" anchor="ctr">
                    <a:solidFill>
                      <a:srgbClr val="F4EAD5"/>
                    </a:solidFill>
                  </a:tcPr>
                </a:tc>
                <a:tc>
                  <a:txBody>
                    <a:bodyPr/>
                    <a:lstStyle/>
                    <a:p>
                      <a:r>
                        <a:rPr sz="900" b="0">
                          <a:solidFill>
                            <a:srgbClr val="0A2540"/>
                          </a:solidFill>
                          <a:latin typeface="Georgia"/>
                        </a:rPr>
                        <a:t>42</a:t>
                      </a:r>
                    </a:p>
                  </a:txBody>
                  <a:tcPr marL="73152" marR="45720" anchor="ctr">
                    <a:solidFill>
                      <a:srgbClr val="FFFDF9"/>
                    </a:solidFill>
                  </a:tcPr>
                </a:tc>
                <a:tc>
                  <a:txBody>
                    <a:bodyPr/>
                    <a:lstStyle/>
                    <a:p>
                      <a:r>
                        <a:rPr sz="900" b="0">
                          <a:solidFill>
                            <a:srgbClr val="0A2540"/>
                          </a:solidFill>
                          <a:latin typeface="Georgia"/>
                        </a:rPr>
                        <a:t>38</a:t>
                      </a:r>
                    </a:p>
                  </a:txBody>
                  <a:tcPr marL="73152" marR="45720" anchor="ctr">
                    <a:solidFill>
                      <a:srgbClr val="FFFDF9"/>
                    </a:solidFill>
                  </a:tcPr>
                </a:tc>
              </a:tr>
              <a:tr h="329184">
                <a:tc>
                  <a:txBody>
                    <a:bodyPr/>
                    <a:lstStyle/>
                    <a:p>
                      <a:r>
                        <a:rPr sz="900" b="1">
                          <a:solidFill>
                            <a:srgbClr val="0A2540"/>
                          </a:solidFill>
                          <a:latin typeface="Georgia"/>
                        </a:rPr>
                        <a:t>Aceptada en mi zona</a:t>
                      </a:r>
                    </a:p>
                  </a:txBody>
                  <a:tcPr marL="73152" marR="45720" anchor="ctr">
                    <a:solidFill>
                      <a:srgbClr val="F6F3EC"/>
                    </a:solidFill>
                  </a:tcPr>
                </a:tc>
                <a:tc>
                  <a:txBody>
                    <a:bodyPr/>
                    <a:lstStyle/>
                    <a:p>
                      <a:r>
                        <a:rPr sz="900" b="1">
                          <a:solidFill>
                            <a:srgbClr val="0A2540"/>
                          </a:solidFill>
                          <a:latin typeface="Georgia"/>
                        </a:rPr>
                        <a:t>11</a:t>
                      </a:r>
                    </a:p>
                  </a:txBody>
                  <a:tcPr marL="73152" marR="45720" anchor="ctr">
                    <a:solidFill>
                      <a:srgbClr val="F4EAD5"/>
                    </a:solidFill>
                  </a:tcPr>
                </a:tc>
                <a:tc>
                  <a:txBody>
                    <a:bodyPr/>
                    <a:lstStyle/>
                    <a:p>
                      <a:r>
                        <a:rPr sz="900" b="0">
                          <a:solidFill>
                            <a:srgbClr val="0A2540"/>
                          </a:solidFill>
                          <a:latin typeface="Georgia"/>
                        </a:rPr>
                        <a:t>66</a:t>
                      </a:r>
                    </a:p>
                  </a:txBody>
                  <a:tcPr marL="73152" marR="45720" anchor="ctr">
                    <a:solidFill>
                      <a:srgbClr val="F6F3EC"/>
                    </a:solidFill>
                  </a:tcPr>
                </a:tc>
                <a:tc>
                  <a:txBody>
                    <a:bodyPr/>
                    <a:lstStyle/>
                    <a:p>
                      <a:r>
                        <a:rPr sz="900" b="0">
                          <a:solidFill>
                            <a:srgbClr val="0A2540"/>
                          </a:solidFill>
                          <a:latin typeface="Georgia"/>
                        </a:rPr>
                        <a:t>63</a:t>
                      </a:r>
                    </a:p>
                  </a:txBody>
                  <a:tcPr marL="73152" marR="45720" anchor="ctr">
                    <a:solidFill>
                      <a:srgbClr val="F6F3EC"/>
                    </a:solidFill>
                  </a:tcPr>
                </a:tc>
              </a:tr>
            </a:tbl>
          </a:graphicData>
        </a:graphic>
      </p:graphicFrame>
      <p:sp>
        <p:nvSpPr>
          <p:cNvPr id="12" name="Rectangle 11"/>
          <p:cNvSpPr/>
          <p:nvPr/>
        </p:nvSpPr>
        <p:spPr>
          <a:xfrm>
            <a:off x="731520" y="4526280"/>
            <a:ext cx="3200400" cy="146304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681728"/>
            <a:ext cx="287121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CLUBMEMBERS · 169.000</a:t>
            </a:r>
          </a:p>
        </p:txBody>
      </p:sp>
      <p:sp>
        <p:nvSpPr>
          <p:cNvPr id="14" name="TextBox 13"/>
          <p:cNvSpPr txBox="1"/>
          <p:nvPr/>
        </p:nvSpPr>
        <p:spPr>
          <a:xfrm>
            <a:off x="896112" y="4892040"/>
            <a:ext cx="2871216" cy="457200"/>
          </a:xfrm>
          <a:prstGeom prst="rect">
            <a:avLst/>
          </a:prstGeom>
          <a:noFill/>
        </p:spPr>
        <p:txBody>
          <a:bodyPr wrap="square" lIns="0" rIns="0" tIns="0" bIns="0" anchor="t">
            <a:spAutoFit/>
          </a:bodyPr>
          <a:lstStyle/>
          <a:p>
            <a:pPr algn="l">
              <a:lnSpc>
                <a:spcPct val="106000"/>
              </a:lnSpc>
              <a:spcAft>
                <a:spcPts val="0"/>
              </a:spcAft>
            </a:pPr>
            <a:r>
              <a:rPr sz="1150" b="1">
                <a:solidFill>
                  <a:srgbClr val="FFFFFF"/>
                </a:solidFill>
                <a:latin typeface="Georgia"/>
              </a:rPr>
              <a:t>Retención y uso</a:t>
            </a:r>
          </a:p>
        </p:txBody>
      </p:sp>
      <p:sp>
        <p:nvSpPr>
          <p:cNvPr id="15" name="TextBox 14"/>
          <p:cNvSpPr txBox="1"/>
          <p:nvPr/>
        </p:nvSpPr>
        <p:spPr>
          <a:xfrm>
            <a:off x="896112" y="5248656"/>
            <a:ext cx="2871216" cy="612648"/>
          </a:xfrm>
          <a:prstGeom prst="rect">
            <a:avLst/>
          </a:prstGeom>
          <a:noFill/>
        </p:spPr>
        <p:txBody>
          <a:bodyPr wrap="square" lIns="0" rIns="0" tIns="0" bIns="0" anchor="t">
            <a:spAutoFit/>
          </a:bodyPr>
          <a:lstStyle/>
          <a:p>
            <a:pPr algn="l">
              <a:lnSpc>
                <a:spcPct val="126000"/>
              </a:lnSpc>
              <a:spcAft>
                <a:spcPts val="0"/>
              </a:spcAft>
            </a:pPr>
            <a:r>
              <a:rPr sz="880" b="0">
                <a:solidFill>
                  <a:srgbClr val="D8DDE4"/>
                </a:solidFill>
                <a:latin typeface="Helvetica Neue"/>
              </a:rPr>
              <a:t>Dar una razón concreta para elegir la tarjeta al pagar, donde la aceptación está verificada.</a:t>
            </a:r>
          </a:p>
        </p:txBody>
      </p:sp>
      <p:sp>
        <p:nvSpPr>
          <p:cNvPr id="16" name="Rectangle 15"/>
          <p:cNvSpPr/>
          <p:nvPr/>
        </p:nvSpPr>
        <p:spPr>
          <a:xfrm>
            <a:off x="4114800" y="4526280"/>
            <a:ext cx="3200400" cy="146304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79392" y="4681728"/>
            <a:ext cx="287121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PROSPECTOS · 146.000 SUSCRIPTORES</a:t>
            </a:r>
          </a:p>
        </p:txBody>
      </p:sp>
      <p:sp>
        <p:nvSpPr>
          <p:cNvPr id="18" name="TextBox 17"/>
          <p:cNvSpPr txBox="1"/>
          <p:nvPr/>
        </p:nvSpPr>
        <p:spPr>
          <a:xfrm>
            <a:off x="4279392" y="4892040"/>
            <a:ext cx="287121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Comprensión y aspiración</a:t>
            </a:r>
          </a:p>
        </p:txBody>
      </p:sp>
      <p:sp>
        <p:nvSpPr>
          <p:cNvPr id="19" name="TextBox 18"/>
          <p:cNvSpPr txBox="1"/>
          <p:nvPr/>
        </p:nvSpPr>
        <p:spPr>
          <a:xfrm>
            <a:off x="4279392" y="5248656"/>
            <a:ext cx="2871216" cy="612648"/>
          </a:xfrm>
          <a:prstGeom prst="rect">
            <a:avLst/>
          </a:prstGeom>
          <a:noFill/>
        </p:spPr>
        <p:txBody>
          <a:bodyPr wrap="square" lIns="0" rIns="0" tIns="0" bIns="0" anchor="t">
            <a:spAutoFit/>
          </a:bodyPr>
          <a:lstStyle/>
          <a:p>
            <a:pPr algn="l">
              <a:lnSpc>
                <a:spcPct val="126000"/>
              </a:lnSpc>
              <a:spcAft>
                <a:spcPts val="0"/>
              </a:spcAft>
            </a:pPr>
            <a:r>
              <a:rPr sz="880" b="0">
                <a:solidFill>
                  <a:srgbClr val="14263D"/>
                </a:solidFill>
                <a:latin typeface="Helvetica Neue"/>
              </a:rPr>
              <a:t>La revista entra a hogares del mismo perfil premium que todavía no son Clubmembers.</a:t>
            </a:r>
          </a:p>
        </p:txBody>
      </p:sp>
      <p:sp>
        <p:nvSpPr>
          <p:cNvPr id="20" name="TextBox 19"/>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EL ACTIVO EDITORIAL ES EL QUE RESUELVE EL SEGUNDO PÚBLICO</a:t>
            </a:r>
          </a:p>
        </p:txBody>
      </p:sp>
      <p:sp>
        <p:nvSpPr>
          <p:cNvPr id="21" name="TextBox 20"/>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spAutoFit/>
          </a:bodyPr>
          <a:lstStyle/>
          <a:p>
            <a:r>
              <a:rPr sz="850" b="1">
                <a:solidFill>
                  <a:srgbClr val="8A6B1F"/>
                </a:solidFill>
                <a:latin typeface="Helvetica Neue"/>
              </a:rPr>
              <a:t>EL ESPACIO QUE QUEDA LIBRE</a:t>
            </a:r>
          </a:p>
        </p:txBody>
      </p:sp>
      <p:sp>
        <p:nvSpPr>
          <p:cNvPr id="4" name="TextBox 3"/>
          <p:cNvSpPr txBox="1"/>
          <p:nvPr/>
        </p:nvSpPr>
        <p:spPr>
          <a:xfrm>
            <a:off x="731520" y="932688"/>
            <a:ext cx="10058400" cy="1188720"/>
          </a:xfrm>
          <a:prstGeom prst="rect">
            <a:avLst/>
          </a:prstGeom>
          <a:noFill/>
        </p:spPr>
        <p:txBody>
          <a:bodyPr wrap="square" lIns="0" rIns="0" tIns="0" bIns="0">
            <a:spAutoFit/>
          </a:bodyPr>
          <a:lstStyle/>
          <a:p>
            <a:r>
              <a:rPr sz="3100" b="0">
                <a:solidFill>
                  <a:srgbClr val="0A2540"/>
                </a:solidFill>
                <a:latin typeface="Georgia"/>
              </a:rPr>
              <a:t>Dos ejes tomados, uno vacío</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83664"/>
            <a:ext cx="10424160" cy="566928"/>
          </a:xfrm>
          <a:prstGeom prst="rect">
            <a:avLst/>
          </a:prstGeom>
          <a:noFill/>
        </p:spPr>
        <p:txBody>
          <a:bodyPr wrap="square" lIns="0" rIns="0" tIns="0" bIns="0">
            <a:spAutoFit/>
          </a:bodyPr>
          <a:lstStyle/>
          <a:p>
            <a:r>
              <a:rPr sz="1050" b="0">
                <a:solidFill>
                  <a:srgbClr val="75808F"/>
                </a:solidFill>
                <a:latin typeface="Helvetica Neue"/>
              </a:rPr>
              <a:t>Los dos competidores de la categoría ocupan posiciones distintas y ninguno ocupa la tercera. Esa es la razón de fondo de este posicionamiento.</a:t>
            </a:r>
          </a:p>
        </p:txBody>
      </p:sp>
      <p:sp>
        <p:nvSpPr>
          <p:cNvPr id="7" name="Rectangle 6"/>
          <p:cNvSpPr/>
          <p:nvPr/>
        </p:nvSpPr>
        <p:spPr>
          <a:xfrm>
            <a:off x="731520" y="2615184"/>
            <a:ext cx="3474720" cy="228600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770632"/>
            <a:ext cx="3145536" cy="182880"/>
          </a:xfrm>
          <a:prstGeom prst="rect">
            <a:avLst/>
          </a:prstGeom>
          <a:noFill/>
        </p:spPr>
        <p:txBody>
          <a:bodyPr wrap="square" lIns="0" rIns="0" tIns="0" bIns="0">
            <a:spAutoFit/>
          </a:bodyPr>
          <a:lstStyle/>
          <a:p>
            <a:r>
              <a:rPr sz="700" b="1">
                <a:solidFill>
                  <a:srgbClr val="8A6B1F"/>
                </a:solidFill>
                <a:latin typeface="Helvetica Neue"/>
              </a:rPr>
              <a:t>VISA</a:t>
            </a:r>
          </a:p>
        </p:txBody>
      </p:sp>
      <p:sp>
        <p:nvSpPr>
          <p:cNvPr id="9" name="TextBox 8"/>
          <p:cNvSpPr txBox="1"/>
          <p:nvPr/>
        </p:nvSpPr>
        <p:spPr>
          <a:xfrm>
            <a:off x="896112" y="2999232"/>
            <a:ext cx="3145536" cy="457200"/>
          </a:xfrm>
          <a:prstGeom prst="rect">
            <a:avLst/>
          </a:prstGeom>
          <a:noFill/>
        </p:spPr>
        <p:txBody>
          <a:bodyPr wrap="square" lIns="0" rIns="0" tIns="0" bIns="0">
            <a:spAutoFit/>
          </a:bodyPr>
          <a:lstStyle/>
          <a:p>
            <a:r>
              <a:rPr sz="1150" b="1">
                <a:solidFill>
                  <a:srgbClr val="0A2540"/>
                </a:solidFill>
                <a:latin typeface="Georgia"/>
              </a:rPr>
              <a:t>Everywhere you want to be</a:t>
            </a:r>
          </a:p>
        </p:txBody>
      </p:sp>
      <p:sp>
        <p:nvSpPr>
          <p:cNvPr id="10" name="TextBox 9"/>
          <p:cNvSpPr txBox="1"/>
          <p:nvPr/>
        </p:nvSpPr>
        <p:spPr>
          <a:xfrm>
            <a:off x="896112" y="3419856"/>
            <a:ext cx="3145536" cy="1335024"/>
          </a:xfrm>
          <a:prstGeom prst="rect">
            <a:avLst/>
          </a:prstGeom>
          <a:noFill/>
        </p:spPr>
        <p:txBody>
          <a:bodyPr wrap="square" lIns="0" rIns="0" tIns="0" bIns="0">
            <a:spAutoFit/>
          </a:bodyPr>
          <a:lstStyle/>
          <a:p>
            <a:pPr>
              <a:spcAft>
                <a:spcPts val="500"/>
              </a:spcAft>
            </a:pPr>
            <a:r>
              <a:rPr sz="830" b="0">
                <a:solidFill>
                  <a:srgbClr val="14263D"/>
                </a:solidFill>
                <a:latin typeface="Helvetica Neue"/>
              </a:rPr>
              <a:t>Promete cantidad. Aceptación universal, pago sin contacto, patrocinio de Mundial y Juegos Olímpicos, festivales masivos.</a:t>
            </a:r>
          </a:p>
          <a:p>
            <a:pPr>
              <a:spcAft>
                <a:spcPts val="500"/>
              </a:spcAft>
            </a:pPr>
            <a:r>
              <a:rPr sz="830" b="0">
                <a:solidFill>
                  <a:srgbClr val="14263D"/>
                </a:solidFill>
                <a:latin typeface="Helvetica Neue"/>
              </a:rPr>
              <a:t>Es la dimensión donde Diners pierde en su propia medición: 54 contra 72 en aceptación local. Disputarla no tiene salida.</a:t>
            </a:r>
          </a:p>
        </p:txBody>
      </p:sp>
      <p:sp>
        <p:nvSpPr>
          <p:cNvPr id="11" name="Rectangle 10"/>
          <p:cNvSpPr/>
          <p:nvPr/>
        </p:nvSpPr>
        <p:spPr>
          <a:xfrm>
            <a:off x="4389120" y="2615184"/>
            <a:ext cx="3474720" cy="228600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2770632"/>
            <a:ext cx="3145536" cy="182880"/>
          </a:xfrm>
          <a:prstGeom prst="rect">
            <a:avLst/>
          </a:prstGeom>
          <a:noFill/>
        </p:spPr>
        <p:txBody>
          <a:bodyPr wrap="square" lIns="0" rIns="0" tIns="0" bIns="0">
            <a:spAutoFit/>
          </a:bodyPr>
          <a:lstStyle/>
          <a:p>
            <a:r>
              <a:rPr sz="700" b="1">
                <a:solidFill>
                  <a:srgbClr val="8A6B1F"/>
                </a:solidFill>
                <a:latin typeface="Helvetica Neue"/>
              </a:rPr>
              <a:t>MASTERCARD</a:t>
            </a:r>
          </a:p>
        </p:txBody>
      </p:sp>
      <p:sp>
        <p:nvSpPr>
          <p:cNvPr id="13" name="TextBox 12"/>
          <p:cNvSpPr txBox="1"/>
          <p:nvPr/>
        </p:nvSpPr>
        <p:spPr>
          <a:xfrm>
            <a:off x="4553712" y="2999232"/>
            <a:ext cx="3145536" cy="457200"/>
          </a:xfrm>
          <a:prstGeom prst="rect">
            <a:avLst/>
          </a:prstGeom>
          <a:noFill/>
        </p:spPr>
        <p:txBody>
          <a:bodyPr wrap="square" lIns="0" rIns="0" tIns="0" bIns="0">
            <a:spAutoFit/>
          </a:bodyPr>
          <a:lstStyle/>
          <a:p>
            <a:r>
              <a:rPr sz="1150" b="1">
                <a:solidFill>
                  <a:srgbClr val="0A2540"/>
                </a:solidFill>
                <a:latin typeface="Georgia"/>
              </a:rPr>
              <a:t>Priceless</a:t>
            </a:r>
          </a:p>
        </p:txBody>
      </p:sp>
      <p:sp>
        <p:nvSpPr>
          <p:cNvPr id="14" name="TextBox 13"/>
          <p:cNvSpPr txBox="1"/>
          <p:nvPr/>
        </p:nvSpPr>
        <p:spPr>
          <a:xfrm>
            <a:off x="4553712" y="3419856"/>
            <a:ext cx="3145536" cy="1335024"/>
          </a:xfrm>
          <a:prstGeom prst="rect">
            <a:avLst/>
          </a:prstGeom>
          <a:noFill/>
        </p:spPr>
        <p:txBody>
          <a:bodyPr wrap="square" lIns="0" rIns="0" tIns="0" bIns="0">
            <a:spAutoFit/>
          </a:bodyPr>
          <a:lstStyle/>
          <a:p>
            <a:pPr>
              <a:spcAft>
                <a:spcPts val="500"/>
              </a:spcAft>
            </a:pPr>
            <a:r>
              <a:rPr sz="830" b="0">
                <a:solidFill>
                  <a:srgbClr val="14263D"/>
                </a:solidFill>
                <a:latin typeface="Helvetica Neue"/>
              </a:rPr>
              <a:t>Promete intensidad. Momentos memorables, acceso exclusivo, patrocinio deportivo y mesas con chefs premiados.</a:t>
            </a:r>
          </a:p>
          <a:p>
            <a:pPr>
              <a:spcAft>
                <a:spcPts val="500"/>
              </a:spcAft>
            </a:pPr>
            <a:r>
              <a:rPr sz="830" b="0">
                <a:solidFill>
                  <a:srgbClr val="14263D"/>
                </a:solidFill>
                <a:latin typeface="Helvetica Neue"/>
              </a:rPr>
              <a:t>Tiene plataforma global de reserva y presupuesto de patrocinio. Competir de frente es hacer lo mismo, más pequeño.</a:t>
            </a:r>
          </a:p>
        </p:txBody>
      </p:sp>
      <p:sp>
        <p:nvSpPr>
          <p:cNvPr id="15" name="Rectangle 14"/>
          <p:cNvSpPr/>
          <p:nvPr/>
        </p:nvSpPr>
        <p:spPr>
          <a:xfrm>
            <a:off x="8046720" y="2615184"/>
            <a:ext cx="3474720" cy="228600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770632"/>
            <a:ext cx="3145536" cy="182880"/>
          </a:xfrm>
          <a:prstGeom prst="rect">
            <a:avLst/>
          </a:prstGeom>
          <a:noFill/>
        </p:spPr>
        <p:txBody>
          <a:bodyPr wrap="square" lIns="0" rIns="0" tIns="0" bIns="0">
            <a:spAutoFit/>
          </a:bodyPr>
          <a:lstStyle/>
          <a:p>
            <a:r>
              <a:rPr sz="700" b="1">
                <a:solidFill>
                  <a:srgbClr val="D2A855"/>
                </a:solidFill>
                <a:latin typeface="Helvetica Neue"/>
              </a:rPr>
              <a:t>DINERS CLUB</a:t>
            </a:r>
          </a:p>
        </p:txBody>
      </p:sp>
      <p:sp>
        <p:nvSpPr>
          <p:cNvPr id="17" name="TextBox 16"/>
          <p:cNvSpPr txBox="1"/>
          <p:nvPr/>
        </p:nvSpPr>
        <p:spPr>
          <a:xfrm>
            <a:off x="8211312" y="2999232"/>
            <a:ext cx="3145536" cy="457200"/>
          </a:xfrm>
          <a:prstGeom prst="rect">
            <a:avLst/>
          </a:prstGeom>
          <a:noFill/>
        </p:spPr>
        <p:txBody>
          <a:bodyPr wrap="square" lIns="0" rIns="0" tIns="0" bIns="0">
            <a:spAutoFit/>
          </a:bodyPr>
          <a:lstStyle/>
          <a:p>
            <a:r>
              <a:rPr sz="1150" b="1">
                <a:solidFill>
                  <a:srgbClr val="FFFFFF"/>
                </a:solidFill>
                <a:latin typeface="Georgia"/>
              </a:rPr>
              <a:t>Saber dónde</a:t>
            </a:r>
          </a:p>
        </p:txBody>
      </p:sp>
      <p:sp>
        <p:nvSpPr>
          <p:cNvPr id="18" name="TextBox 17"/>
          <p:cNvSpPr txBox="1"/>
          <p:nvPr/>
        </p:nvSpPr>
        <p:spPr>
          <a:xfrm>
            <a:off x="8211312" y="3419856"/>
            <a:ext cx="3145536" cy="1335024"/>
          </a:xfrm>
          <a:prstGeom prst="rect">
            <a:avLst/>
          </a:prstGeom>
          <a:noFill/>
        </p:spPr>
        <p:txBody>
          <a:bodyPr wrap="square" lIns="0" rIns="0" tIns="0" bIns="0">
            <a:spAutoFit/>
          </a:bodyPr>
          <a:lstStyle/>
          <a:p>
            <a:pPr>
              <a:spcAft>
                <a:spcPts val="500"/>
              </a:spcAft>
            </a:pPr>
            <a:r>
              <a:rPr sz="830" b="0">
                <a:solidFill>
                  <a:srgbClr val="D8DDE4"/>
                </a:solidFill>
                <a:latin typeface="Helvetica Neue"/>
              </a:rPr>
              <a:t>Promete criterio. Visa dice dónde se puede pagar. Mastercard dice qué momento comprar. Ninguna dice cuáles valen la pena.</a:t>
            </a:r>
          </a:p>
          <a:p>
            <a:pPr>
              <a:spcAft>
                <a:spcPts val="500"/>
              </a:spcAft>
            </a:pPr>
            <a:r>
              <a:rPr sz="830" b="0">
                <a:solidFill>
                  <a:srgbClr val="D8DDE4"/>
                </a:solidFill>
                <a:latin typeface="Helvetica Neue"/>
              </a:rPr>
              <a:t>El criterio no se compra con presupuesto de medios. Se acumula con años de cubrimiento, y ahí no hay competencia posible.</a:t>
            </a:r>
          </a:p>
        </p:txBody>
      </p:sp>
      <p:sp>
        <p:nvSpPr>
          <p:cNvPr id="19" name="Rectangle 18"/>
          <p:cNvSpPr/>
          <p:nvPr/>
        </p:nvSpPr>
        <p:spPr>
          <a:xfrm>
            <a:off x="731520" y="5084064"/>
            <a:ext cx="10725912" cy="841248"/>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5239512"/>
            <a:ext cx="10396728" cy="182880"/>
          </a:xfrm>
          <a:prstGeom prst="rect">
            <a:avLst/>
          </a:prstGeom>
          <a:noFill/>
        </p:spPr>
        <p:txBody>
          <a:bodyPr wrap="square" lIns="0" rIns="0" tIns="0" bIns="0">
            <a:spAutoFit/>
          </a:bodyPr>
          <a:lstStyle/>
          <a:p>
            <a:r>
              <a:rPr sz="700" b="1">
                <a:solidFill>
                  <a:srgbClr val="8A6B1F"/>
                </a:solidFill>
                <a:latin typeface="Helvetica Neue"/>
              </a:rPr>
              <a:t>Y UN PÚBLICO DESATENDIDO</a:t>
            </a:r>
          </a:p>
        </p:txBody>
      </p:sp>
      <p:sp>
        <p:nvSpPr>
          <p:cNvPr id="21" name="TextBox 20"/>
          <p:cNvSpPr txBox="1"/>
          <p:nvPr/>
        </p:nvSpPr>
        <p:spPr>
          <a:xfrm>
            <a:off x="896112" y="5468112"/>
            <a:ext cx="10396728" cy="310896"/>
          </a:xfrm>
          <a:prstGeom prst="rect">
            <a:avLst/>
          </a:prstGeom>
          <a:noFill/>
        </p:spPr>
        <p:txBody>
          <a:bodyPr wrap="square" lIns="0" rIns="0" tIns="0" bIns="0">
            <a:spAutoFit/>
          </a:bodyPr>
          <a:lstStyle/>
          <a:p>
            <a:pPr>
              <a:spcAft>
                <a:spcPts val="500"/>
              </a:spcAft>
            </a:pPr>
            <a:r>
              <a:rPr sz="830" b="0">
                <a:solidFill>
                  <a:srgbClr val="14263D"/>
                </a:solidFill>
                <a:latin typeface="Helvetica Neue"/>
              </a:rPr>
              <a:t>Mastercard declara como objetivo los segmentos premium, la Gen Z y los apasionados del deporte. Visa apunta al usuario masivo y adoptante digital. El Clubmember clásico de 45 a 55 años no es el foco de ninguna de las dos.</a:t>
            </a:r>
          </a:p>
        </p:txBody>
      </p:sp>
      <p:sp>
        <p:nvSpPr>
          <p:cNvPr id="22" name="TextBox 21"/>
          <p:cNvSpPr txBox="1"/>
          <p:nvPr/>
        </p:nvSpPr>
        <p:spPr>
          <a:xfrm>
            <a:off x="731520" y="6327648"/>
            <a:ext cx="8229600" cy="219456"/>
          </a:xfrm>
          <a:prstGeom prst="rect">
            <a:avLst/>
          </a:prstGeom>
          <a:noFill/>
        </p:spPr>
        <p:txBody>
          <a:bodyPr wrap="square" lIns="0" rIns="0" tIns="0" bIns="0">
            <a:spAutoFit/>
          </a:bodyPr>
          <a:lstStyle/>
          <a:p>
            <a:r>
              <a:rPr sz="700" b="0">
                <a:solidFill>
                  <a:srgbClr val="75808F"/>
                </a:solidFill>
                <a:latin typeface="Helvetica Neue"/>
              </a:rPr>
              <a:t>MAPA DE POSICIONAMIENTO DE LA CATEGORÍA EN COLOMBIA</a:t>
            </a:r>
          </a:p>
        </p:txBody>
      </p:sp>
      <p:sp>
        <p:nvSpPr>
          <p:cNvPr id="23" name="TextBox 22"/>
          <p:cNvSpPr txBox="1"/>
          <p:nvPr/>
        </p:nvSpPr>
        <p:spPr>
          <a:xfrm>
            <a:off x="10454335" y="6327648"/>
            <a:ext cx="1005840" cy="219456"/>
          </a:xfrm>
          <a:prstGeom prst="rect">
            <a:avLst/>
          </a:prstGeom>
          <a:noFill/>
        </p:spPr>
        <p:txBody>
          <a:bodyPr wrap="square" lIns="0" rIns="0" tIns="0" bIns="0">
            <a:spAutoFit/>
          </a:bodyPr>
          <a:lstStyle/>
          <a:p>
            <a:r>
              <a:rPr sz="800" b="1">
                <a:solidFill>
                  <a:srgbClr val="8A6B1F"/>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LA ARQUITECTURA</a:t>
            </a:r>
          </a:p>
        </p:txBody>
      </p:sp>
      <p:sp>
        <p:nvSpPr>
          <p:cNvPr id="4" name="TextBox 3"/>
          <p:cNvSpPr txBox="1"/>
          <p:nvPr/>
        </p:nvSpPr>
        <p:spPr>
          <a:xfrm>
            <a:off x="731520" y="932688"/>
            <a:ext cx="786384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Dos objetivos, tres capas</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83664"/>
            <a:ext cx="1042416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Relanzamiento estratégico de marca se sostiene en la capa editorial, que alcanza a quien todavía no es Clubmember. Posicionamiento de beneficios se sostiene en el beneficio recurrente y en las experiencias por invitación. La aceptación verificada es la condición que atraviesa los dos.</a:t>
            </a:r>
          </a:p>
        </p:txBody>
      </p:sp>
      <p:sp>
        <p:nvSpPr>
          <p:cNvPr id="7" name="Rectangle 6"/>
          <p:cNvSpPr/>
          <p:nvPr/>
        </p:nvSpPr>
        <p:spPr>
          <a:xfrm>
            <a:off x="731520" y="2697480"/>
            <a:ext cx="3474720" cy="324612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852928"/>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D2A855"/>
                </a:solidFill>
                <a:latin typeface="Helvetica Neue"/>
              </a:rPr>
              <a:t>01</a:t>
            </a:r>
          </a:p>
        </p:txBody>
      </p:sp>
      <p:sp>
        <p:nvSpPr>
          <p:cNvPr id="9" name="TextBox 8"/>
          <p:cNvSpPr txBox="1"/>
          <p:nvPr/>
        </p:nvSpPr>
        <p:spPr>
          <a:xfrm>
            <a:off x="896112" y="3200400"/>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EL BENEFICIO</a:t>
            </a:r>
          </a:p>
        </p:txBody>
      </p:sp>
      <p:sp>
        <p:nvSpPr>
          <p:cNvPr id="10" name="TextBox 9"/>
          <p:cNvSpPr txBox="1"/>
          <p:nvPr/>
        </p:nvSpPr>
        <p:spPr>
          <a:xfrm>
            <a:off x="896112" y="3410712"/>
            <a:ext cx="3145536" cy="457200"/>
          </a:xfrm>
          <a:prstGeom prst="rect">
            <a:avLst/>
          </a:prstGeom>
          <a:noFill/>
        </p:spPr>
        <p:txBody>
          <a:bodyPr wrap="square" lIns="0" rIns="0" tIns="0" bIns="0" anchor="t">
            <a:spAutoFit/>
          </a:bodyPr>
          <a:lstStyle/>
          <a:p>
            <a:pPr algn="l">
              <a:lnSpc>
                <a:spcPct val="106000"/>
              </a:lnSpc>
              <a:spcAft>
                <a:spcPts val="0"/>
              </a:spcAft>
            </a:pPr>
            <a:r>
              <a:rPr sz="1300" b="1">
                <a:solidFill>
                  <a:srgbClr val="FFFFFF"/>
                </a:solidFill>
                <a:latin typeface="Georgia"/>
              </a:rPr>
              <a:t>Mesa Diners Club</a:t>
            </a:r>
          </a:p>
        </p:txBody>
      </p:sp>
      <p:sp>
        <p:nvSpPr>
          <p:cNvPr id="11" name="TextBox 10"/>
          <p:cNvSpPr txBox="1"/>
          <p:nvPr/>
        </p:nvSpPr>
        <p:spPr>
          <a:xfrm>
            <a:off x="896112" y="3767328"/>
            <a:ext cx="3145536" cy="2048255"/>
          </a:xfrm>
          <a:prstGeom prst="rect">
            <a:avLst/>
          </a:prstGeom>
          <a:noFill/>
        </p:spPr>
        <p:txBody>
          <a:bodyPr wrap="square" lIns="0" rIns="0" tIns="0" bIns="0" anchor="t">
            <a:spAutoFit/>
          </a:bodyPr>
          <a:lstStyle/>
          <a:p>
            <a:pPr algn="l">
              <a:lnSpc>
                <a:spcPct val="126000"/>
              </a:lnSpc>
              <a:spcAft>
                <a:spcPts val="0"/>
              </a:spcAft>
            </a:pPr>
            <a:r>
              <a:rPr sz="880" b="0">
                <a:solidFill>
                  <a:srgbClr val="D8DDE4"/>
                </a:solidFill>
                <a:latin typeface="Helvetica Neue"/>
              </a:rPr>
              <a:t>Beneficio gastronómico recurrente con día fijo, sobre una selección curada de aliados con aceptación verificada.</a:t>
            </a:r>
          </a:p>
        </p:txBody>
      </p:sp>
      <p:sp>
        <p:nvSpPr>
          <p:cNvPr id="12" name="TextBox 11"/>
          <p:cNvSpPr txBox="1"/>
          <p:nvPr/>
        </p:nvSpPr>
        <p:spPr>
          <a:xfrm>
            <a:off x="896112" y="4233672"/>
            <a:ext cx="3145536" cy="1581912"/>
          </a:xfrm>
          <a:prstGeom prst="rect">
            <a:avLst/>
          </a:prstGeom>
          <a:noFill/>
        </p:spPr>
        <p:txBody>
          <a:bodyPr wrap="square" lIns="0" rIns="0" tIns="0" bIns="0" anchor="t">
            <a:spAutoFit/>
          </a:bodyPr>
          <a:lstStyle/>
          <a:p>
            <a:pPr algn="l">
              <a:lnSpc>
                <a:spcPct val="119000"/>
              </a:lnSpc>
              <a:spcAft>
                <a:spcPts val="320"/>
              </a:spcAft>
            </a:pPr>
            <a:r>
              <a:rPr sz="880" b="0">
                <a:solidFill>
                  <a:srgbClr val="D8DDE4"/>
                </a:solidFill>
                <a:latin typeface="Helvetica Neue"/>
              </a:rPr>
              <a:t>•  Día fijo semanal</a:t>
            </a:r>
          </a:p>
          <a:p>
            <a:pPr algn="l">
              <a:lnSpc>
                <a:spcPct val="119000"/>
              </a:lnSpc>
              <a:spcAft>
                <a:spcPts val="320"/>
              </a:spcAft>
            </a:pPr>
            <a:r>
              <a:rPr sz="880" b="0">
                <a:solidFill>
                  <a:srgbClr val="D8DDE4"/>
                </a:solidFill>
                <a:latin typeface="Helvetica Neue"/>
              </a:rPr>
              <a:t>•  Datáfono verificado como requisito</a:t>
            </a:r>
          </a:p>
          <a:p>
            <a:pPr algn="l">
              <a:lnSpc>
                <a:spcPct val="119000"/>
              </a:lnSpc>
              <a:spcAft>
                <a:spcPts val="320"/>
              </a:spcAft>
            </a:pPr>
            <a:r>
              <a:rPr sz="880" b="0">
                <a:solidFill>
                  <a:srgbClr val="D8DDE4"/>
                </a:solidFill>
                <a:latin typeface="Helvetica Neue"/>
              </a:rPr>
              <a:t>•  Bogotá en el año uno</a:t>
            </a:r>
          </a:p>
        </p:txBody>
      </p:sp>
      <p:sp>
        <p:nvSpPr>
          <p:cNvPr id="13" name="Rectangle 12"/>
          <p:cNvSpPr/>
          <p:nvPr/>
        </p:nvSpPr>
        <p:spPr>
          <a:xfrm>
            <a:off x="4389120" y="2697480"/>
            <a:ext cx="3474720" cy="324612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852928"/>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D2A855"/>
                </a:solidFill>
                <a:latin typeface="Helvetica Neue"/>
              </a:rPr>
              <a:t>02</a:t>
            </a:r>
          </a:p>
        </p:txBody>
      </p:sp>
      <p:sp>
        <p:nvSpPr>
          <p:cNvPr id="15" name="TextBox 14"/>
          <p:cNvSpPr txBox="1"/>
          <p:nvPr/>
        </p:nvSpPr>
        <p:spPr>
          <a:xfrm>
            <a:off x="4553712" y="3200400"/>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EL DESCUBRIMIENTO</a:t>
            </a:r>
          </a:p>
        </p:txBody>
      </p:sp>
      <p:sp>
        <p:nvSpPr>
          <p:cNvPr id="16" name="TextBox 15"/>
          <p:cNvSpPr txBox="1"/>
          <p:nvPr/>
        </p:nvSpPr>
        <p:spPr>
          <a:xfrm>
            <a:off x="4553712" y="3410712"/>
            <a:ext cx="3145536" cy="457200"/>
          </a:xfrm>
          <a:prstGeom prst="rect">
            <a:avLst/>
          </a:prstGeom>
          <a:noFill/>
        </p:spPr>
        <p:txBody>
          <a:bodyPr wrap="square" lIns="0" rIns="0" tIns="0" bIns="0" anchor="t">
            <a:spAutoFit/>
          </a:bodyPr>
          <a:lstStyle/>
          <a:p>
            <a:pPr algn="l">
              <a:lnSpc>
                <a:spcPct val="106000"/>
              </a:lnSpc>
              <a:spcAft>
                <a:spcPts val="0"/>
              </a:spcAft>
            </a:pPr>
            <a:r>
              <a:rPr sz="1300" b="1">
                <a:solidFill>
                  <a:srgbClr val="FFFFFF"/>
                </a:solidFill>
                <a:latin typeface="Georgia"/>
              </a:rPr>
              <a:t>La Mesa Diners</a:t>
            </a:r>
          </a:p>
        </p:txBody>
      </p:sp>
      <p:sp>
        <p:nvSpPr>
          <p:cNvPr id="17" name="TextBox 16"/>
          <p:cNvSpPr txBox="1"/>
          <p:nvPr/>
        </p:nvSpPr>
        <p:spPr>
          <a:xfrm>
            <a:off x="4553712" y="3767328"/>
            <a:ext cx="3145536" cy="2048255"/>
          </a:xfrm>
          <a:prstGeom prst="rect">
            <a:avLst/>
          </a:prstGeom>
          <a:noFill/>
        </p:spPr>
        <p:txBody>
          <a:bodyPr wrap="square" lIns="0" rIns="0" tIns="0" bIns="0" anchor="t">
            <a:spAutoFit/>
          </a:bodyPr>
          <a:lstStyle/>
          <a:p>
            <a:pPr algn="l">
              <a:lnSpc>
                <a:spcPct val="126000"/>
              </a:lnSpc>
              <a:spcAft>
                <a:spcPts val="0"/>
              </a:spcAft>
            </a:pPr>
            <a:r>
              <a:rPr sz="880" b="0">
                <a:solidFill>
                  <a:srgbClr val="D8DDE4"/>
                </a:solidFill>
                <a:latin typeface="Helvetica Neue"/>
              </a:rPr>
              <a:t>La sección editorial donde vive el beneficio. Convierte el descuento en criterio y alimenta el catálogo que la app cargará en 2027.</a:t>
            </a:r>
          </a:p>
        </p:txBody>
      </p:sp>
      <p:sp>
        <p:nvSpPr>
          <p:cNvPr id="18" name="TextBox 17"/>
          <p:cNvSpPr txBox="1"/>
          <p:nvPr/>
        </p:nvSpPr>
        <p:spPr>
          <a:xfrm>
            <a:off x="4553712" y="4389120"/>
            <a:ext cx="3145536" cy="1426464"/>
          </a:xfrm>
          <a:prstGeom prst="rect">
            <a:avLst/>
          </a:prstGeom>
          <a:noFill/>
        </p:spPr>
        <p:txBody>
          <a:bodyPr wrap="square" lIns="0" rIns="0" tIns="0" bIns="0" anchor="t">
            <a:spAutoFit/>
          </a:bodyPr>
          <a:lstStyle/>
          <a:p>
            <a:pPr algn="l">
              <a:lnSpc>
                <a:spcPct val="119000"/>
              </a:lnSpc>
              <a:spcAft>
                <a:spcPts val="320"/>
              </a:spcAft>
            </a:pPr>
            <a:r>
              <a:rPr sz="880" b="0">
                <a:solidFill>
                  <a:srgbClr val="D8DDE4"/>
                </a:solidFill>
                <a:latin typeface="Helvetica Neue"/>
              </a:rPr>
              <a:t>•  Sección fija mensual en la revista</a:t>
            </a:r>
          </a:p>
          <a:p>
            <a:pPr algn="l">
              <a:lnSpc>
                <a:spcPct val="119000"/>
              </a:lnSpc>
              <a:spcAft>
                <a:spcPts val="320"/>
              </a:spcAft>
            </a:pPr>
            <a:r>
              <a:rPr sz="880" b="0">
                <a:solidFill>
                  <a:srgbClr val="D8DDE4"/>
                </a:solidFill>
                <a:latin typeface="Helvetica Neue"/>
              </a:rPr>
              <a:t>•  Sección permanente en web</a:t>
            </a:r>
          </a:p>
          <a:p>
            <a:pPr algn="l">
              <a:lnSpc>
                <a:spcPct val="119000"/>
              </a:lnSpc>
              <a:spcAft>
                <a:spcPts val="320"/>
              </a:spcAft>
            </a:pPr>
            <a:r>
              <a:rPr sz="880" b="0">
                <a:solidFill>
                  <a:srgbClr val="D8DDE4"/>
                </a:solidFill>
                <a:latin typeface="Helvetica Neue"/>
              </a:rPr>
              <a:t>•  Serie de videos</a:t>
            </a:r>
          </a:p>
        </p:txBody>
      </p:sp>
      <p:sp>
        <p:nvSpPr>
          <p:cNvPr id="19" name="Rectangle 18"/>
          <p:cNvSpPr/>
          <p:nvPr/>
        </p:nvSpPr>
        <p:spPr>
          <a:xfrm>
            <a:off x="8046720" y="2697480"/>
            <a:ext cx="3474720" cy="324612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2852928"/>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D2A855"/>
                </a:solidFill>
                <a:latin typeface="Helvetica Neue"/>
              </a:rPr>
              <a:t>03</a:t>
            </a:r>
          </a:p>
        </p:txBody>
      </p:sp>
      <p:sp>
        <p:nvSpPr>
          <p:cNvPr id="21" name="TextBox 20"/>
          <p:cNvSpPr txBox="1"/>
          <p:nvPr/>
        </p:nvSpPr>
        <p:spPr>
          <a:xfrm>
            <a:off x="8211312" y="3200400"/>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EL ESTATUS</a:t>
            </a:r>
          </a:p>
        </p:txBody>
      </p:sp>
      <p:sp>
        <p:nvSpPr>
          <p:cNvPr id="22" name="TextBox 21"/>
          <p:cNvSpPr txBox="1"/>
          <p:nvPr/>
        </p:nvSpPr>
        <p:spPr>
          <a:xfrm>
            <a:off x="8211312" y="3410712"/>
            <a:ext cx="3145536" cy="457200"/>
          </a:xfrm>
          <a:prstGeom prst="rect">
            <a:avLst/>
          </a:prstGeom>
          <a:noFill/>
        </p:spPr>
        <p:txBody>
          <a:bodyPr wrap="square" lIns="0" rIns="0" tIns="0" bIns="0" anchor="t">
            <a:spAutoFit/>
          </a:bodyPr>
          <a:lstStyle/>
          <a:p>
            <a:pPr algn="l">
              <a:lnSpc>
                <a:spcPct val="106000"/>
              </a:lnSpc>
              <a:spcAft>
                <a:spcPts val="0"/>
              </a:spcAft>
            </a:pPr>
            <a:r>
              <a:rPr sz="1300" b="1">
                <a:solidFill>
                  <a:srgbClr val="FFFFFF"/>
                </a:solidFill>
                <a:latin typeface="Georgia"/>
              </a:rPr>
              <a:t>Experiencias OBI</a:t>
            </a:r>
          </a:p>
        </p:txBody>
      </p:sp>
      <p:sp>
        <p:nvSpPr>
          <p:cNvPr id="23" name="TextBox 22"/>
          <p:cNvSpPr txBox="1"/>
          <p:nvPr/>
        </p:nvSpPr>
        <p:spPr>
          <a:xfrm>
            <a:off x="8211312" y="3767328"/>
            <a:ext cx="3145536" cy="2048255"/>
          </a:xfrm>
          <a:prstGeom prst="rect">
            <a:avLst/>
          </a:prstGeom>
          <a:noFill/>
        </p:spPr>
        <p:txBody>
          <a:bodyPr wrap="square" lIns="0" rIns="0" tIns="0" bIns="0" anchor="t">
            <a:spAutoFit/>
          </a:bodyPr>
          <a:lstStyle/>
          <a:p>
            <a:pPr algn="l">
              <a:lnSpc>
                <a:spcPct val="126000"/>
              </a:lnSpc>
              <a:spcAft>
                <a:spcPts val="0"/>
              </a:spcAft>
            </a:pPr>
            <a:r>
              <a:rPr sz="880" b="0">
                <a:solidFill>
                  <a:srgbClr val="D8DDE4"/>
                </a:solidFill>
                <a:latin typeface="Helvetica Neue"/>
              </a:rPr>
              <a:t>Only By Invitation. Acceso limitado a experiencias que no se compran, dirigido al segmento Black.</a:t>
            </a:r>
          </a:p>
        </p:txBody>
      </p:sp>
      <p:sp>
        <p:nvSpPr>
          <p:cNvPr id="24" name="TextBox 23"/>
          <p:cNvSpPr txBox="1"/>
          <p:nvPr/>
        </p:nvSpPr>
        <p:spPr>
          <a:xfrm>
            <a:off x="8211312" y="4233672"/>
            <a:ext cx="3145536" cy="1581912"/>
          </a:xfrm>
          <a:prstGeom prst="rect">
            <a:avLst/>
          </a:prstGeom>
          <a:noFill/>
        </p:spPr>
        <p:txBody>
          <a:bodyPr wrap="square" lIns="0" rIns="0" tIns="0" bIns="0" anchor="t">
            <a:spAutoFit/>
          </a:bodyPr>
          <a:lstStyle/>
          <a:p>
            <a:pPr algn="l">
              <a:lnSpc>
                <a:spcPct val="119000"/>
              </a:lnSpc>
              <a:spcAft>
                <a:spcPts val="320"/>
              </a:spcAft>
            </a:pPr>
            <a:r>
              <a:rPr sz="880" b="0">
                <a:solidFill>
                  <a:srgbClr val="D8DDE4"/>
                </a:solidFill>
                <a:latin typeface="Helvetica Neue"/>
              </a:rPr>
              <a:t>•  Seis experiencias en el año</a:t>
            </a:r>
          </a:p>
          <a:p>
            <a:pPr algn="l">
              <a:lnSpc>
                <a:spcPct val="119000"/>
              </a:lnSpc>
              <a:spcAft>
                <a:spcPts val="320"/>
              </a:spcAft>
            </a:pPr>
            <a:r>
              <a:rPr sz="880" b="0">
                <a:solidFill>
                  <a:srgbClr val="D8DDE4"/>
                </a:solidFill>
                <a:latin typeface="Helvetica Neue"/>
              </a:rPr>
              <a:t>•  Cupo corto, por invitación</a:t>
            </a:r>
          </a:p>
          <a:p>
            <a:pPr algn="l">
              <a:lnSpc>
                <a:spcPct val="119000"/>
              </a:lnSpc>
              <a:spcAft>
                <a:spcPts val="320"/>
              </a:spcAft>
            </a:pPr>
            <a:r>
              <a:rPr sz="880" b="0">
                <a:solidFill>
                  <a:srgbClr val="D8DDE4"/>
                </a:solidFill>
                <a:latin typeface="Helvetica Neue"/>
              </a:rPr>
              <a:t>•  Cubrimiento editorial incluido</a:t>
            </a:r>
          </a:p>
        </p:txBody>
      </p:sp>
      <p:sp>
        <p:nvSpPr>
          <p:cNvPr id="25" name="TextBox 24"/>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LAS TRES OPERAN SOBRE LA MISMA RED DE ALIADOS VERIFICADOS</a:t>
            </a:r>
          </a:p>
        </p:txBody>
      </p:sp>
      <p:sp>
        <p:nvSpPr>
          <p:cNvPr id="26" name="TextBox 25"/>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uraduria.jpg"/>
          <p:cNvPicPr>
            <a:picLocks noChangeAspect="1"/>
          </p:cNvPicPr>
          <p:nvPr/>
        </p:nvPicPr>
        <p:blipFill>
          <a:blip r:embed="rId2"/>
          <a:stretch>
            <a:fillRect/>
          </a:stretch>
        </p:blipFill>
        <p:spPr>
          <a:xfrm>
            <a:off x="8183879" y="0"/>
            <a:ext cx="4005072" cy="6858000"/>
          </a:xfrm>
          <a:prstGeom prst="rect">
            <a:avLst/>
          </a:prstGeom>
        </p:spPr>
      </p:pic>
      <p:sp>
        <p:nvSpPr>
          <p:cNvPr id="4" name="Rectangle 3"/>
          <p:cNvSpPr/>
          <p:nvPr/>
        </p:nvSpPr>
        <p:spPr>
          <a:xfrm>
            <a:off x="8183879" y="0"/>
            <a:ext cx="4005072" cy="6858000"/>
          </a:xfrm>
          <a:prstGeom prst="rect">
            <a:avLst/>
          </a:prstGeom>
          <a:solidFill>
            <a:srgbClr val="0A2540">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39911" y="5532120"/>
            <a:ext cx="3493008" cy="914400"/>
          </a:xfrm>
          <a:prstGeom prst="rect">
            <a:avLst/>
          </a:prstGeom>
          <a:noFill/>
        </p:spPr>
        <p:txBody>
          <a:bodyPr wrap="square" lIns="0" rIns="0" tIns="0" bIns="0" anchor="b">
            <a:spAutoFit/>
          </a:bodyPr>
          <a:lstStyle/>
          <a:p>
            <a:pPr algn="l">
              <a:lnSpc>
                <a:spcPct val="115000"/>
              </a:lnSpc>
              <a:spcAft>
                <a:spcPts val="0"/>
              </a:spcAft>
            </a:pPr>
            <a:r>
              <a:rPr sz="1800" b="0">
                <a:solidFill>
                  <a:srgbClr val="FFFFFF"/>
                </a:solidFill>
                <a:latin typeface="Georgia"/>
              </a:rPr>
              <a:t>Un día fijo.
Una lista corta.</a:t>
            </a:r>
          </a:p>
        </p:txBody>
      </p:sp>
      <p:sp>
        <p:nvSpPr>
          <p:cNvPr id="6" name="TextBox 5"/>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CAPA 1 · EL BENEFICIO</a:t>
            </a:r>
          </a:p>
        </p:txBody>
      </p:sp>
      <p:sp>
        <p:nvSpPr>
          <p:cNvPr id="7" name="TextBox 6"/>
          <p:cNvSpPr txBox="1"/>
          <p:nvPr/>
        </p:nvSpPr>
        <p:spPr>
          <a:xfrm>
            <a:off x="731520" y="932688"/>
            <a:ext cx="685800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Mesa Diners Club</a:t>
            </a:r>
          </a:p>
        </p:txBody>
      </p:sp>
      <p:sp>
        <p:nvSpPr>
          <p:cNvPr id="8" name="Rectangle 7"/>
          <p:cNvSpPr/>
          <p:nvPr/>
        </p:nvSpPr>
        <p:spPr>
          <a:xfrm>
            <a:off x="731520" y="1737360"/>
            <a:ext cx="6766560"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83664"/>
            <a:ext cx="676656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Adaptación colombiana de la mecánica de descuento en días de baja reserva que el programa global reconoce como práctica probada.</a:t>
            </a:r>
          </a:p>
        </p:txBody>
      </p:sp>
      <p:sp>
        <p:nvSpPr>
          <p:cNvPr id="10" name="Rectangle 9"/>
          <p:cNvSpPr/>
          <p:nvPr/>
        </p:nvSpPr>
        <p:spPr>
          <a:xfrm>
            <a:off x="731520" y="2697480"/>
            <a:ext cx="3291840" cy="3200400"/>
          </a:xfrm>
          <a:prstGeom prst="rect">
            <a:avLst/>
          </a:prstGeom>
          <a:solidFill>
            <a:srgbClr val="FFFDF9"/>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852928"/>
            <a:ext cx="2962656"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CÓMO OPERA</a:t>
            </a:r>
          </a:p>
        </p:txBody>
      </p:sp>
      <p:sp>
        <p:nvSpPr>
          <p:cNvPr id="12" name="TextBox 11"/>
          <p:cNvSpPr txBox="1"/>
          <p:nvPr/>
        </p:nvSpPr>
        <p:spPr>
          <a:xfrm>
            <a:off x="896112" y="3063240"/>
            <a:ext cx="2962656" cy="457200"/>
          </a:xfrm>
          <a:prstGeom prst="rect">
            <a:avLst/>
          </a:prstGeom>
          <a:noFill/>
        </p:spPr>
        <p:txBody>
          <a:bodyPr wrap="square" lIns="0" rIns="0" tIns="0" bIns="0" anchor="t">
            <a:spAutoFit/>
          </a:bodyPr>
          <a:lstStyle/>
          <a:p>
            <a:pPr algn="l">
              <a:lnSpc>
                <a:spcPct val="106000"/>
              </a:lnSpc>
              <a:spcAft>
                <a:spcPts val="0"/>
              </a:spcAft>
            </a:pPr>
            <a:r>
              <a:rPr sz="1200" b="1">
                <a:solidFill>
                  <a:srgbClr val="0A2540"/>
                </a:solidFill>
                <a:latin typeface="Georgia"/>
              </a:rPr>
              <a:t>Un día fijo, una lista corta</a:t>
            </a:r>
          </a:p>
        </p:txBody>
      </p:sp>
      <p:sp>
        <p:nvSpPr>
          <p:cNvPr id="13" name="TextBox 12"/>
          <p:cNvSpPr txBox="1"/>
          <p:nvPr/>
        </p:nvSpPr>
        <p:spPr>
          <a:xfrm>
            <a:off x="896112" y="3593592"/>
            <a:ext cx="2962656" cy="2176272"/>
          </a:xfrm>
          <a:prstGeom prst="rect">
            <a:avLst/>
          </a:prstGeom>
          <a:noFill/>
        </p:spPr>
        <p:txBody>
          <a:bodyPr wrap="square" lIns="0" rIns="0" tIns="0" bIns="0" anchor="t">
            <a:spAutoFit/>
          </a:bodyPr>
          <a:lstStyle/>
          <a:p>
            <a:pPr algn="l">
              <a:lnSpc>
                <a:spcPct val="119000"/>
              </a:lnSpc>
              <a:spcAft>
                <a:spcPts val="320"/>
              </a:spcAft>
            </a:pPr>
            <a:r>
              <a:rPr sz="900" b="0">
                <a:solidFill>
                  <a:srgbClr val="14263D"/>
                </a:solidFill>
                <a:latin typeface="Helvetica Neue"/>
              </a:rPr>
              <a:t>•  Beneficio: porcentaje sobre la cuenta</a:t>
            </a:r>
          </a:p>
          <a:p>
            <a:pPr algn="l">
              <a:lnSpc>
                <a:spcPct val="119000"/>
              </a:lnSpc>
              <a:spcAft>
                <a:spcPts val="320"/>
              </a:spcAft>
            </a:pPr>
            <a:r>
              <a:rPr sz="900" b="0">
                <a:solidFill>
                  <a:srgbClr val="14263D"/>
                </a:solidFill>
                <a:latin typeface="Helvetica Neue"/>
              </a:rPr>
              <a:t>•  Frecuencia: día fijo semanal</a:t>
            </a:r>
          </a:p>
          <a:p>
            <a:pPr algn="l">
              <a:lnSpc>
                <a:spcPct val="119000"/>
              </a:lnSpc>
              <a:spcAft>
                <a:spcPts val="320"/>
              </a:spcAft>
            </a:pPr>
            <a:r>
              <a:rPr sz="900" b="0">
                <a:solidFill>
                  <a:srgbClr val="14263D"/>
                </a:solidFill>
                <a:latin typeface="Helvetica Neue"/>
              </a:rPr>
              <a:t>•  Cobertura: Bogotá en el año uno</a:t>
            </a:r>
          </a:p>
          <a:p>
            <a:pPr algn="l">
              <a:lnSpc>
                <a:spcPct val="119000"/>
              </a:lnSpc>
              <a:spcAft>
                <a:spcPts val="320"/>
              </a:spcAft>
            </a:pPr>
            <a:r>
              <a:rPr sz="900" b="0">
                <a:solidFill>
                  <a:srgbClr val="14263D"/>
                </a:solidFill>
                <a:latin typeface="Helvetica Neue"/>
              </a:rPr>
              <a:t>•  Requisito: Diners verificada en el datáfono</a:t>
            </a:r>
          </a:p>
          <a:p>
            <a:pPr algn="l">
              <a:lnSpc>
                <a:spcPct val="119000"/>
              </a:lnSpc>
              <a:spcAft>
                <a:spcPts val="320"/>
              </a:spcAft>
            </a:pPr>
            <a:r>
              <a:rPr sz="900" b="0">
                <a:solidFill>
                  <a:srgbClr val="14263D"/>
                </a:solidFill>
                <a:latin typeface="Helvetica Neue"/>
              </a:rPr>
              <a:t>•  Condición: reserva obligatoria</a:t>
            </a:r>
          </a:p>
        </p:txBody>
      </p:sp>
      <p:sp>
        <p:nvSpPr>
          <p:cNvPr id="14" name="Rectangle 13"/>
          <p:cNvSpPr/>
          <p:nvPr/>
        </p:nvSpPr>
        <p:spPr>
          <a:xfrm>
            <a:off x="4206240" y="2697480"/>
            <a:ext cx="3291840" cy="320040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0831" y="2852928"/>
            <a:ext cx="296265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QUÉ LO DIFERENCIA</a:t>
            </a:r>
          </a:p>
        </p:txBody>
      </p:sp>
      <p:sp>
        <p:nvSpPr>
          <p:cNvPr id="16" name="TextBox 15"/>
          <p:cNvSpPr txBox="1"/>
          <p:nvPr/>
        </p:nvSpPr>
        <p:spPr>
          <a:xfrm>
            <a:off x="4370831" y="3063240"/>
            <a:ext cx="2962656" cy="457200"/>
          </a:xfrm>
          <a:prstGeom prst="rect">
            <a:avLst/>
          </a:prstGeom>
          <a:noFill/>
        </p:spPr>
        <p:txBody>
          <a:bodyPr wrap="square" lIns="0" rIns="0" tIns="0" bIns="0" anchor="t">
            <a:spAutoFit/>
          </a:bodyPr>
          <a:lstStyle/>
          <a:p>
            <a:pPr algn="l">
              <a:lnSpc>
                <a:spcPct val="106000"/>
              </a:lnSpc>
              <a:spcAft>
                <a:spcPts val="0"/>
              </a:spcAft>
            </a:pPr>
            <a:r>
              <a:rPr sz="1200" b="1">
                <a:solidFill>
                  <a:srgbClr val="0A2540"/>
                </a:solidFill>
                <a:latin typeface="Georgia"/>
              </a:rPr>
              <a:t>El aliado paga la visibilidad</a:t>
            </a:r>
          </a:p>
        </p:txBody>
      </p:sp>
      <p:sp>
        <p:nvSpPr>
          <p:cNvPr id="17" name="TextBox 16"/>
          <p:cNvSpPr txBox="1"/>
          <p:nvPr/>
        </p:nvSpPr>
        <p:spPr>
          <a:xfrm>
            <a:off x="4370831" y="3593592"/>
            <a:ext cx="2962656" cy="2176272"/>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En lugar de financiar un descuento profundo, el establecimiento paga por aparecer en la selección editorial. El costo neto del programa baja y la oferta crece sin inversión adicional. Quedamos abiertos a modelar la alternativa de descuento financiado.</a:t>
            </a:r>
          </a:p>
        </p:txBody>
      </p:sp>
      <p:sp>
        <p:nvSpPr>
          <p:cNvPr id="18" name="TextBox 17"/>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MAPEA SOBRE REWARDS &amp; DINING OFFERS</a:t>
            </a:r>
          </a:p>
        </p:txBody>
      </p:sp>
      <p:sp>
        <p:nvSpPr>
          <p:cNvPr id="19" name="TextBox 18"/>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jpg"/>
          <p:cNvPicPr>
            <a:picLocks noChangeAspect="1"/>
          </p:cNvPicPr>
          <p:nvPr/>
        </p:nvPicPr>
        <p:blipFill>
          <a:blip r:embed="rId2"/>
          <a:stretch>
            <a:fillRect/>
          </a:stretch>
        </p:blipFill>
        <p:spPr>
          <a:xfrm>
            <a:off x="0" y="0"/>
            <a:ext cx="4005072" cy="6858000"/>
          </a:xfrm>
          <a:prstGeom prst="rect">
            <a:avLst/>
          </a:prstGeom>
        </p:spPr>
      </p:pic>
      <p:sp>
        <p:nvSpPr>
          <p:cNvPr id="4" name="Rectangle 3"/>
          <p:cNvSpPr/>
          <p:nvPr/>
        </p:nvSpPr>
        <p:spPr>
          <a:xfrm>
            <a:off x="0" y="0"/>
            <a:ext cx="4005072" cy="6858000"/>
          </a:xfrm>
          <a:prstGeom prst="rect">
            <a:avLst/>
          </a:prstGeom>
          <a:solidFill>
            <a:srgbClr val="0A2540">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5532120"/>
            <a:ext cx="3493008" cy="914400"/>
          </a:xfrm>
          <a:prstGeom prst="rect">
            <a:avLst/>
          </a:prstGeom>
          <a:noFill/>
        </p:spPr>
        <p:txBody>
          <a:bodyPr wrap="square" lIns="0" rIns="0" tIns="0" bIns="0" anchor="b">
            <a:spAutoFit/>
          </a:bodyPr>
          <a:lstStyle/>
          <a:p>
            <a:pPr algn="l">
              <a:lnSpc>
                <a:spcPct val="115000"/>
              </a:lnSpc>
              <a:spcAft>
                <a:spcPts val="0"/>
              </a:spcAft>
            </a:pPr>
            <a:r>
              <a:rPr sz="1800" b="0">
                <a:solidFill>
                  <a:srgbClr val="FFFFFF"/>
                </a:solidFill>
                <a:latin typeface="Georgia"/>
              </a:rPr>
              <a:t>Un descuento
no se recuerda.
Un criterio sí.</a:t>
            </a:r>
          </a:p>
        </p:txBody>
      </p:sp>
      <p:sp>
        <p:nvSpPr>
          <p:cNvPr id="6" name="TextBox 5"/>
          <p:cNvSpPr txBox="1"/>
          <p:nvPr/>
        </p:nvSpPr>
        <p:spPr>
          <a:xfrm>
            <a:off x="4480560" y="621792"/>
            <a:ext cx="7162495"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CAPA 2 · EL DESCUBRIMIENTO</a:t>
            </a:r>
          </a:p>
        </p:txBody>
      </p:sp>
      <p:sp>
        <p:nvSpPr>
          <p:cNvPr id="7" name="TextBox 6"/>
          <p:cNvSpPr txBox="1"/>
          <p:nvPr/>
        </p:nvSpPr>
        <p:spPr>
          <a:xfrm>
            <a:off x="4480560" y="932688"/>
            <a:ext cx="685800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La Mesa Diners</a:t>
            </a:r>
          </a:p>
        </p:txBody>
      </p:sp>
      <p:sp>
        <p:nvSpPr>
          <p:cNvPr id="8" name="Rectangle 7"/>
          <p:cNvSpPr/>
          <p:nvPr/>
        </p:nvSpPr>
        <p:spPr>
          <a:xfrm>
            <a:off x="4480560" y="1737360"/>
            <a:ext cx="6903720"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883664"/>
            <a:ext cx="690372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La selección curada de los lugares, cocineros y rituales que definen el buen comer en Bogotá, con el estándar editorial de la Revista Diners.</a:t>
            </a:r>
          </a:p>
        </p:txBody>
      </p:sp>
      <p:sp>
        <p:nvSpPr>
          <p:cNvPr id="10" name="Rectangle 9"/>
          <p:cNvSpPr/>
          <p:nvPr/>
        </p:nvSpPr>
        <p:spPr>
          <a:xfrm>
            <a:off x="4480560" y="2697480"/>
            <a:ext cx="2212848" cy="178308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5152" y="2852928"/>
            <a:ext cx="1883664"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SOPORTE 1</a:t>
            </a:r>
          </a:p>
        </p:txBody>
      </p:sp>
      <p:sp>
        <p:nvSpPr>
          <p:cNvPr id="12" name="TextBox 11"/>
          <p:cNvSpPr txBox="1"/>
          <p:nvPr/>
        </p:nvSpPr>
        <p:spPr>
          <a:xfrm>
            <a:off x="4645152" y="3063240"/>
            <a:ext cx="1883664" cy="457200"/>
          </a:xfrm>
          <a:prstGeom prst="rect">
            <a:avLst/>
          </a:prstGeom>
          <a:noFill/>
        </p:spPr>
        <p:txBody>
          <a:bodyPr wrap="square" lIns="0" rIns="0" tIns="0" bIns="0" anchor="t">
            <a:spAutoFit/>
          </a:bodyPr>
          <a:lstStyle/>
          <a:p>
            <a:pPr algn="l">
              <a:lnSpc>
                <a:spcPct val="106000"/>
              </a:lnSpc>
              <a:spcAft>
                <a:spcPts val="0"/>
              </a:spcAft>
            </a:pPr>
            <a:r>
              <a:rPr sz="1100" b="1">
                <a:solidFill>
                  <a:srgbClr val="0A2540"/>
                </a:solidFill>
                <a:latin typeface="Georgia"/>
              </a:rPr>
              <a:t>Sección fija mensual</a:t>
            </a:r>
          </a:p>
        </p:txBody>
      </p:sp>
      <p:sp>
        <p:nvSpPr>
          <p:cNvPr id="13" name="TextBox 12"/>
          <p:cNvSpPr txBox="1"/>
          <p:nvPr/>
        </p:nvSpPr>
        <p:spPr>
          <a:xfrm>
            <a:off x="4645152" y="3593592"/>
            <a:ext cx="1883664" cy="758952"/>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Sección nueva, complementaria al programa. No ocupa espacio existente.</a:t>
            </a:r>
          </a:p>
        </p:txBody>
      </p:sp>
      <p:sp>
        <p:nvSpPr>
          <p:cNvPr id="14" name="Rectangle 13"/>
          <p:cNvSpPr/>
          <p:nvPr/>
        </p:nvSpPr>
        <p:spPr>
          <a:xfrm>
            <a:off x="6830568" y="2697480"/>
            <a:ext cx="2212848" cy="178308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2852928"/>
            <a:ext cx="1883664"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SOPORTE 2</a:t>
            </a:r>
          </a:p>
        </p:txBody>
      </p:sp>
      <p:sp>
        <p:nvSpPr>
          <p:cNvPr id="16" name="TextBox 15"/>
          <p:cNvSpPr txBox="1"/>
          <p:nvPr/>
        </p:nvSpPr>
        <p:spPr>
          <a:xfrm>
            <a:off x="6995160" y="3063240"/>
            <a:ext cx="1883664" cy="457200"/>
          </a:xfrm>
          <a:prstGeom prst="rect">
            <a:avLst/>
          </a:prstGeom>
          <a:noFill/>
        </p:spPr>
        <p:txBody>
          <a:bodyPr wrap="square" lIns="0" rIns="0" tIns="0" bIns="0" anchor="t">
            <a:spAutoFit/>
          </a:bodyPr>
          <a:lstStyle/>
          <a:p>
            <a:pPr algn="l">
              <a:lnSpc>
                <a:spcPct val="106000"/>
              </a:lnSpc>
              <a:spcAft>
                <a:spcPts val="0"/>
              </a:spcAft>
            </a:pPr>
            <a:r>
              <a:rPr sz="1100" b="1">
                <a:solidFill>
                  <a:srgbClr val="0A2540"/>
                </a:solidFill>
                <a:latin typeface="Georgia"/>
              </a:rPr>
              <a:t>Sección permanente en web</a:t>
            </a:r>
          </a:p>
        </p:txBody>
      </p:sp>
      <p:sp>
        <p:nvSpPr>
          <p:cNvPr id="17" name="TextBox 16"/>
          <p:cNvSpPr txBox="1"/>
          <p:nvPr/>
        </p:nvSpPr>
        <p:spPr>
          <a:xfrm>
            <a:off x="6995160" y="3593592"/>
            <a:ext cx="1883664" cy="758952"/>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La selección viva y buscable, enlazada con los aliados verificados.</a:t>
            </a:r>
          </a:p>
        </p:txBody>
      </p:sp>
      <p:sp>
        <p:nvSpPr>
          <p:cNvPr id="18" name="Rectangle 17"/>
          <p:cNvSpPr/>
          <p:nvPr/>
        </p:nvSpPr>
        <p:spPr>
          <a:xfrm>
            <a:off x="9180576" y="2697480"/>
            <a:ext cx="2212848" cy="178308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45167" y="2852928"/>
            <a:ext cx="1883664"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SOPORTE 3</a:t>
            </a:r>
          </a:p>
        </p:txBody>
      </p:sp>
      <p:sp>
        <p:nvSpPr>
          <p:cNvPr id="20" name="TextBox 19"/>
          <p:cNvSpPr txBox="1"/>
          <p:nvPr/>
        </p:nvSpPr>
        <p:spPr>
          <a:xfrm>
            <a:off x="9345167" y="3063240"/>
            <a:ext cx="1883664" cy="457200"/>
          </a:xfrm>
          <a:prstGeom prst="rect">
            <a:avLst/>
          </a:prstGeom>
          <a:noFill/>
        </p:spPr>
        <p:txBody>
          <a:bodyPr wrap="square" lIns="0" rIns="0" tIns="0" bIns="0" anchor="t">
            <a:spAutoFit/>
          </a:bodyPr>
          <a:lstStyle/>
          <a:p>
            <a:pPr algn="l">
              <a:lnSpc>
                <a:spcPct val="106000"/>
              </a:lnSpc>
              <a:spcAft>
                <a:spcPts val="0"/>
              </a:spcAft>
            </a:pPr>
            <a:r>
              <a:rPr sz="1100" b="1">
                <a:solidFill>
                  <a:srgbClr val="0A2540"/>
                </a:solidFill>
                <a:latin typeface="Georgia"/>
              </a:rPr>
              <a:t>Serie de video</a:t>
            </a:r>
          </a:p>
        </p:txBody>
      </p:sp>
      <p:sp>
        <p:nvSpPr>
          <p:cNvPr id="21" name="TextBox 20"/>
          <p:cNvSpPr txBox="1"/>
          <p:nvPr/>
        </p:nvSpPr>
        <p:spPr>
          <a:xfrm>
            <a:off x="9345167" y="3419856"/>
            <a:ext cx="1883664" cy="932688"/>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Los protagonistas en video editorial, en canales propios y del invitado.</a:t>
            </a:r>
          </a:p>
        </p:txBody>
      </p:sp>
      <p:sp>
        <p:nvSpPr>
          <p:cNvPr id="22" name="Rectangle 21"/>
          <p:cNvSpPr/>
          <p:nvPr/>
        </p:nvSpPr>
        <p:spPr>
          <a:xfrm>
            <a:off x="4480560" y="4663440"/>
            <a:ext cx="6903720" cy="128016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2" y="4818888"/>
            <a:ext cx="657453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LA REGLA QUE PROTEGE LA CURADURÍA</a:t>
            </a:r>
          </a:p>
        </p:txBody>
      </p:sp>
      <p:sp>
        <p:nvSpPr>
          <p:cNvPr id="24" name="TextBox 23"/>
          <p:cNvSpPr txBox="1"/>
          <p:nvPr/>
        </p:nvSpPr>
        <p:spPr>
          <a:xfrm>
            <a:off x="4645152" y="5029200"/>
            <a:ext cx="6574536" cy="457200"/>
          </a:xfrm>
          <a:prstGeom prst="rect">
            <a:avLst/>
          </a:prstGeom>
          <a:noFill/>
        </p:spPr>
        <p:txBody>
          <a:bodyPr wrap="square" lIns="0" rIns="0" tIns="0" bIns="0" anchor="t">
            <a:spAutoFit/>
          </a:bodyPr>
          <a:lstStyle/>
          <a:p>
            <a:pPr algn="l">
              <a:lnSpc>
                <a:spcPct val="106000"/>
              </a:lnSpc>
              <a:spcAft>
                <a:spcPts val="0"/>
              </a:spcAft>
            </a:pPr>
            <a:r>
              <a:rPr sz="1200" b="1">
                <a:solidFill>
                  <a:srgbClr val="FFFFFF"/>
                </a:solidFill>
                <a:latin typeface="Georgia"/>
              </a:rPr>
              <a:t>La entrada la define el editor</a:t>
            </a:r>
          </a:p>
        </p:txBody>
      </p:sp>
      <p:sp>
        <p:nvSpPr>
          <p:cNvPr id="25" name="TextBox 24"/>
          <p:cNvSpPr txBox="1"/>
          <p:nvPr/>
        </p:nvSpPr>
        <p:spPr>
          <a:xfrm>
            <a:off x="4645152" y="5385816"/>
            <a:ext cx="6574536" cy="429767"/>
          </a:xfrm>
          <a:prstGeom prst="rect">
            <a:avLst/>
          </a:prstGeom>
          <a:noFill/>
        </p:spPr>
        <p:txBody>
          <a:bodyPr wrap="square" lIns="0" rIns="0" tIns="0" bIns="0" anchor="t">
            <a:spAutoFit/>
          </a:bodyPr>
          <a:lstStyle/>
          <a:p>
            <a:pPr algn="l">
              <a:lnSpc>
                <a:spcPct val="126000"/>
              </a:lnSpc>
              <a:spcAft>
                <a:spcPts val="0"/>
              </a:spcAft>
            </a:pPr>
            <a:r>
              <a:rPr sz="880" b="0">
                <a:solidFill>
                  <a:srgbClr val="D8DDE4"/>
                </a:solidFill>
                <a:latin typeface="Helvetica Neue"/>
              </a:rPr>
              <a:t>Pagar amplía la ficha, no compra el lugar en la selección. Sin esa regla la sección se lee como publirreportaje y se pierde la autoridad editorial, que es lo único que ninguna agencia puede replicar.</a:t>
            </a:r>
          </a:p>
        </p:txBody>
      </p:sp>
      <p:sp>
        <p:nvSpPr>
          <p:cNvPr id="26" name="TextBox 25"/>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MAPEA SOBRE BESPOKE DINING CONTENT</a:t>
            </a:r>
          </a:p>
        </p:txBody>
      </p:sp>
      <p:sp>
        <p:nvSpPr>
          <p:cNvPr id="27" name="TextBox 26"/>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bi.jpg"/>
          <p:cNvPicPr>
            <a:picLocks noChangeAspect="1"/>
          </p:cNvPicPr>
          <p:nvPr/>
        </p:nvPicPr>
        <p:blipFill>
          <a:blip r:embed="rId2"/>
          <a:stretch>
            <a:fillRect/>
          </a:stretch>
        </p:blipFill>
        <p:spPr>
          <a:xfrm>
            <a:off x="8321040" y="0"/>
            <a:ext cx="3867912" cy="6858000"/>
          </a:xfrm>
          <a:prstGeom prst="rect">
            <a:avLst/>
          </a:prstGeom>
        </p:spPr>
      </p:pic>
      <p:sp>
        <p:nvSpPr>
          <p:cNvPr id="4" name="Rectangle 3"/>
          <p:cNvSpPr/>
          <p:nvPr/>
        </p:nvSpPr>
        <p:spPr>
          <a:xfrm>
            <a:off x="8321040" y="0"/>
            <a:ext cx="3867912" cy="6858000"/>
          </a:xfrm>
          <a:prstGeom prst="rect">
            <a:avLst/>
          </a:prstGeom>
          <a:solidFill>
            <a:srgbClr val="0A2540">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77072" y="5532120"/>
            <a:ext cx="3355848" cy="914400"/>
          </a:xfrm>
          <a:prstGeom prst="rect">
            <a:avLst/>
          </a:prstGeom>
          <a:noFill/>
        </p:spPr>
        <p:txBody>
          <a:bodyPr wrap="square" lIns="0" rIns="0" tIns="0" bIns="0" anchor="b">
            <a:spAutoFit/>
          </a:bodyPr>
          <a:lstStyle/>
          <a:p>
            <a:pPr algn="l">
              <a:lnSpc>
                <a:spcPct val="115000"/>
              </a:lnSpc>
              <a:spcAft>
                <a:spcPts val="0"/>
              </a:spcAft>
            </a:pPr>
            <a:r>
              <a:rPr sz="1800" b="0">
                <a:solidFill>
                  <a:srgbClr val="FFFFFF"/>
                </a:solidFill>
                <a:latin typeface="Georgia"/>
              </a:rPr>
              <a:t>Lo que se reparte
a todos deja de
distinguir a alguien</a:t>
            </a:r>
          </a:p>
        </p:txBody>
      </p:sp>
      <p:sp>
        <p:nvSpPr>
          <p:cNvPr id="6" name="TextBox 5"/>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CAPA 3 · EL ESTATUS</a:t>
            </a:r>
          </a:p>
        </p:txBody>
      </p:sp>
      <p:sp>
        <p:nvSpPr>
          <p:cNvPr id="7" name="TextBox 6"/>
          <p:cNvSpPr txBox="1"/>
          <p:nvPr/>
        </p:nvSpPr>
        <p:spPr>
          <a:xfrm>
            <a:off x="731520" y="932688"/>
            <a:ext cx="7040880" cy="1188720"/>
          </a:xfrm>
          <a:prstGeom prst="rect">
            <a:avLst/>
          </a:prstGeom>
          <a:noFill/>
        </p:spPr>
        <p:txBody>
          <a:bodyPr wrap="square" lIns="0" rIns="0" tIns="0" bIns="0" anchor="t">
            <a:spAutoFit/>
          </a:bodyPr>
          <a:lstStyle/>
          <a:p>
            <a:pPr algn="l">
              <a:lnSpc>
                <a:spcPct val="102000"/>
              </a:lnSpc>
              <a:spcAft>
                <a:spcPts val="0"/>
              </a:spcAft>
            </a:pPr>
            <a:r>
              <a:rPr sz="2900" b="0">
                <a:solidFill>
                  <a:srgbClr val="0A2540"/>
                </a:solidFill>
                <a:latin typeface="Georgia"/>
              </a:rPr>
              <a:t>Experiencias Only By Invitation</a:t>
            </a:r>
          </a:p>
        </p:txBody>
      </p:sp>
      <p:sp>
        <p:nvSpPr>
          <p:cNvPr id="8" name="Rectangle 7"/>
          <p:cNvSpPr/>
          <p:nvPr/>
        </p:nvSpPr>
        <p:spPr>
          <a:xfrm>
            <a:off x="731520" y="1737360"/>
            <a:ext cx="6949440"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83664"/>
            <a:ext cx="694944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Seis experiencias gastronómicas en el año, con cupo limitado y acceso por invitación. Catas privadas con maridaje de autor, cenas a cuatro manos, mesas con cocineros que no abren al público.</a:t>
            </a:r>
          </a:p>
        </p:txBody>
      </p:sp>
      <p:sp>
        <p:nvSpPr>
          <p:cNvPr id="10" name="Rectangle 9"/>
          <p:cNvSpPr/>
          <p:nvPr/>
        </p:nvSpPr>
        <p:spPr>
          <a:xfrm>
            <a:off x="731520" y="2697480"/>
            <a:ext cx="6949440" cy="987552"/>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852928"/>
            <a:ext cx="6620255"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LA ESCASEZ ES EL PUNTO</a:t>
            </a:r>
          </a:p>
        </p:txBody>
      </p:sp>
      <p:sp>
        <p:nvSpPr>
          <p:cNvPr id="12" name="TextBox 11"/>
          <p:cNvSpPr txBox="1"/>
          <p:nvPr/>
        </p:nvSpPr>
        <p:spPr>
          <a:xfrm>
            <a:off x="896112" y="3063240"/>
            <a:ext cx="6620255"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18.400 Black · 150 cupos</a:t>
            </a:r>
          </a:p>
        </p:txBody>
      </p:sp>
      <p:sp>
        <p:nvSpPr>
          <p:cNvPr id="13" name="TextBox 12"/>
          <p:cNvSpPr txBox="1"/>
          <p:nvPr/>
        </p:nvSpPr>
        <p:spPr>
          <a:xfrm>
            <a:off x="896112" y="3419856"/>
            <a:ext cx="6620255" cy="137160"/>
          </a:xfrm>
          <a:prstGeom prst="rect">
            <a:avLst/>
          </a:prstGeom>
          <a:noFill/>
        </p:spPr>
        <p:txBody>
          <a:bodyPr wrap="square" lIns="0" rIns="0" tIns="0" bIns="0" anchor="t">
            <a:spAutoFit/>
          </a:bodyPr>
          <a:lstStyle/>
          <a:p>
            <a:pPr algn="l">
              <a:lnSpc>
                <a:spcPct val="126000"/>
              </a:lnSpc>
              <a:spcAft>
                <a:spcPts val="0"/>
              </a:spcAft>
            </a:pPr>
            <a:r>
              <a:rPr sz="880" b="0">
                <a:solidFill>
                  <a:srgbClr val="14263D"/>
                </a:solidFill>
                <a:latin typeface="Helvetica Neue"/>
              </a:rPr>
              <a:t>El cupo corto no es una restricción de logística. Es el beneficio.</a:t>
            </a:r>
          </a:p>
        </p:txBody>
      </p:sp>
      <p:sp>
        <p:nvSpPr>
          <p:cNvPr id="14" name="Rectangle 13"/>
          <p:cNvSpPr/>
          <p:nvPr/>
        </p:nvSpPr>
        <p:spPr>
          <a:xfrm>
            <a:off x="731520" y="3794760"/>
            <a:ext cx="6949440" cy="987552"/>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50208"/>
            <a:ext cx="6620255"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RENDIMIENTO TRIPLE</a:t>
            </a:r>
          </a:p>
        </p:txBody>
      </p:sp>
      <p:sp>
        <p:nvSpPr>
          <p:cNvPr id="16" name="TextBox 15"/>
          <p:cNvSpPr txBox="1"/>
          <p:nvPr/>
        </p:nvSpPr>
        <p:spPr>
          <a:xfrm>
            <a:off x="896112" y="4160520"/>
            <a:ext cx="6620255"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Se produce una vez, se distribuye tres</a:t>
            </a:r>
          </a:p>
        </p:txBody>
      </p:sp>
      <p:sp>
        <p:nvSpPr>
          <p:cNvPr id="17" name="TextBox 16"/>
          <p:cNvSpPr txBox="1"/>
          <p:nvPr/>
        </p:nvSpPr>
        <p:spPr>
          <a:xfrm>
            <a:off x="896112" y="4517136"/>
            <a:ext cx="6620255" cy="137160"/>
          </a:xfrm>
          <a:prstGeom prst="rect">
            <a:avLst/>
          </a:prstGeom>
          <a:noFill/>
        </p:spPr>
        <p:txBody>
          <a:bodyPr wrap="square" lIns="0" rIns="0" tIns="0" bIns="0" anchor="t">
            <a:spAutoFit/>
          </a:bodyPr>
          <a:lstStyle/>
          <a:p>
            <a:pPr algn="l">
              <a:lnSpc>
                <a:spcPct val="126000"/>
              </a:lnSpc>
              <a:spcAft>
                <a:spcPts val="0"/>
              </a:spcAft>
            </a:pPr>
            <a:r>
              <a:rPr sz="880" b="0">
                <a:solidFill>
                  <a:srgbClr val="14263D"/>
                </a:solidFill>
                <a:latin typeface="Helvetica Neue"/>
              </a:rPr>
              <a:t>Evento, reel y artículo permanente. Alcanza a quien no estuvo, incluidos prospectos.</a:t>
            </a:r>
          </a:p>
        </p:txBody>
      </p:sp>
      <p:sp>
        <p:nvSpPr>
          <p:cNvPr id="18" name="Rectangle 17"/>
          <p:cNvSpPr/>
          <p:nvPr/>
        </p:nvSpPr>
        <p:spPr>
          <a:xfrm>
            <a:off x="731520" y="4892040"/>
            <a:ext cx="6949440" cy="987552"/>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047488"/>
            <a:ext cx="6620255"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PRUEBA SOCIAL</a:t>
            </a:r>
          </a:p>
        </p:txBody>
      </p:sp>
      <p:sp>
        <p:nvSpPr>
          <p:cNvPr id="20" name="TextBox 19"/>
          <p:cNvSpPr txBox="1"/>
          <p:nvPr/>
        </p:nvSpPr>
        <p:spPr>
          <a:xfrm>
            <a:off x="896112" y="5257800"/>
            <a:ext cx="6620255"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Testimonios de Clubmembers</a:t>
            </a:r>
          </a:p>
        </p:txBody>
      </p:sp>
      <p:sp>
        <p:nvSpPr>
          <p:cNvPr id="21" name="TextBox 20"/>
          <p:cNvSpPr txBox="1"/>
          <p:nvPr/>
        </p:nvSpPr>
        <p:spPr>
          <a:xfrm>
            <a:off x="896112" y="5614416"/>
            <a:ext cx="6620255" cy="137160"/>
          </a:xfrm>
          <a:prstGeom prst="rect">
            <a:avLst/>
          </a:prstGeom>
          <a:noFill/>
        </p:spPr>
        <p:txBody>
          <a:bodyPr wrap="square" lIns="0" rIns="0" tIns="0" bIns="0" anchor="t">
            <a:spAutoFit/>
          </a:bodyPr>
          <a:lstStyle/>
          <a:p>
            <a:pPr algn="l">
              <a:lnSpc>
                <a:spcPct val="126000"/>
              </a:lnSpc>
              <a:spcAft>
                <a:spcPts val="0"/>
              </a:spcAft>
            </a:pPr>
            <a:r>
              <a:rPr sz="880" b="0">
                <a:solidFill>
                  <a:srgbClr val="14263D"/>
                </a:solidFill>
                <a:latin typeface="Helvetica Neue"/>
              </a:rPr>
              <a:t>El propio tracker recomienda usar testimonios para mostrar relevancia a prospectos.</a:t>
            </a:r>
          </a:p>
        </p:txBody>
      </p:sp>
      <p:sp>
        <p:nvSpPr>
          <p:cNvPr id="22" name="TextBox 21"/>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MAPEA SOBRE DINING EXPERIENCES</a:t>
            </a:r>
          </a:p>
        </p:txBody>
      </p:sp>
      <p:sp>
        <p:nvSpPr>
          <p:cNvPr id="23" name="TextBox 22"/>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spAutoFit/>
          </a:bodyPr>
          <a:lstStyle/>
          <a:p>
            <a:r>
              <a:rPr sz="850" b="1">
                <a:solidFill>
                  <a:srgbClr val="8A6B1F"/>
                </a:solidFill>
                <a:latin typeface="Helvetica Neue"/>
              </a:rPr>
              <a:t>BENCHMARK · VISA, MASTERCARD Y NUBANK</a:t>
            </a:r>
          </a:p>
        </p:txBody>
      </p:sp>
      <p:sp>
        <p:nvSpPr>
          <p:cNvPr id="4" name="TextBox 3"/>
          <p:cNvSpPr txBox="1"/>
          <p:nvPr/>
        </p:nvSpPr>
        <p:spPr>
          <a:xfrm>
            <a:off x="731520" y="932688"/>
            <a:ext cx="10058400" cy="1188720"/>
          </a:xfrm>
          <a:prstGeom prst="rect">
            <a:avLst/>
          </a:prstGeom>
          <a:noFill/>
        </p:spPr>
        <p:txBody>
          <a:bodyPr wrap="square" lIns="0" rIns="0" tIns="0" bIns="0">
            <a:spAutoFit/>
          </a:bodyPr>
          <a:lstStyle/>
          <a:p>
            <a:r>
              <a:rPr sz="3100" b="0">
                <a:solidFill>
                  <a:srgbClr val="0A2540"/>
                </a:solidFill>
                <a:latin typeface="Georgia"/>
              </a:rPr>
              <a:t>Ellos compran momentos. Nosotros construimos rutinas</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83664"/>
            <a:ext cx="10424160" cy="566928"/>
          </a:xfrm>
          <a:prstGeom prst="rect">
            <a:avLst/>
          </a:prstGeom>
          <a:noFill/>
        </p:spPr>
        <p:txBody>
          <a:bodyPr wrap="square" lIns="0" rIns="0" tIns="0" bIns="0">
            <a:spAutoFit/>
          </a:bodyPr>
          <a:lstStyle/>
          <a:p>
            <a:r>
              <a:rPr sz="1050" b="0">
                <a:solidFill>
                  <a:srgbClr val="75808F"/>
                </a:solidFill>
                <a:latin typeface="Helvetica Neue"/>
              </a:rPr>
              <a:t>Lo que cada competidor activa hoy en Bogotá, y qué territorios deja ocupados.</a:t>
            </a:r>
          </a:p>
        </p:txBody>
      </p:sp>
      <p:graphicFrame>
        <p:nvGraphicFramePr>
          <p:cNvPr id="7" name="Table 6"/>
          <p:cNvGraphicFramePr>
            <a:graphicFrameLocks noGrp="1"/>
          </p:cNvGraphicFramePr>
          <p:nvPr/>
        </p:nvGraphicFramePr>
        <p:xfrm>
          <a:off x="731520" y="2578608"/>
          <a:ext cx="6355080" cy="2093976"/>
        </p:xfrm>
        <a:graphic>
          <a:graphicData uri="http://schemas.openxmlformats.org/drawingml/2006/table">
            <a:tbl>
              <a:tblPr firstRow="1" bandRow="1">
                <a:tableStyleId>{5C22544A-7EE6-4342-B048-85BDC9FD1C3A}</a:tableStyleId>
              </a:tblPr>
              <a:tblGrid>
                <a:gridCol w="1051560"/>
                <a:gridCol w="1325880"/>
                <a:gridCol w="1965960"/>
                <a:gridCol w="2011680"/>
              </a:tblGrid>
              <a:tr h="310896">
                <a:tc>
                  <a:txBody>
                    <a:bodyPr/>
                    <a:lstStyle/>
                    <a:p>
                      <a:r>
                        <a:rPr sz="740" b="1">
                          <a:solidFill>
                            <a:srgbClr val="FFFFFF"/>
                          </a:solidFill>
                          <a:latin typeface="Helvetica Neue"/>
                        </a:rPr>
                        <a:t>Marca</a:t>
                      </a:r>
                    </a:p>
                  </a:txBody>
                  <a:tcPr marL="64008" marR="64008" marT="27432" marB="27432">
                    <a:solidFill>
                      <a:srgbClr val="0A2540"/>
                    </a:solidFill>
                  </a:tcPr>
                </a:tc>
                <a:tc>
                  <a:txBody>
                    <a:bodyPr/>
                    <a:lstStyle/>
                    <a:p>
                      <a:r>
                        <a:rPr sz="740" b="1">
                          <a:solidFill>
                            <a:srgbClr val="FFFFFF"/>
                          </a:solidFill>
                          <a:latin typeface="Helvetica Neue"/>
                        </a:rPr>
                        <a:t>Territorio</a:t>
                      </a:r>
                    </a:p>
                  </a:txBody>
                  <a:tcPr marL="64008" marR="64008" marT="27432" marB="27432">
                    <a:solidFill>
                      <a:srgbClr val="0A2540"/>
                    </a:solidFill>
                  </a:tcPr>
                </a:tc>
                <a:tc>
                  <a:txBody>
                    <a:bodyPr/>
                    <a:lstStyle/>
                    <a:p>
                      <a:r>
                        <a:rPr sz="740" b="1">
                          <a:solidFill>
                            <a:srgbClr val="FFFFFF"/>
                          </a:solidFill>
                          <a:latin typeface="Helvetica Neue"/>
                        </a:rPr>
                        <a:t>Dónde activa</a:t>
                      </a:r>
                    </a:p>
                  </a:txBody>
                  <a:tcPr marL="64008" marR="64008" marT="27432" marB="27432">
                    <a:solidFill>
                      <a:srgbClr val="0A2540"/>
                    </a:solidFill>
                  </a:tcPr>
                </a:tc>
                <a:tc>
                  <a:txBody>
                    <a:bodyPr/>
                    <a:lstStyle/>
                    <a:p>
                      <a:r>
                        <a:rPr sz="740" b="1">
                          <a:solidFill>
                            <a:srgbClr val="FFFFFF"/>
                          </a:solidFill>
                          <a:latin typeface="Helvetica Neue"/>
                        </a:rPr>
                        <a:t>Mecánica</a:t>
                      </a:r>
                    </a:p>
                  </a:txBody>
                  <a:tcPr marL="64008" marR="64008" marT="27432" marB="27432">
                    <a:solidFill>
                      <a:srgbClr val="0A2540"/>
                    </a:solidFill>
                  </a:tcPr>
                </a:tc>
              </a:tr>
              <a:tr h="594360">
                <a:tc>
                  <a:txBody>
                    <a:bodyPr/>
                    <a:lstStyle/>
                    <a:p>
                      <a:r>
                        <a:rPr sz="800" b="1">
                          <a:solidFill>
                            <a:srgbClr val="0A2540"/>
                          </a:solidFill>
                          <a:latin typeface="Georgia"/>
                        </a:rPr>
                        <a:t>Visa</a:t>
                      </a:r>
                    </a:p>
                  </a:txBody>
                  <a:tcPr marL="64008" marR="64008" marT="27432" marB="27432">
                    <a:solidFill>
                      <a:srgbClr val="FFFDF9"/>
                    </a:solidFill>
                  </a:tcPr>
                </a:tc>
                <a:tc>
                  <a:txBody>
                    <a:bodyPr/>
                    <a:lstStyle/>
                    <a:p>
                      <a:r>
                        <a:rPr sz="800" b="0">
                          <a:solidFill>
                            <a:srgbClr val="14263D"/>
                          </a:solidFill>
                          <a:latin typeface="Helvetica Neue"/>
                        </a:rPr>
                        <a:t>Pago y volumen</a:t>
                      </a:r>
                    </a:p>
                  </a:txBody>
                  <a:tcPr marL="64008" marR="64008" marT="27432" marB="27432">
                    <a:solidFill>
                      <a:srgbClr val="FFFDF9"/>
                    </a:solidFill>
                  </a:tcPr>
                </a:tc>
                <a:tc>
                  <a:txBody>
                    <a:bodyPr/>
                    <a:lstStyle/>
                    <a:p>
                      <a:r>
                        <a:rPr sz="800" b="0">
                          <a:solidFill>
                            <a:srgbClr val="14263D"/>
                          </a:solidFill>
                          <a:latin typeface="Helvetica Neue"/>
                        </a:rPr>
                        <a:t>Estéreo Picnic, Movistar Arena, Unicentro, Andino, Gran Estación</a:t>
                      </a:r>
                    </a:p>
                  </a:txBody>
                  <a:tcPr marL="64008" marR="64008" marT="27432" marB="27432">
                    <a:solidFill>
                      <a:srgbClr val="FFFDF9"/>
                    </a:solidFill>
                  </a:tcPr>
                </a:tc>
                <a:tc>
                  <a:txBody>
                    <a:bodyPr/>
                    <a:lstStyle/>
                    <a:p>
                      <a:r>
                        <a:rPr sz="800" b="0">
                          <a:solidFill>
                            <a:srgbClr val="14263D"/>
                          </a:solidFill>
                          <a:latin typeface="Helvetica Neue"/>
                        </a:rPr>
                        <a:t>Cashless, Tap to Pay, recompensas por pagar sin contacto</a:t>
                      </a:r>
                    </a:p>
                  </a:txBody>
                  <a:tcPr marL="64008" marR="64008" marT="27432" marB="27432">
                    <a:solidFill>
                      <a:srgbClr val="FFFDF9"/>
                    </a:solidFill>
                  </a:tcPr>
                </a:tc>
              </a:tr>
              <a:tr h="594360">
                <a:tc>
                  <a:txBody>
                    <a:bodyPr/>
                    <a:lstStyle/>
                    <a:p>
                      <a:r>
                        <a:rPr sz="800" b="1">
                          <a:solidFill>
                            <a:srgbClr val="0A2540"/>
                          </a:solidFill>
                          <a:latin typeface="Georgia"/>
                        </a:rPr>
                        <a:t>Mastercard</a:t>
                      </a:r>
                    </a:p>
                  </a:txBody>
                  <a:tcPr marL="64008" marR="64008" marT="27432" marB="27432">
                    <a:solidFill>
                      <a:srgbClr val="FFFDF9"/>
                    </a:solidFill>
                  </a:tcPr>
                </a:tc>
                <a:tc>
                  <a:txBody>
                    <a:bodyPr/>
                    <a:lstStyle/>
                    <a:p>
                      <a:r>
                        <a:rPr sz="800" b="0">
                          <a:solidFill>
                            <a:srgbClr val="14263D"/>
                          </a:solidFill>
                          <a:latin typeface="Helvetica Neue"/>
                        </a:rPr>
                        <a:t>Experiencia premium</a:t>
                      </a:r>
                    </a:p>
                  </a:txBody>
                  <a:tcPr marL="64008" marR="64008" marT="27432" marB="27432">
                    <a:solidFill>
                      <a:srgbClr val="FFFDF9"/>
                    </a:solidFill>
                  </a:tcPr>
                </a:tc>
                <a:tc>
                  <a:txBody>
                    <a:bodyPr/>
                    <a:lstStyle/>
                    <a:p>
                      <a:r>
                        <a:rPr sz="800" b="0">
                          <a:solidFill>
                            <a:srgbClr val="14263D"/>
                          </a:solidFill>
                          <a:latin typeface="Helvetica Neue"/>
                        </a:rPr>
                        <a:t>El Campín, Parque Museo El Chicó, alta cocina en Zona G, Zona T y Usaquén</a:t>
                      </a:r>
                    </a:p>
                  </a:txBody>
                  <a:tcPr marL="64008" marR="64008" marT="27432" marB="27432">
                    <a:solidFill>
                      <a:srgbClr val="FFFDF9"/>
                    </a:solidFill>
                  </a:tcPr>
                </a:tc>
                <a:tc>
                  <a:txBody>
                    <a:bodyPr/>
                    <a:lstStyle/>
                    <a:p>
                      <a:r>
                        <a:rPr sz="800" b="0">
                          <a:solidFill>
                            <a:srgbClr val="14263D"/>
                          </a:solidFill>
                          <a:latin typeface="Helvetica Neue"/>
                        </a:rPr>
                        <a:t>Patrocinio deportivo, festival gastronómico y Priceless Tables, con plataforma propia de reserva</a:t>
                      </a:r>
                    </a:p>
                  </a:txBody>
                  <a:tcPr marL="64008" marR="64008" marT="27432" marB="27432">
                    <a:solidFill>
                      <a:srgbClr val="FFFDF9"/>
                    </a:solidFill>
                  </a:tcPr>
                </a:tc>
              </a:tr>
              <a:tr h="594360">
                <a:tc>
                  <a:txBody>
                    <a:bodyPr/>
                    <a:lstStyle/>
                    <a:p>
                      <a:r>
                        <a:rPr sz="800" b="1">
                          <a:solidFill>
                            <a:srgbClr val="0A2540"/>
                          </a:solidFill>
                          <a:latin typeface="Georgia"/>
                        </a:rPr>
                        <a:t>Nubank</a:t>
                      </a:r>
                    </a:p>
                  </a:txBody>
                  <a:tcPr marL="64008" marR="64008" marT="27432" marB="27432">
                    <a:solidFill>
                      <a:srgbClr val="FFFDF9"/>
                    </a:solidFill>
                  </a:tcPr>
                </a:tc>
                <a:tc>
                  <a:txBody>
                    <a:bodyPr/>
                    <a:lstStyle/>
                    <a:p>
                      <a:r>
                        <a:rPr sz="800" b="0">
                          <a:solidFill>
                            <a:srgbClr val="14263D"/>
                          </a:solidFill>
                          <a:latin typeface="Helvetica Neue"/>
                        </a:rPr>
                        <a:t>Cercanía y visibilidad</a:t>
                      </a:r>
                    </a:p>
                  </a:txBody>
                  <a:tcPr marL="64008" marR="64008" marT="27432" marB="27432">
                    <a:solidFill>
                      <a:srgbClr val="FFFDF9"/>
                    </a:solidFill>
                  </a:tcPr>
                </a:tc>
                <a:tc>
                  <a:txBody>
                    <a:bodyPr/>
                    <a:lstStyle/>
                    <a:p>
                      <a:r>
                        <a:rPr sz="800" b="0">
                          <a:solidFill>
                            <a:srgbClr val="14263D"/>
                          </a:solidFill>
                          <a:latin typeface="Helvetica Neue"/>
                        </a:rPr>
                        <a:t>Parque de la 93, Zona T, Corferias, Movistar Arena, Chamorro City Hall</a:t>
                      </a:r>
                    </a:p>
                  </a:txBody>
                  <a:tcPr marL="64008" marR="64008" marT="27432" marB="27432">
                    <a:solidFill>
                      <a:srgbClr val="FFFDF9"/>
                    </a:solidFill>
                  </a:tcPr>
                </a:tc>
                <a:tc>
                  <a:txBody>
                    <a:bodyPr/>
                    <a:lstStyle/>
                    <a:p>
                      <a:r>
                        <a:rPr sz="800" b="0">
                          <a:solidFill>
                            <a:srgbClr val="14263D"/>
                          </a:solidFill>
                          <a:latin typeface="Helvetica Neue"/>
                        </a:rPr>
                        <a:t>Tótems, pop-ups, entrega física de tarjeta, merchandising morado</a:t>
                      </a:r>
                    </a:p>
                  </a:txBody>
                  <a:tcPr marL="64008" marR="64008" marT="27432" marB="27432">
                    <a:solidFill>
                      <a:srgbClr val="FFFDF9"/>
                    </a:solidFill>
                  </a:tcPr>
                </a:tc>
              </a:tr>
            </a:tbl>
          </a:graphicData>
        </a:graphic>
      </p:graphicFrame>
      <p:sp>
        <p:nvSpPr>
          <p:cNvPr id="8" name="TextBox 7"/>
          <p:cNvSpPr txBox="1"/>
          <p:nvPr/>
        </p:nvSpPr>
        <p:spPr>
          <a:xfrm>
            <a:off x="731520" y="4773168"/>
            <a:ext cx="6355080" cy="457200"/>
          </a:xfrm>
          <a:prstGeom prst="rect">
            <a:avLst/>
          </a:prstGeom>
          <a:noFill/>
        </p:spPr>
        <p:txBody>
          <a:bodyPr wrap="square" lIns="0" rIns="0" tIns="0" bIns="0">
            <a:spAutoFit/>
          </a:bodyPr>
          <a:lstStyle/>
          <a:p>
            <a:r>
              <a:rPr sz="720" b="0">
                <a:solidFill>
                  <a:srgbClr val="75808F"/>
                </a:solidFill>
                <a:latin typeface="Helvetica Neue"/>
              </a:rPr>
              <a:t>Mastercard activó Abriendo Puertas en junio de 2025: puertas gigantes con lector NFC, cuatro días, cuatro centros comerciales y embajadores explicando los beneficios de la tarjeta.</a:t>
            </a:r>
          </a:p>
        </p:txBody>
      </p:sp>
      <p:sp>
        <p:nvSpPr>
          <p:cNvPr id="9" name="Rectangle 8"/>
          <p:cNvSpPr/>
          <p:nvPr/>
        </p:nvSpPr>
        <p:spPr>
          <a:xfrm>
            <a:off x="7406640" y="2578608"/>
            <a:ext cx="4050791" cy="2395728"/>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71231" y="2734056"/>
            <a:ext cx="3721607" cy="182880"/>
          </a:xfrm>
          <a:prstGeom prst="rect">
            <a:avLst/>
          </a:prstGeom>
          <a:noFill/>
        </p:spPr>
        <p:txBody>
          <a:bodyPr wrap="square" lIns="0" rIns="0" tIns="0" bIns="0">
            <a:spAutoFit/>
          </a:bodyPr>
          <a:lstStyle/>
          <a:p>
            <a:r>
              <a:rPr sz="700" b="1">
                <a:solidFill>
                  <a:srgbClr val="D2A855"/>
                </a:solidFill>
                <a:latin typeface="Helvetica Neue"/>
              </a:rPr>
              <a:t>EL PATRÓN QUE UNE A LOS TRES</a:t>
            </a:r>
          </a:p>
        </p:txBody>
      </p:sp>
      <p:sp>
        <p:nvSpPr>
          <p:cNvPr id="11" name="TextBox 10"/>
          <p:cNvSpPr txBox="1"/>
          <p:nvPr/>
        </p:nvSpPr>
        <p:spPr>
          <a:xfrm>
            <a:off x="7571231" y="2962656"/>
            <a:ext cx="3721607" cy="457200"/>
          </a:xfrm>
          <a:prstGeom prst="rect">
            <a:avLst/>
          </a:prstGeom>
          <a:noFill/>
        </p:spPr>
        <p:txBody>
          <a:bodyPr wrap="square" lIns="0" rIns="0" tIns="0" bIns="0">
            <a:spAutoFit/>
          </a:bodyPr>
          <a:lstStyle/>
          <a:p>
            <a:r>
              <a:rPr sz="1150" b="1">
                <a:solidFill>
                  <a:srgbClr val="FFFFFF"/>
                </a:solidFill>
                <a:latin typeface="Georgia"/>
              </a:rPr>
              <a:t>Momentos que se recuerdan una semana</a:t>
            </a:r>
          </a:p>
        </p:txBody>
      </p:sp>
      <p:sp>
        <p:nvSpPr>
          <p:cNvPr id="12" name="TextBox 11"/>
          <p:cNvSpPr txBox="1"/>
          <p:nvPr/>
        </p:nvSpPr>
        <p:spPr>
          <a:xfrm>
            <a:off x="7571231" y="3383279"/>
            <a:ext cx="3721607" cy="1444752"/>
          </a:xfrm>
          <a:prstGeom prst="rect">
            <a:avLst/>
          </a:prstGeom>
          <a:noFill/>
        </p:spPr>
        <p:txBody>
          <a:bodyPr wrap="square" lIns="0" rIns="0" tIns="0" bIns="0">
            <a:spAutoFit/>
          </a:bodyPr>
          <a:lstStyle/>
          <a:p>
            <a:pPr>
              <a:spcAft>
                <a:spcPts val="500"/>
              </a:spcAft>
            </a:pPr>
            <a:r>
              <a:rPr sz="830" b="0">
                <a:solidFill>
                  <a:srgbClr val="D8DDE4"/>
                </a:solidFill>
                <a:latin typeface="Helvetica Neue"/>
              </a:rPr>
              <a:t>Mastercard pone puertas durante cuatro días. Nubank compra una Navidad. Visa trae el trofeo del Mundial una vez. Todos alquilan un recinto y se van.</a:t>
            </a:r>
          </a:p>
          <a:p>
            <a:pPr>
              <a:spcAft>
                <a:spcPts val="500"/>
              </a:spcAft>
            </a:pPr>
            <a:r>
              <a:rPr sz="830" b="0">
                <a:solidFill>
                  <a:srgbClr val="D8DDE4"/>
                </a:solidFill>
                <a:latin typeface="Helvetica Neue"/>
              </a:rPr>
              <a:t>Este plan ocurre cada semana o cada mes durante doce meses: el día fijo, la sección de la revista, el sello en la vitrina.</a:t>
            </a:r>
          </a:p>
        </p:txBody>
      </p:sp>
      <p:sp>
        <p:nvSpPr>
          <p:cNvPr id="13" name="Rectangle 12"/>
          <p:cNvSpPr/>
          <p:nvPr/>
        </p:nvSpPr>
        <p:spPr>
          <a:xfrm>
            <a:off x="7406640" y="5084064"/>
            <a:ext cx="4050791" cy="841248"/>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1" y="5239512"/>
            <a:ext cx="3721607" cy="182880"/>
          </a:xfrm>
          <a:prstGeom prst="rect">
            <a:avLst/>
          </a:prstGeom>
          <a:noFill/>
        </p:spPr>
        <p:txBody>
          <a:bodyPr wrap="square" lIns="0" rIns="0" tIns="0" bIns="0">
            <a:spAutoFit/>
          </a:bodyPr>
          <a:lstStyle/>
          <a:p>
            <a:r>
              <a:rPr sz="700" b="1">
                <a:solidFill>
                  <a:srgbClr val="8A6B1F"/>
                </a:solidFill>
                <a:latin typeface="Helvetica Neue"/>
              </a:rPr>
              <a:t>LO QUE QUEDA LIBRE</a:t>
            </a:r>
          </a:p>
        </p:txBody>
      </p:sp>
      <p:sp>
        <p:nvSpPr>
          <p:cNvPr id="15" name="TextBox 14"/>
          <p:cNvSpPr txBox="1"/>
          <p:nvPr/>
        </p:nvSpPr>
        <p:spPr>
          <a:xfrm>
            <a:off x="7571231" y="5468112"/>
            <a:ext cx="3721607" cy="310896"/>
          </a:xfrm>
          <a:prstGeom prst="rect">
            <a:avLst/>
          </a:prstGeom>
          <a:noFill/>
        </p:spPr>
        <p:txBody>
          <a:bodyPr wrap="square" lIns="0" rIns="0" tIns="0" bIns="0">
            <a:spAutoFit/>
          </a:bodyPr>
          <a:lstStyle/>
          <a:p>
            <a:pPr>
              <a:spcAft>
                <a:spcPts val="500"/>
              </a:spcAft>
            </a:pPr>
            <a:r>
              <a:rPr sz="830" b="0">
                <a:solidFill>
                  <a:srgbClr val="14263D"/>
                </a:solidFill>
                <a:latin typeface="Helvetica Neue"/>
              </a:rPr>
              <a:t>Mastercard conoce los lugares caros. Diners puede conocer los buenos. Gastronomía de criterio, fuera del circuito de prestigio y del formato de festival.</a:t>
            </a:r>
          </a:p>
        </p:txBody>
      </p:sp>
      <p:sp>
        <p:nvSpPr>
          <p:cNvPr id="16" name="Rectangle 15"/>
          <p:cNvSpPr/>
          <p:nvPr/>
        </p:nvSpPr>
        <p:spPr>
          <a:xfrm>
            <a:off x="731520" y="5340096"/>
            <a:ext cx="6355080" cy="585216"/>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495544"/>
            <a:ext cx="6025896" cy="182880"/>
          </a:xfrm>
          <a:prstGeom prst="rect">
            <a:avLst/>
          </a:prstGeom>
          <a:noFill/>
        </p:spPr>
        <p:txBody>
          <a:bodyPr wrap="square" lIns="0" rIns="0" tIns="0" bIns="0">
            <a:spAutoFit/>
          </a:bodyPr>
          <a:lstStyle/>
          <a:p>
            <a:r>
              <a:rPr sz="700" b="1">
                <a:solidFill>
                  <a:srgbClr val="8A6B1F"/>
                </a:solidFill>
                <a:latin typeface="Helvetica Neue"/>
              </a:rPr>
              <a:t>POR QUÉ IMPORTA</a:t>
            </a:r>
          </a:p>
        </p:txBody>
      </p:sp>
      <p:sp>
        <p:nvSpPr>
          <p:cNvPr id="18" name="TextBox 17"/>
          <p:cNvSpPr txBox="1"/>
          <p:nvPr/>
        </p:nvSpPr>
        <p:spPr>
          <a:xfrm>
            <a:off x="896112" y="5724144"/>
            <a:ext cx="6025896" cy="54864"/>
          </a:xfrm>
          <a:prstGeom prst="rect">
            <a:avLst/>
          </a:prstGeom>
          <a:noFill/>
        </p:spPr>
        <p:txBody>
          <a:bodyPr wrap="square" lIns="0" rIns="0" tIns="0" bIns="0">
            <a:spAutoFit/>
          </a:bodyPr>
          <a:lstStyle/>
          <a:p>
            <a:pPr>
              <a:spcAft>
                <a:spcPts val="500"/>
              </a:spcAft>
            </a:pPr>
            <a:r>
              <a:rPr sz="830" b="0">
                <a:solidFill>
                  <a:srgbClr val="14263D"/>
                </a:solidFill>
                <a:latin typeface="Helvetica Neue"/>
              </a:rPr>
              <a:t>Para una tarjeta que necesita salir de la billetera con frecuencia, la rutina vale más que el momento.</a:t>
            </a:r>
          </a:p>
        </p:txBody>
      </p:sp>
      <p:sp>
        <p:nvSpPr>
          <p:cNvPr id="19" name="TextBox 18"/>
          <p:cNvSpPr txBox="1"/>
          <p:nvPr/>
        </p:nvSpPr>
        <p:spPr>
          <a:xfrm>
            <a:off x="731520" y="6327648"/>
            <a:ext cx="8229600" cy="219456"/>
          </a:xfrm>
          <a:prstGeom prst="rect">
            <a:avLst/>
          </a:prstGeom>
          <a:noFill/>
        </p:spPr>
        <p:txBody>
          <a:bodyPr wrap="square" lIns="0" rIns="0" tIns="0" bIns="0">
            <a:spAutoFit/>
          </a:bodyPr>
          <a:lstStyle/>
          <a:p>
            <a:r>
              <a:rPr sz="700" b="0">
                <a:solidFill>
                  <a:srgbClr val="75808F"/>
                </a:solidFill>
                <a:latin typeface="Helvetica Neue"/>
              </a:rPr>
              <a:t>FUENTES: COMUNICADOS DE PRENSA DE LAS MARCAS Y RELEVAMIENTO DE ACTIVACIONES EN BOGOTÁ</a:t>
            </a:r>
          </a:p>
        </p:txBody>
      </p:sp>
      <p:sp>
        <p:nvSpPr>
          <p:cNvPr id="20" name="TextBox 19"/>
          <p:cNvSpPr txBox="1"/>
          <p:nvPr/>
        </p:nvSpPr>
        <p:spPr>
          <a:xfrm>
            <a:off x="10454335" y="6327648"/>
            <a:ext cx="1005840" cy="219456"/>
          </a:xfrm>
          <a:prstGeom prst="rect">
            <a:avLst/>
          </a:prstGeom>
          <a:noFill/>
        </p:spPr>
        <p:txBody>
          <a:bodyPr wrap="square" lIns="0" rIns="0" tIns="0" bIns="0">
            <a:spAutoFit/>
          </a:bodyPr>
          <a:lstStyle/>
          <a:p>
            <a:r>
              <a:rPr sz="800" b="1">
                <a:solidFill>
                  <a:srgbClr val="8A6B1F"/>
                </a:solidFill>
                <a:latin typeface="Helvetica Neue"/>
              </a:rPr>
              <a:t>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oblema.jpg"/>
          <p:cNvPicPr>
            <a:picLocks noChangeAspect="1"/>
          </p:cNvPicPr>
          <p:nvPr/>
        </p:nvPicPr>
        <p:blipFill>
          <a:blip r:embed="rId2"/>
          <a:stretch>
            <a:fillRect/>
          </a:stretch>
        </p:blipFill>
        <p:spPr>
          <a:xfrm>
            <a:off x="8183879" y="0"/>
            <a:ext cx="4005072" cy="6858000"/>
          </a:xfrm>
          <a:prstGeom prst="rect">
            <a:avLst/>
          </a:prstGeom>
        </p:spPr>
      </p:pic>
      <p:sp>
        <p:nvSpPr>
          <p:cNvPr id="4" name="Rectangle 3"/>
          <p:cNvSpPr/>
          <p:nvPr/>
        </p:nvSpPr>
        <p:spPr>
          <a:xfrm>
            <a:off x="8183879" y="0"/>
            <a:ext cx="4005072" cy="6858000"/>
          </a:xfrm>
          <a:prstGeom prst="rect">
            <a:avLst/>
          </a:prstGeom>
          <a:solidFill>
            <a:srgbClr val="0A2540">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39911" y="5532120"/>
            <a:ext cx="3493008" cy="914400"/>
          </a:xfrm>
          <a:prstGeom prst="rect">
            <a:avLst/>
          </a:prstGeom>
          <a:noFill/>
        </p:spPr>
        <p:txBody>
          <a:bodyPr wrap="square" lIns="0" rIns="0" tIns="0" bIns="0" anchor="b">
            <a:spAutoFit/>
          </a:bodyPr>
          <a:lstStyle/>
          <a:p>
            <a:pPr algn="l">
              <a:lnSpc>
                <a:spcPct val="115000"/>
              </a:lnSpc>
              <a:spcAft>
                <a:spcPts val="0"/>
              </a:spcAft>
            </a:pPr>
            <a:r>
              <a:rPr sz="1800" b="0">
                <a:solidFill>
                  <a:srgbClr val="FFFFFF"/>
                </a:solidFill>
                <a:latin typeface="Georgia"/>
              </a:rPr>
              <a:t>La barrera de aceptación
se resuelve en la puerta,
no en la campaña</a:t>
            </a:r>
          </a:p>
        </p:txBody>
      </p:sp>
      <p:sp>
        <p:nvSpPr>
          <p:cNvPr id="6" name="TextBox 5"/>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LA PIEZA QUE RESUELVE LA ACEPTACIÓN</a:t>
            </a:r>
          </a:p>
        </p:txBody>
      </p:sp>
      <p:sp>
        <p:nvSpPr>
          <p:cNvPr id="7" name="TextBox 6"/>
          <p:cNvSpPr txBox="1"/>
          <p:nvPr/>
        </p:nvSpPr>
        <p:spPr>
          <a:xfrm>
            <a:off x="731520" y="932688"/>
            <a:ext cx="685800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Un sello en la vitrina</a:t>
            </a:r>
          </a:p>
        </p:txBody>
      </p:sp>
      <p:sp>
        <p:nvSpPr>
          <p:cNvPr id="8" name="Rectangle 7"/>
          <p:cNvSpPr/>
          <p:nvPr/>
        </p:nvSpPr>
        <p:spPr>
          <a:xfrm>
            <a:off x="731520" y="1737360"/>
            <a:ext cx="6766560"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83664"/>
            <a:ext cx="676656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Material de punto de venta en la entrada de cada aliado verificado, siguiendo el formato que la franquicia ya usa en la región. Es la pieza de menor costo unitario del plan y la de mayor rendimiento.</a:t>
            </a:r>
          </a:p>
        </p:txBody>
      </p:sp>
      <p:sp>
        <p:nvSpPr>
          <p:cNvPr id="10" name="Rectangle 9"/>
          <p:cNvSpPr/>
          <p:nvPr/>
        </p:nvSpPr>
        <p:spPr>
          <a:xfrm>
            <a:off x="731520" y="2697480"/>
            <a:ext cx="3291840" cy="150876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852928"/>
            <a:ext cx="296265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RESUELVE 1</a:t>
            </a:r>
          </a:p>
        </p:txBody>
      </p:sp>
      <p:sp>
        <p:nvSpPr>
          <p:cNvPr id="12" name="TextBox 11"/>
          <p:cNvSpPr txBox="1"/>
          <p:nvPr/>
        </p:nvSpPr>
        <p:spPr>
          <a:xfrm>
            <a:off x="896112" y="3063240"/>
            <a:ext cx="296265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Señala dónde sí funciona</a:t>
            </a:r>
          </a:p>
        </p:txBody>
      </p:sp>
      <p:sp>
        <p:nvSpPr>
          <p:cNvPr id="13" name="TextBox 12"/>
          <p:cNvSpPr txBox="1"/>
          <p:nvPr/>
        </p:nvSpPr>
        <p:spPr>
          <a:xfrm>
            <a:off x="896112" y="3419856"/>
            <a:ext cx="2962656" cy="658367"/>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Es la respuesta física a la barrera que el tracker identifica como riesgo de retención.</a:t>
            </a:r>
          </a:p>
        </p:txBody>
      </p:sp>
      <p:sp>
        <p:nvSpPr>
          <p:cNvPr id="14" name="Rectangle 13"/>
          <p:cNvSpPr/>
          <p:nvPr/>
        </p:nvSpPr>
        <p:spPr>
          <a:xfrm>
            <a:off x="4206240" y="2697480"/>
            <a:ext cx="3291840" cy="150876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0831" y="2852928"/>
            <a:ext cx="296265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RESUELVE 2</a:t>
            </a:r>
          </a:p>
        </p:txBody>
      </p:sp>
      <p:sp>
        <p:nvSpPr>
          <p:cNvPr id="16" name="TextBox 15"/>
          <p:cNvSpPr txBox="1"/>
          <p:nvPr/>
        </p:nvSpPr>
        <p:spPr>
          <a:xfrm>
            <a:off x="4370831" y="3063240"/>
            <a:ext cx="296265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Convierte la selección en estatus</a:t>
            </a:r>
          </a:p>
        </p:txBody>
      </p:sp>
      <p:sp>
        <p:nvSpPr>
          <p:cNvPr id="17" name="TextBox 16"/>
          <p:cNvSpPr txBox="1"/>
          <p:nvPr/>
        </p:nvSpPr>
        <p:spPr>
          <a:xfrm>
            <a:off x="4370831" y="3593592"/>
            <a:ext cx="2962656" cy="484631"/>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Estar en la lista prestigia al restaurante. No es publicidad que tolera: es reconocimiento que exhibe.</a:t>
            </a:r>
          </a:p>
        </p:txBody>
      </p:sp>
      <p:sp>
        <p:nvSpPr>
          <p:cNvPr id="18" name="Rectangle 17"/>
          <p:cNvSpPr/>
          <p:nvPr/>
        </p:nvSpPr>
        <p:spPr>
          <a:xfrm>
            <a:off x="731520" y="4325112"/>
            <a:ext cx="3291840" cy="150876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480560"/>
            <a:ext cx="2962656"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RESUELVE 3</a:t>
            </a:r>
          </a:p>
        </p:txBody>
      </p:sp>
      <p:sp>
        <p:nvSpPr>
          <p:cNvPr id="20" name="TextBox 19"/>
          <p:cNvSpPr txBox="1"/>
          <p:nvPr/>
        </p:nvSpPr>
        <p:spPr>
          <a:xfrm>
            <a:off x="896112" y="4690872"/>
            <a:ext cx="296265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Sostiene la economía de la red</a:t>
            </a:r>
          </a:p>
        </p:txBody>
      </p:sp>
      <p:sp>
        <p:nvSpPr>
          <p:cNvPr id="21" name="TextBox 20"/>
          <p:cNvSpPr txBox="1"/>
          <p:nvPr/>
        </p:nvSpPr>
        <p:spPr>
          <a:xfrm>
            <a:off x="896112" y="5221224"/>
            <a:ext cx="2962656" cy="484631"/>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Es el argumento para que el aliado entre y pague su visibilidad.</a:t>
            </a:r>
          </a:p>
        </p:txBody>
      </p:sp>
      <p:sp>
        <p:nvSpPr>
          <p:cNvPr id="22" name="Rectangle 21"/>
          <p:cNvSpPr/>
          <p:nvPr/>
        </p:nvSpPr>
        <p:spPr>
          <a:xfrm>
            <a:off x="4206240" y="4325112"/>
            <a:ext cx="3291840" cy="150876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0831" y="4480560"/>
            <a:ext cx="2962656"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RESUELVE 4</a:t>
            </a:r>
          </a:p>
        </p:txBody>
      </p:sp>
      <p:sp>
        <p:nvSpPr>
          <p:cNvPr id="24" name="TextBox 23"/>
          <p:cNvSpPr txBox="1"/>
          <p:nvPr/>
        </p:nvSpPr>
        <p:spPr>
          <a:xfrm>
            <a:off x="4370831" y="4690872"/>
            <a:ext cx="296265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40 vitrinas sin costo de pauta</a:t>
            </a:r>
          </a:p>
        </p:txBody>
      </p:sp>
      <p:sp>
        <p:nvSpPr>
          <p:cNvPr id="25" name="TextBox 24"/>
          <p:cNvSpPr txBox="1"/>
          <p:nvPr/>
        </p:nvSpPr>
        <p:spPr>
          <a:xfrm>
            <a:off x="4370831" y="5221224"/>
            <a:ext cx="2962656" cy="484631"/>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En las mejores zonas de Bogotá. Con código al catálogo digital y, desde 2027, a la app.</a:t>
            </a:r>
          </a:p>
        </p:txBody>
      </p:sp>
      <p:sp>
        <p:nvSpPr>
          <p:cNvPr id="26" name="TextBox 25"/>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MAPEA SOBRE DINING MERCHANT ACCEPTANCE PUSH</a:t>
            </a:r>
          </a:p>
        </p:txBody>
      </p:sp>
      <p:sp>
        <p:nvSpPr>
          <p:cNvPr id="27" name="TextBox 26"/>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CÓMO CIERRA EL CICLO</a:t>
            </a:r>
          </a:p>
        </p:txBody>
      </p:sp>
      <p:sp>
        <p:nvSpPr>
          <p:cNvPr id="4" name="TextBox 3"/>
          <p:cNvSpPr txBox="1"/>
          <p:nvPr/>
        </p:nvSpPr>
        <p:spPr>
          <a:xfrm>
            <a:off x="731520" y="932688"/>
            <a:ext cx="786384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De la revista al dato, y del dato a la app</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83664"/>
            <a:ext cx="1042416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Cada pieza del plan alimenta la siguiente. El año uno construye la base de datos propia que el ecosistema digital de la franquicia podrá explotar desde 2027.</a:t>
            </a:r>
          </a:p>
        </p:txBody>
      </p:sp>
      <p:sp>
        <p:nvSpPr>
          <p:cNvPr id="7" name="Rectangle 6"/>
          <p:cNvSpPr/>
          <p:nvPr/>
        </p:nvSpPr>
        <p:spPr>
          <a:xfrm>
            <a:off x="731520" y="2606040"/>
            <a:ext cx="2542032" cy="237744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761488"/>
            <a:ext cx="2212848" cy="292608"/>
          </a:xfrm>
          <a:prstGeom prst="rect">
            <a:avLst/>
          </a:prstGeom>
          <a:noFill/>
        </p:spPr>
        <p:txBody>
          <a:bodyPr wrap="square" lIns="0" rIns="0" tIns="0" bIns="0" anchor="t">
            <a:spAutoFit/>
          </a:bodyPr>
          <a:lstStyle/>
          <a:p>
            <a:pPr algn="l">
              <a:lnSpc>
                <a:spcPct val="108000"/>
              </a:lnSpc>
              <a:spcAft>
                <a:spcPts val="0"/>
              </a:spcAft>
            </a:pPr>
            <a:r>
              <a:rPr sz="1600" b="1">
                <a:solidFill>
                  <a:srgbClr val="8A6B1F"/>
                </a:solidFill>
                <a:latin typeface="Helvetica Neue"/>
              </a:rPr>
              <a:t>01</a:t>
            </a:r>
          </a:p>
        </p:txBody>
      </p:sp>
      <p:sp>
        <p:nvSpPr>
          <p:cNvPr id="9" name="TextBox 8"/>
          <p:cNvSpPr txBox="1"/>
          <p:nvPr/>
        </p:nvSpPr>
        <p:spPr>
          <a:xfrm>
            <a:off x="896112" y="3108960"/>
            <a:ext cx="2212848"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ALCANCE</a:t>
            </a:r>
          </a:p>
        </p:txBody>
      </p:sp>
      <p:sp>
        <p:nvSpPr>
          <p:cNvPr id="10" name="TextBox 9"/>
          <p:cNvSpPr txBox="1"/>
          <p:nvPr/>
        </p:nvSpPr>
        <p:spPr>
          <a:xfrm>
            <a:off x="896112" y="3319272"/>
            <a:ext cx="2212848" cy="457200"/>
          </a:xfrm>
          <a:prstGeom prst="rect">
            <a:avLst/>
          </a:prstGeom>
          <a:noFill/>
        </p:spPr>
        <p:txBody>
          <a:bodyPr wrap="square" lIns="0" rIns="0" tIns="0" bIns="0" anchor="t">
            <a:spAutoFit/>
          </a:bodyPr>
          <a:lstStyle/>
          <a:p>
            <a:pPr algn="l">
              <a:lnSpc>
                <a:spcPct val="106000"/>
              </a:lnSpc>
              <a:spcAft>
                <a:spcPts val="0"/>
              </a:spcAft>
            </a:pPr>
            <a:r>
              <a:rPr sz="1100" b="1">
                <a:solidFill>
                  <a:srgbClr val="0A2540"/>
                </a:solidFill>
                <a:latin typeface="Georgia"/>
              </a:rPr>
              <a:t>La revista entra al hogar</a:t>
            </a:r>
          </a:p>
        </p:txBody>
      </p:sp>
      <p:sp>
        <p:nvSpPr>
          <p:cNvPr id="11" name="TextBox 10"/>
          <p:cNvSpPr txBox="1"/>
          <p:nvPr/>
        </p:nvSpPr>
        <p:spPr>
          <a:xfrm>
            <a:off x="896112" y="3849624"/>
            <a:ext cx="2212848" cy="1005840"/>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Doce veces al año, a 146.000 hogares del perfil premium. Clubmembers y prospectos.</a:t>
            </a:r>
          </a:p>
        </p:txBody>
      </p:sp>
      <p:sp>
        <p:nvSpPr>
          <p:cNvPr id="12" name="Rectangle 11"/>
          <p:cNvSpPr/>
          <p:nvPr/>
        </p:nvSpPr>
        <p:spPr>
          <a:xfrm>
            <a:off x="3456432" y="2606040"/>
            <a:ext cx="2542032" cy="237744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4" y="2761488"/>
            <a:ext cx="2212848" cy="292608"/>
          </a:xfrm>
          <a:prstGeom prst="rect">
            <a:avLst/>
          </a:prstGeom>
          <a:noFill/>
        </p:spPr>
        <p:txBody>
          <a:bodyPr wrap="square" lIns="0" rIns="0" tIns="0" bIns="0" anchor="t">
            <a:spAutoFit/>
          </a:bodyPr>
          <a:lstStyle/>
          <a:p>
            <a:pPr algn="l">
              <a:lnSpc>
                <a:spcPct val="108000"/>
              </a:lnSpc>
              <a:spcAft>
                <a:spcPts val="0"/>
              </a:spcAft>
            </a:pPr>
            <a:r>
              <a:rPr sz="1600" b="1">
                <a:solidFill>
                  <a:srgbClr val="8A6B1F"/>
                </a:solidFill>
                <a:latin typeface="Helvetica Neue"/>
              </a:rPr>
              <a:t>02</a:t>
            </a:r>
          </a:p>
        </p:txBody>
      </p:sp>
      <p:sp>
        <p:nvSpPr>
          <p:cNvPr id="14" name="TextBox 13"/>
          <p:cNvSpPr txBox="1"/>
          <p:nvPr/>
        </p:nvSpPr>
        <p:spPr>
          <a:xfrm>
            <a:off x="3621024" y="3108960"/>
            <a:ext cx="2212848"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CAPTURA</a:t>
            </a:r>
          </a:p>
        </p:txBody>
      </p:sp>
      <p:sp>
        <p:nvSpPr>
          <p:cNvPr id="15" name="TextBox 14"/>
          <p:cNvSpPr txBox="1"/>
          <p:nvPr/>
        </p:nvSpPr>
        <p:spPr>
          <a:xfrm>
            <a:off x="3621024" y="3319272"/>
            <a:ext cx="2212848" cy="457200"/>
          </a:xfrm>
          <a:prstGeom prst="rect">
            <a:avLst/>
          </a:prstGeom>
          <a:noFill/>
        </p:spPr>
        <p:txBody>
          <a:bodyPr wrap="square" lIns="0" rIns="0" tIns="0" bIns="0" anchor="t">
            <a:spAutoFit/>
          </a:bodyPr>
          <a:lstStyle/>
          <a:p>
            <a:pPr algn="l">
              <a:lnSpc>
                <a:spcPct val="106000"/>
              </a:lnSpc>
              <a:spcAft>
                <a:spcPts val="0"/>
              </a:spcAft>
            </a:pPr>
            <a:r>
              <a:rPr sz="1100" b="1">
                <a:solidFill>
                  <a:srgbClr val="0A2540"/>
                </a:solidFill>
                <a:latin typeface="Georgia"/>
              </a:rPr>
              <a:t>Código de activación</a:t>
            </a:r>
          </a:p>
        </p:txBody>
      </p:sp>
      <p:sp>
        <p:nvSpPr>
          <p:cNvPr id="16" name="TextBox 15"/>
          <p:cNvSpPr txBox="1"/>
          <p:nvPr/>
        </p:nvSpPr>
        <p:spPr>
          <a:xfrm>
            <a:off x="3621024" y="3849624"/>
            <a:ext cx="2212848" cy="1005840"/>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Cada ejemplar lleva un código único. Convierte alcance anónimo en registro rastreable.</a:t>
            </a:r>
          </a:p>
        </p:txBody>
      </p:sp>
      <p:sp>
        <p:nvSpPr>
          <p:cNvPr id="17" name="Rectangle 16"/>
          <p:cNvSpPr/>
          <p:nvPr/>
        </p:nvSpPr>
        <p:spPr>
          <a:xfrm>
            <a:off x="6181344" y="2606040"/>
            <a:ext cx="2542032" cy="237744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2761488"/>
            <a:ext cx="2212848" cy="292608"/>
          </a:xfrm>
          <a:prstGeom prst="rect">
            <a:avLst/>
          </a:prstGeom>
          <a:noFill/>
        </p:spPr>
        <p:txBody>
          <a:bodyPr wrap="square" lIns="0" rIns="0" tIns="0" bIns="0" anchor="t">
            <a:spAutoFit/>
          </a:bodyPr>
          <a:lstStyle/>
          <a:p>
            <a:pPr algn="l">
              <a:lnSpc>
                <a:spcPct val="108000"/>
              </a:lnSpc>
              <a:spcAft>
                <a:spcPts val="0"/>
              </a:spcAft>
            </a:pPr>
            <a:r>
              <a:rPr sz="1600" b="1">
                <a:solidFill>
                  <a:srgbClr val="8A6B1F"/>
                </a:solidFill>
                <a:latin typeface="Helvetica Neue"/>
              </a:rPr>
              <a:t>03</a:t>
            </a:r>
          </a:p>
        </p:txBody>
      </p:sp>
      <p:sp>
        <p:nvSpPr>
          <p:cNvPr id="19" name="TextBox 18"/>
          <p:cNvSpPr txBox="1"/>
          <p:nvPr/>
        </p:nvSpPr>
        <p:spPr>
          <a:xfrm>
            <a:off x="6345936" y="3108960"/>
            <a:ext cx="2212848"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USO</a:t>
            </a:r>
          </a:p>
        </p:txBody>
      </p:sp>
      <p:sp>
        <p:nvSpPr>
          <p:cNvPr id="20" name="TextBox 19"/>
          <p:cNvSpPr txBox="1"/>
          <p:nvPr/>
        </p:nvSpPr>
        <p:spPr>
          <a:xfrm>
            <a:off x="6345936" y="3319272"/>
            <a:ext cx="2212848" cy="457200"/>
          </a:xfrm>
          <a:prstGeom prst="rect">
            <a:avLst/>
          </a:prstGeom>
          <a:noFill/>
        </p:spPr>
        <p:txBody>
          <a:bodyPr wrap="square" lIns="0" rIns="0" tIns="0" bIns="0" anchor="t">
            <a:spAutoFit/>
          </a:bodyPr>
          <a:lstStyle/>
          <a:p>
            <a:pPr algn="l">
              <a:lnSpc>
                <a:spcPct val="106000"/>
              </a:lnSpc>
              <a:spcAft>
                <a:spcPts val="0"/>
              </a:spcAft>
            </a:pPr>
            <a:r>
              <a:rPr sz="1100" b="1">
                <a:solidFill>
                  <a:srgbClr val="0A2540"/>
                </a:solidFill>
                <a:latin typeface="Georgia"/>
              </a:rPr>
              <a:t>Redención verificada</a:t>
            </a:r>
          </a:p>
        </p:txBody>
      </p:sp>
      <p:sp>
        <p:nvSpPr>
          <p:cNvPr id="21" name="TextBox 20"/>
          <p:cNvSpPr txBox="1"/>
          <p:nvPr/>
        </p:nvSpPr>
        <p:spPr>
          <a:xfrm>
            <a:off x="6345936" y="3849624"/>
            <a:ext cx="2212848" cy="1005840"/>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Se redime en aliados con aceptación confirmada. Genera dato de categoría, zona y frecuencia.</a:t>
            </a:r>
          </a:p>
        </p:txBody>
      </p:sp>
      <p:sp>
        <p:nvSpPr>
          <p:cNvPr id="22" name="Rectangle 21"/>
          <p:cNvSpPr/>
          <p:nvPr/>
        </p:nvSpPr>
        <p:spPr>
          <a:xfrm>
            <a:off x="8906256" y="2606040"/>
            <a:ext cx="2542032" cy="237744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70848" y="2761488"/>
            <a:ext cx="2212848" cy="292608"/>
          </a:xfrm>
          <a:prstGeom prst="rect">
            <a:avLst/>
          </a:prstGeom>
          <a:noFill/>
        </p:spPr>
        <p:txBody>
          <a:bodyPr wrap="square" lIns="0" rIns="0" tIns="0" bIns="0" anchor="t">
            <a:spAutoFit/>
          </a:bodyPr>
          <a:lstStyle/>
          <a:p>
            <a:pPr algn="l">
              <a:lnSpc>
                <a:spcPct val="108000"/>
              </a:lnSpc>
              <a:spcAft>
                <a:spcPts val="0"/>
              </a:spcAft>
            </a:pPr>
            <a:r>
              <a:rPr sz="1600" b="1">
                <a:solidFill>
                  <a:srgbClr val="8A6B1F"/>
                </a:solidFill>
                <a:latin typeface="Helvetica Neue"/>
              </a:rPr>
              <a:t>04</a:t>
            </a:r>
          </a:p>
        </p:txBody>
      </p:sp>
      <p:sp>
        <p:nvSpPr>
          <p:cNvPr id="24" name="TextBox 23"/>
          <p:cNvSpPr txBox="1"/>
          <p:nvPr/>
        </p:nvSpPr>
        <p:spPr>
          <a:xfrm>
            <a:off x="9070848" y="3108960"/>
            <a:ext cx="2212848"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ESCALA · DESDE 2027</a:t>
            </a:r>
          </a:p>
        </p:txBody>
      </p:sp>
      <p:sp>
        <p:nvSpPr>
          <p:cNvPr id="25" name="TextBox 24"/>
          <p:cNvSpPr txBox="1"/>
          <p:nvPr/>
        </p:nvSpPr>
        <p:spPr>
          <a:xfrm>
            <a:off x="9070848" y="3319272"/>
            <a:ext cx="2212848" cy="457200"/>
          </a:xfrm>
          <a:prstGeom prst="rect">
            <a:avLst/>
          </a:prstGeom>
          <a:noFill/>
        </p:spPr>
        <p:txBody>
          <a:bodyPr wrap="square" lIns="0" rIns="0" tIns="0" bIns="0" anchor="t">
            <a:spAutoFit/>
          </a:bodyPr>
          <a:lstStyle/>
          <a:p>
            <a:pPr algn="l">
              <a:lnSpc>
                <a:spcPct val="106000"/>
              </a:lnSpc>
              <a:spcAft>
                <a:spcPts val="0"/>
              </a:spcAft>
            </a:pPr>
            <a:r>
              <a:rPr sz="1100" b="1">
                <a:solidFill>
                  <a:srgbClr val="0A2540"/>
                </a:solidFill>
                <a:latin typeface="Georgia"/>
              </a:rPr>
              <a:t>La app carga la selección</a:t>
            </a:r>
          </a:p>
        </p:txBody>
      </p:sp>
      <p:sp>
        <p:nvSpPr>
          <p:cNvPr id="26" name="TextBox 25"/>
          <p:cNvSpPr txBox="1"/>
          <p:nvPr/>
        </p:nvSpPr>
        <p:spPr>
          <a:xfrm>
            <a:off x="9070848" y="3849624"/>
            <a:ext cx="2212848" cy="1005840"/>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El hub habilita que el emisor cargue ofertas locales por ubicación. La lista verificada es ese contenido.</a:t>
            </a:r>
          </a:p>
        </p:txBody>
      </p:sp>
      <p:sp>
        <p:nvSpPr>
          <p:cNvPr id="27" name="Rectangle 26"/>
          <p:cNvSpPr/>
          <p:nvPr/>
        </p:nvSpPr>
        <p:spPr>
          <a:xfrm>
            <a:off x="731520" y="5166360"/>
            <a:ext cx="10725912" cy="82296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321808"/>
            <a:ext cx="10396728"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POR QUÉ IMPORTA EL ORDEN</a:t>
            </a:r>
          </a:p>
        </p:txBody>
      </p:sp>
      <p:sp>
        <p:nvSpPr>
          <p:cNvPr id="29" name="TextBox 28"/>
          <p:cNvSpPr txBox="1"/>
          <p:nvPr/>
        </p:nvSpPr>
        <p:spPr>
          <a:xfrm>
            <a:off x="896112" y="5532120"/>
            <a:ext cx="10396728" cy="329183"/>
          </a:xfrm>
          <a:prstGeom prst="rect">
            <a:avLst/>
          </a:prstGeom>
          <a:noFill/>
        </p:spPr>
        <p:txBody>
          <a:bodyPr wrap="square" lIns="0" rIns="0" tIns="0" bIns="0" anchor="t">
            <a:spAutoFit/>
          </a:bodyPr>
          <a:lstStyle/>
          <a:p>
            <a:pPr algn="l">
              <a:lnSpc>
                <a:spcPct val="126000"/>
              </a:lnSpc>
              <a:spcAft>
                <a:spcPts val="0"/>
              </a:spcAft>
            </a:pPr>
            <a:r>
              <a:rPr sz="919" b="0">
                <a:solidFill>
                  <a:srgbClr val="D8DDE4"/>
                </a:solidFill>
                <a:latin typeface="Helvetica Neue"/>
              </a:rPr>
              <a:t>La app necesita contenido curado y aliados verificados para ser útil el día que se encienda. El año uno produce las dos cosas. Sin esa base, la funcionalidad llega vacía.</a:t>
            </a:r>
          </a:p>
        </p:txBody>
      </p:sp>
      <p:sp>
        <p:nvSpPr>
          <p:cNvPr id="30" name="TextBox 29"/>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ALINEADO CON EL CHS BENEFITS HUB</a:t>
            </a:r>
          </a:p>
        </p:txBody>
      </p:sp>
      <p:sp>
        <p:nvSpPr>
          <p:cNvPr id="31" name="TextBox 30"/>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EFICIENCIA DEL MODELO</a:t>
            </a:r>
          </a:p>
        </p:txBody>
      </p:sp>
      <p:sp>
        <p:nvSpPr>
          <p:cNvPr id="4" name="TextBox 3"/>
          <p:cNvSpPr txBox="1"/>
          <p:nvPr/>
        </p:nvSpPr>
        <p:spPr>
          <a:xfrm>
            <a:off x="731520" y="932688"/>
            <a:ext cx="786384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Multiplicadores de la inversión</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83664"/>
            <a:ext cx="1042416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Seis mecanismos que hacen que una misma inversión produzca resultado en más de un frente. Están incorporados en las tres opciones.</a:t>
            </a:r>
          </a:p>
        </p:txBody>
      </p:sp>
      <p:sp>
        <p:nvSpPr>
          <p:cNvPr id="7" name="Rectangle 6"/>
          <p:cNvSpPr/>
          <p:nvPr/>
        </p:nvSpPr>
        <p:spPr>
          <a:xfrm>
            <a:off x="731520" y="2542032"/>
            <a:ext cx="3474720" cy="1627632"/>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697479"/>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D2A855"/>
                </a:solidFill>
                <a:latin typeface="Helvetica Neue"/>
              </a:rPr>
              <a:t>01</a:t>
            </a:r>
          </a:p>
        </p:txBody>
      </p:sp>
      <p:sp>
        <p:nvSpPr>
          <p:cNvPr id="9" name="TextBox 8"/>
          <p:cNvSpPr txBox="1"/>
          <p:nvPr/>
        </p:nvSpPr>
        <p:spPr>
          <a:xfrm>
            <a:off x="896112" y="3044951"/>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RENDIMIENTO POR PIEZA</a:t>
            </a:r>
          </a:p>
        </p:txBody>
      </p:sp>
      <p:sp>
        <p:nvSpPr>
          <p:cNvPr id="10" name="TextBox 9"/>
          <p:cNvSpPr txBox="1"/>
          <p:nvPr/>
        </p:nvSpPr>
        <p:spPr>
          <a:xfrm>
            <a:off x="896112" y="3255263"/>
            <a:ext cx="3145536" cy="457200"/>
          </a:xfrm>
          <a:prstGeom prst="rect">
            <a:avLst/>
          </a:prstGeom>
          <a:noFill/>
        </p:spPr>
        <p:txBody>
          <a:bodyPr wrap="square" lIns="0" rIns="0" tIns="0" bIns="0" anchor="t">
            <a:spAutoFit/>
          </a:bodyPr>
          <a:lstStyle/>
          <a:p>
            <a:pPr algn="l">
              <a:lnSpc>
                <a:spcPct val="106000"/>
              </a:lnSpc>
              <a:spcAft>
                <a:spcPts val="0"/>
              </a:spcAft>
            </a:pPr>
            <a:r>
              <a:rPr sz="1150" b="1">
                <a:solidFill>
                  <a:srgbClr val="FFFFFF"/>
                </a:solidFill>
                <a:latin typeface="Georgia"/>
              </a:rPr>
              <a:t>Una experiencia, cinco salidas</a:t>
            </a:r>
          </a:p>
        </p:txBody>
      </p:sp>
      <p:sp>
        <p:nvSpPr>
          <p:cNvPr id="11" name="TextBox 10"/>
          <p:cNvSpPr txBox="1"/>
          <p:nvPr/>
        </p:nvSpPr>
        <p:spPr>
          <a:xfrm>
            <a:off x="896112" y="3785615"/>
            <a:ext cx="3145536" cy="256032"/>
          </a:xfrm>
          <a:prstGeom prst="rect">
            <a:avLst/>
          </a:prstGeom>
          <a:noFill/>
        </p:spPr>
        <p:txBody>
          <a:bodyPr wrap="square" lIns="0" rIns="0" tIns="0" bIns="0" anchor="t">
            <a:spAutoFit/>
          </a:bodyPr>
          <a:lstStyle/>
          <a:p>
            <a:pPr algn="l">
              <a:lnSpc>
                <a:spcPct val="126000"/>
              </a:lnSpc>
              <a:spcAft>
                <a:spcPts val="0"/>
              </a:spcAft>
            </a:pPr>
            <a:r>
              <a:rPr sz="830" b="0">
                <a:solidFill>
                  <a:srgbClr val="D8DDE4"/>
                </a:solidFill>
                <a:latin typeface="Helvetica Neue"/>
              </a:rPr>
              <a:t>Un costo de producción, cinco superficies: evento, reel, artículo, La Mesa Diners y newsletter.</a:t>
            </a:r>
          </a:p>
        </p:txBody>
      </p:sp>
      <p:sp>
        <p:nvSpPr>
          <p:cNvPr id="12" name="Rectangle 11"/>
          <p:cNvSpPr/>
          <p:nvPr/>
        </p:nvSpPr>
        <p:spPr>
          <a:xfrm>
            <a:off x="4389120" y="2542032"/>
            <a:ext cx="3474720" cy="1627632"/>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697479"/>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D2A855"/>
                </a:solidFill>
                <a:latin typeface="Helvetica Neue"/>
              </a:rPr>
              <a:t>02</a:t>
            </a:r>
          </a:p>
        </p:txBody>
      </p:sp>
      <p:sp>
        <p:nvSpPr>
          <p:cNvPr id="14" name="TextBox 13"/>
          <p:cNvSpPr txBox="1"/>
          <p:nvPr/>
        </p:nvSpPr>
        <p:spPr>
          <a:xfrm>
            <a:off x="4553712" y="3044951"/>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TRASLADO DE COSTO</a:t>
            </a:r>
          </a:p>
        </p:txBody>
      </p:sp>
      <p:sp>
        <p:nvSpPr>
          <p:cNvPr id="15" name="TextBox 14"/>
          <p:cNvSpPr txBox="1"/>
          <p:nvPr/>
        </p:nvSpPr>
        <p:spPr>
          <a:xfrm>
            <a:off x="4553712" y="3255263"/>
            <a:ext cx="3145536" cy="457200"/>
          </a:xfrm>
          <a:prstGeom prst="rect">
            <a:avLst/>
          </a:prstGeom>
          <a:noFill/>
        </p:spPr>
        <p:txBody>
          <a:bodyPr wrap="square" lIns="0" rIns="0" tIns="0" bIns="0" anchor="t">
            <a:spAutoFit/>
          </a:bodyPr>
          <a:lstStyle/>
          <a:p>
            <a:pPr algn="l">
              <a:lnSpc>
                <a:spcPct val="106000"/>
              </a:lnSpc>
              <a:spcAft>
                <a:spcPts val="0"/>
              </a:spcAft>
            </a:pPr>
            <a:r>
              <a:rPr sz="1150" b="1">
                <a:solidFill>
                  <a:srgbClr val="FFFFFF"/>
                </a:solidFill>
                <a:latin typeface="Georgia"/>
              </a:rPr>
              <a:t>El aliado produce la experiencia</a:t>
            </a:r>
          </a:p>
        </p:txBody>
      </p:sp>
      <p:sp>
        <p:nvSpPr>
          <p:cNvPr id="16" name="TextBox 15"/>
          <p:cNvSpPr txBox="1"/>
          <p:nvPr/>
        </p:nvSpPr>
        <p:spPr>
          <a:xfrm>
            <a:off x="4553712" y="3785615"/>
            <a:ext cx="3145536" cy="256032"/>
          </a:xfrm>
          <a:prstGeom prst="rect">
            <a:avLst/>
          </a:prstGeom>
          <a:noFill/>
        </p:spPr>
        <p:txBody>
          <a:bodyPr wrap="square" lIns="0" rIns="0" tIns="0" bIns="0" anchor="t">
            <a:spAutoFit/>
          </a:bodyPr>
          <a:lstStyle/>
          <a:p>
            <a:pPr algn="l">
              <a:lnSpc>
                <a:spcPct val="126000"/>
              </a:lnSpc>
              <a:spcAft>
                <a:spcPts val="0"/>
              </a:spcAft>
            </a:pPr>
            <a:r>
              <a:rPr sz="830" b="0">
                <a:solidFill>
                  <a:srgbClr val="D8DDE4"/>
                </a:solidFill>
                <a:latin typeface="Helvetica Neue"/>
              </a:rPr>
              <a:t>Aporta cocina, espacio y equipo a cambio del cubrimiento. La línea de mayor costo baja a coordinación.</a:t>
            </a:r>
          </a:p>
        </p:txBody>
      </p:sp>
      <p:sp>
        <p:nvSpPr>
          <p:cNvPr id="17" name="Rectangle 16"/>
          <p:cNvSpPr/>
          <p:nvPr/>
        </p:nvSpPr>
        <p:spPr>
          <a:xfrm>
            <a:off x="8046720" y="2542032"/>
            <a:ext cx="3474720" cy="1627632"/>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2697479"/>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D2A855"/>
                </a:solidFill>
                <a:latin typeface="Helvetica Neue"/>
              </a:rPr>
              <a:t>03</a:t>
            </a:r>
          </a:p>
        </p:txBody>
      </p:sp>
      <p:sp>
        <p:nvSpPr>
          <p:cNvPr id="19" name="TextBox 18"/>
          <p:cNvSpPr txBox="1"/>
          <p:nvPr/>
        </p:nvSpPr>
        <p:spPr>
          <a:xfrm>
            <a:off x="8211312" y="3044951"/>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ACTIVO EXISTENTE</a:t>
            </a:r>
          </a:p>
        </p:txBody>
      </p:sp>
      <p:sp>
        <p:nvSpPr>
          <p:cNvPr id="20" name="TextBox 19"/>
          <p:cNvSpPr txBox="1"/>
          <p:nvPr/>
        </p:nvSpPr>
        <p:spPr>
          <a:xfrm>
            <a:off x="8211312" y="3255263"/>
            <a:ext cx="3145536" cy="457200"/>
          </a:xfrm>
          <a:prstGeom prst="rect">
            <a:avLst/>
          </a:prstGeom>
          <a:noFill/>
        </p:spPr>
        <p:txBody>
          <a:bodyPr wrap="square" lIns="0" rIns="0" tIns="0" bIns="0" anchor="t">
            <a:spAutoFit/>
          </a:bodyPr>
          <a:lstStyle/>
          <a:p>
            <a:pPr algn="l">
              <a:lnSpc>
                <a:spcPct val="106000"/>
              </a:lnSpc>
              <a:spcAft>
                <a:spcPts val="0"/>
              </a:spcAft>
            </a:pPr>
            <a:r>
              <a:rPr sz="1150" b="1">
                <a:solidFill>
                  <a:srgbClr val="FFFFFF"/>
                </a:solidFill>
                <a:latin typeface="Georgia"/>
              </a:rPr>
              <a:t>Sesenta años de archivo</a:t>
            </a:r>
          </a:p>
        </p:txBody>
      </p:sp>
      <p:sp>
        <p:nvSpPr>
          <p:cNvPr id="21" name="TextBox 20"/>
          <p:cNvSpPr txBox="1"/>
          <p:nvPr/>
        </p:nvSpPr>
        <p:spPr>
          <a:xfrm>
            <a:off x="8211312" y="3611879"/>
            <a:ext cx="3145536" cy="429768"/>
          </a:xfrm>
          <a:prstGeom prst="rect">
            <a:avLst/>
          </a:prstGeom>
          <a:noFill/>
        </p:spPr>
        <p:txBody>
          <a:bodyPr wrap="square" lIns="0" rIns="0" tIns="0" bIns="0" anchor="t">
            <a:spAutoFit/>
          </a:bodyPr>
          <a:lstStyle/>
          <a:p>
            <a:pPr algn="l">
              <a:lnSpc>
                <a:spcPct val="126000"/>
              </a:lnSpc>
              <a:spcAft>
                <a:spcPts val="0"/>
              </a:spcAft>
            </a:pPr>
            <a:r>
              <a:rPr sz="830" b="0">
                <a:solidFill>
                  <a:srgbClr val="D8DDE4"/>
                </a:solidFill>
                <a:latin typeface="Helvetica Neue"/>
              </a:rPr>
              <a:t>El archivo editorial y los datos del programa se vuelven publicación anual con potencial de prensa.</a:t>
            </a:r>
          </a:p>
        </p:txBody>
      </p:sp>
      <p:sp>
        <p:nvSpPr>
          <p:cNvPr id="22" name="Rectangle 21"/>
          <p:cNvSpPr/>
          <p:nvPr/>
        </p:nvSpPr>
        <p:spPr>
          <a:xfrm>
            <a:off x="731520" y="4279392"/>
            <a:ext cx="3474720" cy="1627632"/>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434840"/>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8A6B1F"/>
                </a:solidFill>
                <a:latin typeface="Helvetica Neue"/>
              </a:rPr>
              <a:t>04</a:t>
            </a:r>
          </a:p>
        </p:txBody>
      </p:sp>
      <p:sp>
        <p:nvSpPr>
          <p:cNvPr id="24" name="TextBox 23"/>
          <p:cNvSpPr txBox="1"/>
          <p:nvPr/>
        </p:nvSpPr>
        <p:spPr>
          <a:xfrm>
            <a:off x="896112" y="4782312"/>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RED COMO CANAL</a:t>
            </a:r>
          </a:p>
        </p:txBody>
      </p:sp>
      <p:sp>
        <p:nvSpPr>
          <p:cNvPr id="25" name="TextBox 24"/>
          <p:cNvSpPr txBox="1"/>
          <p:nvPr/>
        </p:nvSpPr>
        <p:spPr>
          <a:xfrm>
            <a:off x="896112" y="4992624"/>
            <a:ext cx="314553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40 cuentas publicando</a:t>
            </a:r>
          </a:p>
        </p:txBody>
      </p:sp>
      <p:sp>
        <p:nvSpPr>
          <p:cNvPr id="26" name="TextBox 25"/>
          <p:cNvSpPr txBox="1"/>
          <p:nvPr/>
        </p:nvSpPr>
        <p:spPr>
          <a:xfrm>
            <a:off x="896112" y="5349240"/>
            <a:ext cx="3145536" cy="429768"/>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Cada aliado promueve el beneficio porque le genera tráfico de alto ticket. Sin inversión en medios.</a:t>
            </a:r>
          </a:p>
        </p:txBody>
      </p:sp>
      <p:sp>
        <p:nvSpPr>
          <p:cNvPr id="27" name="Rectangle 26"/>
          <p:cNvSpPr/>
          <p:nvPr/>
        </p:nvSpPr>
        <p:spPr>
          <a:xfrm>
            <a:off x="4389120" y="4279392"/>
            <a:ext cx="3474720" cy="1627632"/>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4434840"/>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8A6B1F"/>
                </a:solidFill>
                <a:latin typeface="Helvetica Neue"/>
              </a:rPr>
              <a:t>05</a:t>
            </a:r>
          </a:p>
        </p:txBody>
      </p:sp>
      <p:sp>
        <p:nvSpPr>
          <p:cNvPr id="29" name="TextBox 28"/>
          <p:cNvSpPr txBox="1"/>
          <p:nvPr/>
        </p:nvSpPr>
        <p:spPr>
          <a:xfrm>
            <a:off x="4553712" y="4782312"/>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AJUSTE SIN DESCUENTO</a:t>
            </a:r>
          </a:p>
        </p:txBody>
      </p:sp>
      <p:sp>
        <p:nvSpPr>
          <p:cNvPr id="30" name="TextBox 29"/>
          <p:cNvSpPr txBox="1"/>
          <p:nvPr/>
        </p:nvSpPr>
        <p:spPr>
          <a:xfrm>
            <a:off x="4553712" y="4992624"/>
            <a:ext cx="314553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AXXIS como variable</a:t>
            </a:r>
          </a:p>
        </p:txBody>
      </p:sp>
      <p:sp>
        <p:nvSpPr>
          <p:cNvPr id="31" name="TextBox 30"/>
          <p:cNvSpPr txBox="1"/>
          <p:nvPr/>
        </p:nvSpPr>
        <p:spPr>
          <a:xfrm>
            <a:off x="4553712" y="5349240"/>
            <a:ext cx="3145536" cy="429768"/>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Ficha idéntica con tarifa menor. Amplía cobertura sin afectar el valor del plan.</a:t>
            </a:r>
          </a:p>
        </p:txBody>
      </p:sp>
      <p:sp>
        <p:nvSpPr>
          <p:cNvPr id="32" name="Rectangle 31"/>
          <p:cNvSpPr/>
          <p:nvPr/>
        </p:nvSpPr>
        <p:spPr>
          <a:xfrm>
            <a:off x="8046720" y="4279392"/>
            <a:ext cx="3474720" cy="1627632"/>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12" y="4434840"/>
            <a:ext cx="3145536" cy="292608"/>
          </a:xfrm>
          <a:prstGeom prst="rect">
            <a:avLst/>
          </a:prstGeom>
          <a:noFill/>
        </p:spPr>
        <p:txBody>
          <a:bodyPr wrap="square" lIns="0" rIns="0" tIns="0" bIns="0" anchor="t">
            <a:spAutoFit/>
          </a:bodyPr>
          <a:lstStyle/>
          <a:p>
            <a:pPr algn="l">
              <a:lnSpc>
                <a:spcPct val="108000"/>
              </a:lnSpc>
              <a:spcAft>
                <a:spcPts val="0"/>
              </a:spcAft>
            </a:pPr>
            <a:r>
              <a:rPr sz="1600" b="1">
                <a:solidFill>
                  <a:srgbClr val="8A6B1F"/>
                </a:solidFill>
                <a:latin typeface="Helvetica Neue"/>
              </a:rPr>
              <a:t>06</a:t>
            </a:r>
          </a:p>
        </p:txBody>
      </p:sp>
      <p:sp>
        <p:nvSpPr>
          <p:cNvPr id="34" name="TextBox 33"/>
          <p:cNvSpPr txBox="1"/>
          <p:nvPr/>
        </p:nvSpPr>
        <p:spPr>
          <a:xfrm>
            <a:off x="8211312" y="4782312"/>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CONTENIDO DEL SOCIO</a:t>
            </a:r>
          </a:p>
        </p:txBody>
      </p:sp>
      <p:sp>
        <p:nvSpPr>
          <p:cNvPr id="35" name="TextBox 34"/>
          <p:cNvSpPr txBox="1"/>
          <p:nvPr/>
        </p:nvSpPr>
        <p:spPr>
          <a:xfrm>
            <a:off x="8211312" y="4992624"/>
            <a:ext cx="314553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La selección la nominan ellos</a:t>
            </a:r>
          </a:p>
        </p:txBody>
      </p:sp>
      <p:sp>
        <p:nvSpPr>
          <p:cNvPr id="36" name="TextBox 35"/>
          <p:cNvSpPr txBox="1"/>
          <p:nvPr/>
        </p:nvSpPr>
        <p:spPr>
          <a:xfrm>
            <a:off x="8211312" y="5522976"/>
            <a:ext cx="3145536" cy="256031"/>
          </a:xfrm>
          <a:prstGeom prst="rect">
            <a:avLst/>
          </a:prstGeom>
          <a:noFill/>
        </p:spPr>
        <p:txBody>
          <a:bodyPr wrap="square" lIns="0" rIns="0" tIns="0" bIns="0" anchor="t">
            <a:spAutoFit/>
          </a:bodyPr>
          <a:lstStyle/>
          <a:p>
            <a:pPr algn="l">
              <a:lnSpc>
                <a:spcPct val="126000"/>
              </a:lnSpc>
              <a:spcAft>
                <a:spcPts val="0"/>
              </a:spcAft>
            </a:pPr>
            <a:r>
              <a:rPr sz="830" b="0">
                <a:solidFill>
                  <a:srgbClr val="14263D"/>
                </a:solidFill>
                <a:latin typeface="Helvetica Neue"/>
              </a:rPr>
              <a:t>Contenido sin costo, datos de preferencia inexistentes hoy y pertenencia sobre la lista.</a:t>
            </a:r>
          </a:p>
        </p:txBody>
      </p:sp>
      <p:sp>
        <p:nvSpPr>
          <p:cNvPr id="37" name="TextBox 36"/>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LAS SEIS OPERAN EN LAS TRES OPCIONES</a:t>
            </a:r>
          </a:p>
        </p:txBody>
      </p:sp>
      <p:sp>
        <p:nvSpPr>
          <p:cNvPr id="38" name="TextBox 37"/>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LAS OPCIONES</a:t>
            </a:r>
          </a:p>
        </p:txBody>
      </p:sp>
      <p:sp>
        <p:nvSpPr>
          <p:cNvPr id="4" name="TextBox 3"/>
          <p:cNvSpPr txBox="1"/>
          <p:nvPr/>
        </p:nvSpPr>
        <p:spPr>
          <a:xfrm>
            <a:off x="731520" y="932688"/>
            <a:ext cx="786384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Tres alcances para el trimestre</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83664"/>
            <a:ext cx="1042416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La misma estrategia, en tres alcances. Las tres corren doce semanas desde la firma y las tres dejan medición de conversión a solicitud digital.</a:t>
            </a:r>
          </a:p>
        </p:txBody>
      </p:sp>
      <p:sp>
        <p:nvSpPr>
          <p:cNvPr id="7" name="Rectangle 6"/>
          <p:cNvSpPr/>
          <p:nvPr/>
        </p:nvSpPr>
        <p:spPr>
          <a:xfrm>
            <a:off x="731520" y="2542032"/>
            <a:ext cx="3474720" cy="342900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697479"/>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OPCIÓN A</a:t>
            </a:r>
          </a:p>
        </p:txBody>
      </p:sp>
      <p:sp>
        <p:nvSpPr>
          <p:cNvPr id="9" name="TextBox 8"/>
          <p:cNvSpPr txBox="1"/>
          <p:nvPr/>
        </p:nvSpPr>
        <p:spPr>
          <a:xfrm>
            <a:off x="896112" y="2907791"/>
            <a:ext cx="3145536" cy="457200"/>
          </a:xfrm>
          <a:prstGeom prst="rect">
            <a:avLst/>
          </a:prstGeom>
          <a:noFill/>
        </p:spPr>
        <p:txBody>
          <a:bodyPr wrap="square" lIns="0" rIns="0" tIns="0" bIns="0" anchor="t">
            <a:spAutoFit/>
          </a:bodyPr>
          <a:lstStyle/>
          <a:p>
            <a:pPr algn="l">
              <a:lnSpc>
                <a:spcPct val="106000"/>
              </a:lnSpc>
              <a:spcAft>
                <a:spcPts val="0"/>
              </a:spcAft>
            </a:pPr>
            <a:r>
              <a:rPr sz="1400" b="1">
                <a:solidFill>
                  <a:srgbClr val="0A2540"/>
                </a:solidFill>
                <a:latin typeface="Georgia"/>
              </a:rPr>
              <a:t>Instalación</a:t>
            </a:r>
          </a:p>
        </p:txBody>
      </p:sp>
      <p:sp>
        <p:nvSpPr>
          <p:cNvPr id="10" name="TextBox 9"/>
          <p:cNvSpPr txBox="1"/>
          <p:nvPr/>
        </p:nvSpPr>
        <p:spPr>
          <a:xfrm>
            <a:off x="896112" y="3264408"/>
            <a:ext cx="3145536" cy="2578608"/>
          </a:xfrm>
          <a:prstGeom prst="rect">
            <a:avLst/>
          </a:prstGeom>
          <a:noFill/>
        </p:spPr>
        <p:txBody>
          <a:bodyPr wrap="square" lIns="0" rIns="0" tIns="0" bIns="0" anchor="t">
            <a:spAutoFit/>
          </a:bodyPr>
          <a:lstStyle/>
          <a:p>
            <a:pPr algn="l">
              <a:lnSpc>
                <a:spcPct val="126000"/>
              </a:lnSpc>
              <a:spcAft>
                <a:spcPts val="0"/>
              </a:spcAft>
            </a:pPr>
            <a:r>
              <a:rPr sz="840" b="0">
                <a:solidFill>
                  <a:srgbClr val="14263D"/>
                </a:solidFill>
                <a:latin typeface="Helvetica Neue"/>
              </a:rPr>
              <a:t>Solo el primer objetivo: instalar la marca ante quien no la tiene.</a:t>
            </a:r>
          </a:p>
        </p:txBody>
      </p:sp>
      <p:sp>
        <p:nvSpPr>
          <p:cNvPr id="11" name="TextBox 10"/>
          <p:cNvSpPr txBox="1"/>
          <p:nvPr/>
        </p:nvSpPr>
        <p:spPr>
          <a:xfrm>
            <a:off x="896112" y="3575303"/>
            <a:ext cx="3145536" cy="2267712"/>
          </a:xfrm>
          <a:prstGeom prst="rect">
            <a:avLst/>
          </a:prstGeom>
          <a:noFill/>
        </p:spPr>
        <p:txBody>
          <a:bodyPr wrap="square" lIns="0" rIns="0" tIns="0" bIns="0" anchor="t">
            <a:spAutoFit/>
          </a:bodyPr>
          <a:lstStyle/>
          <a:p>
            <a:pPr algn="l">
              <a:lnSpc>
                <a:spcPct val="119000"/>
              </a:lnSpc>
              <a:spcAft>
                <a:spcPts val="320"/>
              </a:spcAft>
            </a:pPr>
            <a:r>
              <a:rPr sz="840" b="0">
                <a:solidFill>
                  <a:srgbClr val="14263D"/>
                </a:solidFill>
                <a:latin typeface="Helvetica Neue"/>
              </a:rPr>
              <a:t>•  Pauta dinámica los 3 meses</a:t>
            </a:r>
          </a:p>
          <a:p>
            <a:pPr algn="l">
              <a:lnSpc>
                <a:spcPct val="119000"/>
              </a:lnSpc>
              <a:spcAft>
                <a:spcPts val="320"/>
              </a:spcAft>
            </a:pPr>
            <a:r>
              <a:rPr sz="840" b="0">
                <a:solidFill>
                  <a:srgbClr val="14263D"/>
                </a:solidFill>
                <a:latin typeface="Helvetica Neue"/>
              </a:rPr>
              <a:t>•  Una pieza de alto impacto de apertura</a:t>
            </a:r>
          </a:p>
          <a:p>
            <a:pPr algn="l">
              <a:lnSpc>
                <a:spcPct val="119000"/>
              </a:lnSpc>
              <a:spcAft>
                <a:spcPts val="320"/>
              </a:spcAft>
            </a:pPr>
            <a:r>
              <a:rPr sz="840" b="0">
                <a:solidFill>
                  <a:srgbClr val="14263D"/>
                </a:solidFill>
                <a:latin typeface="Helvetica Neue"/>
              </a:rPr>
              <a:t>•  Video manifiesto y su amplificación</a:t>
            </a:r>
          </a:p>
          <a:p>
            <a:pPr algn="l">
              <a:lnSpc>
                <a:spcPct val="119000"/>
              </a:lnSpc>
              <a:spcAft>
                <a:spcPts val="320"/>
              </a:spcAft>
            </a:pPr>
            <a:r>
              <a:rPr sz="840" b="0">
                <a:solidFill>
                  <a:srgbClr val="14263D"/>
                </a:solidFill>
                <a:latin typeface="Helvetica Neue"/>
              </a:rPr>
              <a:t>•  Sección editorial en la revista</a:t>
            </a:r>
          </a:p>
          <a:p>
            <a:pPr algn="l">
              <a:lnSpc>
                <a:spcPct val="119000"/>
              </a:lnSpc>
              <a:spcAft>
                <a:spcPts val="320"/>
              </a:spcAft>
            </a:pPr>
            <a:r>
              <a:rPr sz="840" b="0">
                <a:solidFill>
                  <a:srgbClr val="14263D"/>
                </a:solidFill>
                <a:latin typeface="Helvetica Neue"/>
              </a:rPr>
              <a:t>•  Solo Revista Diners</a:t>
            </a:r>
          </a:p>
        </p:txBody>
      </p:sp>
      <p:sp>
        <p:nvSpPr>
          <p:cNvPr id="12" name="Rectangle 11"/>
          <p:cNvSpPr/>
          <p:nvPr/>
        </p:nvSpPr>
        <p:spPr>
          <a:xfrm>
            <a:off x="4389120" y="2542032"/>
            <a:ext cx="3474720" cy="342900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53712" y="2697479"/>
            <a:ext cx="1005840" cy="219456"/>
          </a:xfrm>
          <a:prstGeom prst="rect">
            <a:avLst/>
          </a:prstGeom>
          <a:solidFill>
            <a:srgbClr val="8A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738627"/>
            <a:ext cx="896112" cy="164592"/>
          </a:xfrm>
          <a:prstGeom prst="rect">
            <a:avLst/>
          </a:prstGeom>
          <a:noFill/>
        </p:spPr>
        <p:txBody>
          <a:bodyPr wrap="square" lIns="0" rIns="0" tIns="0" bIns="0" anchor="t">
            <a:spAutoFit/>
          </a:bodyPr>
          <a:lstStyle/>
          <a:p>
            <a:pPr algn="l">
              <a:lnSpc>
                <a:spcPct val="108000"/>
              </a:lnSpc>
              <a:spcAft>
                <a:spcPts val="0"/>
              </a:spcAft>
            </a:pPr>
            <a:r>
              <a:rPr sz="650" b="1">
                <a:solidFill>
                  <a:srgbClr val="FFFFFF"/>
                </a:solidFill>
                <a:latin typeface="Helvetica Neue"/>
              </a:rPr>
              <a:t>RECOMENDADO</a:t>
            </a:r>
          </a:p>
        </p:txBody>
      </p:sp>
      <p:sp>
        <p:nvSpPr>
          <p:cNvPr id="15" name="TextBox 14"/>
          <p:cNvSpPr txBox="1"/>
          <p:nvPr/>
        </p:nvSpPr>
        <p:spPr>
          <a:xfrm>
            <a:off x="4553712" y="2999232"/>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OPCIÓN B</a:t>
            </a:r>
          </a:p>
        </p:txBody>
      </p:sp>
      <p:sp>
        <p:nvSpPr>
          <p:cNvPr id="16" name="TextBox 15"/>
          <p:cNvSpPr txBox="1"/>
          <p:nvPr/>
        </p:nvSpPr>
        <p:spPr>
          <a:xfrm>
            <a:off x="4553712" y="3209544"/>
            <a:ext cx="3145536" cy="457200"/>
          </a:xfrm>
          <a:prstGeom prst="rect">
            <a:avLst/>
          </a:prstGeom>
          <a:noFill/>
        </p:spPr>
        <p:txBody>
          <a:bodyPr wrap="square" lIns="0" rIns="0" tIns="0" bIns="0" anchor="t">
            <a:spAutoFit/>
          </a:bodyPr>
          <a:lstStyle/>
          <a:p>
            <a:pPr algn="l">
              <a:lnSpc>
                <a:spcPct val="106000"/>
              </a:lnSpc>
              <a:spcAft>
                <a:spcPts val="0"/>
              </a:spcAft>
            </a:pPr>
            <a:r>
              <a:rPr sz="1400" b="1">
                <a:solidFill>
                  <a:srgbClr val="0A2540"/>
                </a:solidFill>
                <a:latin typeface="Georgia"/>
              </a:rPr>
              <a:t>Las doce semanas</a:t>
            </a:r>
          </a:p>
        </p:txBody>
      </p:sp>
      <p:sp>
        <p:nvSpPr>
          <p:cNvPr id="17" name="TextBox 16"/>
          <p:cNvSpPr txBox="1"/>
          <p:nvPr/>
        </p:nvSpPr>
        <p:spPr>
          <a:xfrm>
            <a:off x="4553712" y="3566160"/>
            <a:ext cx="3145536" cy="2276856"/>
          </a:xfrm>
          <a:prstGeom prst="rect">
            <a:avLst/>
          </a:prstGeom>
          <a:noFill/>
        </p:spPr>
        <p:txBody>
          <a:bodyPr wrap="square" lIns="0" rIns="0" tIns="0" bIns="0" anchor="t">
            <a:spAutoFit/>
          </a:bodyPr>
          <a:lstStyle/>
          <a:p>
            <a:pPr algn="l">
              <a:lnSpc>
                <a:spcPct val="126000"/>
              </a:lnSpc>
              <a:spcAft>
                <a:spcPts val="0"/>
              </a:spcAft>
            </a:pPr>
            <a:r>
              <a:rPr sz="840" b="0">
                <a:solidFill>
                  <a:srgbClr val="14263D"/>
                </a:solidFill>
                <a:latin typeface="Helvetica Neue"/>
              </a:rPr>
              <a:t>Los dos objetivos operando y el primer dato propio de conversión.</a:t>
            </a:r>
          </a:p>
        </p:txBody>
      </p:sp>
      <p:sp>
        <p:nvSpPr>
          <p:cNvPr id="18" name="TextBox 17"/>
          <p:cNvSpPr txBox="1"/>
          <p:nvPr/>
        </p:nvSpPr>
        <p:spPr>
          <a:xfrm>
            <a:off x="4553712" y="3877056"/>
            <a:ext cx="3145536" cy="1965959"/>
          </a:xfrm>
          <a:prstGeom prst="rect">
            <a:avLst/>
          </a:prstGeom>
          <a:noFill/>
        </p:spPr>
        <p:txBody>
          <a:bodyPr wrap="square" lIns="0" rIns="0" tIns="0" bIns="0" anchor="t">
            <a:spAutoFit/>
          </a:bodyPr>
          <a:lstStyle/>
          <a:p>
            <a:pPr algn="l">
              <a:lnSpc>
                <a:spcPct val="119000"/>
              </a:lnSpc>
              <a:spcAft>
                <a:spcPts val="320"/>
              </a:spcAft>
            </a:pPr>
            <a:r>
              <a:rPr sz="840" b="0">
                <a:solidFill>
                  <a:srgbClr val="14263D"/>
                </a:solidFill>
                <a:latin typeface="Helvetica Neue"/>
              </a:rPr>
              <a:t>•  Todo lo de la opción A</a:t>
            </a:r>
          </a:p>
          <a:p>
            <a:pPr algn="l">
              <a:lnSpc>
                <a:spcPct val="119000"/>
              </a:lnSpc>
              <a:spcAft>
                <a:spcPts val="320"/>
              </a:spcAft>
            </a:pPr>
            <a:r>
              <a:rPr sz="840" b="0">
                <a:solidFill>
                  <a:srgbClr val="14263D"/>
                </a:solidFill>
                <a:latin typeface="Helvetica Neue"/>
              </a:rPr>
              <a:t>•  20 aliados con aceptación verificada</a:t>
            </a:r>
          </a:p>
          <a:p>
            <a:pPr algn="l">
              <a:lnSpc>
                <a:spcPct val="119000"/>
              </a:lnSpc>
              <a:spcAft>
                <a:spcPts val="320"/>
              </a:spcAft>
            </a:pPr>
            <a:r>
              <a:rPr sz="840" b="0">
                <a:solidFill>
                  <a:srgbClr val="14263D"/>
                </a:solidFill>
                <a:latin typeface="Helvetica Neue"/>
              </a:rPr>
              <a:t>•  Sello en punto de venta con código</a:t>
            </a:r>
          </a:p>
          <a:p>
            <a:pPr algn="l">
              <a:lnSpc>
                <a:spcPct val="119000"/>
              </a:lnSpc>
              <a:spcAft>
                <a:spcPts val="320"/>
              </a:spcAft>
            </a:pPr>
            <a:r>
              <a:rPr sz="840" b="0">
                <a:solidFill>
                  <a:srgbClr val="14263D"/>
                </a:solidFill>
                <a:latin typeface="Helvetica Neue"/>
              </a:rPr>
              <a:t>•  Una experiencia por invitación, con cubrimiento</a:t>
            </a:r>
          </a:p>
          <a:p>
            <a:pPr algn="l">
              <a:lnSpc>
                <a:spcPct val="119000"/>
              </a:lnSpc>
              <a:spcAft>
                <a:spcPts val="320"/>
              </a:spcAft>
            </a:pPr>
            <a:r>
              <a:rPr sz="840" b="0">
                <a:solidFill>
                  <a:srgbClr val="14263D"/>
                </a:solidFill>
                <a:latin typeface="Helvetica Neue"/>
              </a:rPr>
              <a:t>•  Pauta digital en 4 canales</a:t>
            </a:r>
          </a:p>
          <a:p>
            <a:pPr algn="l">
              <a:lnSpc>
                <a:spcPct val="119000"/>
              </a:lnSpc>
              <a:spcAft>
                <a:spcPts val="320"/>
              </a:spcAft>
            </a:pPr>
            <a:r>
              <a:rPr sz="840" b="0">
                <a:solidFill>
                  <a:srgbClr val="14263D"/>
                </a:solidFill>
                <a:latin typeface="Helvetica Neue"/>
              </a:rPr>
              <a:t>•  Serie de video con cocineros</a:t>
            </a:r>
          </a:p>
          <a:p>
            <a:pPr algn="l">
              <a:lnSpc>
                <a:spcPct val="119000"/>
              </a:lnSpc>
              <a:spcAft>
                <a:spcPts val="320"/>
              </a:spcAft>
            </a:pPr>
            <a:r>
              <a:rPr sz="840" b="0">
                <a:solidFill>
                  <a:srgbClr val="14263D"/>
                </a:solidFill>
                <a:latin typeface="Helvetica Neue"/>
              </a:rPr>
              <a:t>•  Tablero de conversión a solicitud digital</a:t>
            </a:r>
          </a:p>
        </p:txBody>
      </p:sp>
      <p:sp>
        <p:nvSpPr>
          <p:cNvPr id="19" name="Rectangle 18"/>
          <p:cNvSpPr/>
          <p:nvPr/>
        </p:nvSpPr>
        <p:spPr>
          <a:xfrm>
            <a:off x="8046720" y="2542032"/>
            <a:ext cx="3474720" cy="342900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2697479"/>
            <a:ext cx="3145536" cy="182880"/>
          </a:xfrm>
          <a:prstGeom prst="rect">
            <a:avLst/>
          </a:prstGeom>
          <a:noFill/>
        </p:spPr>
        <p:txBody>
          <a:bodyPr wrap="square" lIns="0" rIns="0" tIns="0" bIns="0" anchor="t">
            <a:spAutoFit/>
          </a:bodyPr>
          <a:lstStyle/>
          <a:p>
            <a:pPr algn="l">
              <a:lnSpc>
                <a:spcPct val="108000"/>
              </a:lnSpc>
              <a:spcAft>
                <a:spcPts val="0"/>
              </a:spcAft>
            </a:pPr>
            <a:r>
              <a:rPr sz="700" b="1">
                <a:solidFill>
                  <a:srgbClr val="75808F"/>
                </a:solidFill>
                <a:latin typeface="Helvetica Neue"/>
              </a:rPr>
              <a:t>OPCIÓN C</a:t>
            </a:r>
          </a:p>
        </p:txBody>
      </p:sp>
      <p:sp>
        <p:nvSpPr>
          <p:cNvPr id="21" name="TextBox 20"/>
          <p:cNvSpPr txBox="1"/>
          <p:nvPr/>
        </p:nvSpPr>
        <p:spPr>
          <a:xfrm>
            <a:off x="8211312" y="2907791"/>
            <a:ext cx="3145536" cy="457200"/>
          </a:xfrm>
          <a:prstGeom prst="rect">
            <a:avLst/>
          </a:prstGeom>
          <a:noFill/>
        </p:spPr>
        <p:txBody>
          <a:bodyPr wrap="square" lIns="0" rIns="0" tIns="0" bIns="0" anchor="t">
            <a:spAutoFit/>
          </a:bodyPr>
          <a:lstStyle/>
          <a:p>
            <a:pPr algn="l">
              <a:lnSpc>
                <a:spcPct val="106000"/>
              </a:lnSpc>
              <a:spcAft>
                <a:spcPts val="0"/>
              </a:spcAft>
            </a:pPr>
            <a:r>
              <a:rPr sz="1400" b="1">
                <a:solidFill>
                  <a:srgbClr val="0A2540"/>
                </a:solidFill>
                <a:latin typeface="Georgia"/>
              </a:rPr>
              <a:t>Ampliada</a:t>
            </a:r>
          </a:p>
        </p:txBody>
      </p:sp>
      <p:sp>
        <p:nvSpPr>
          <p:cNvPr id="22" name="TextBox 21"/>
          <p:cNvSpPr txBox="1"/>
          <p:nvPr/>
        </p:nvSpPr>
        <p:spPr>
          <a:xfrm>
            <a:off x="8211312" y="3264408"/>
            <a:ext cx="3145536" cy="2578608"/>
          </a:xfrm>
          <a:prstGeom prst="rect">
            <a:avLst/>
          </a:prstGeom>
          <a:noFill/>
        </p:spPr>
        <p:txBody>
          <a:bodyPr wrap="square" lIns="0" rIns="0" tIns="0" bIns="0" anchor="t">
            <a:spAutoFit/>
          </a:bodyPr>
          <a:lstStyle/>
          <a:p>
            <a:pPr algn="l">
              <a:lnSpc>
                <a:spcPct val="126000"/>
              </a:lnSpc>
              <a:spcAft>
                <a:spcPts val="0"/>
              </a:spcAft>
            </a:pPr>
            <a:r>
              <a:rPr sz="840" b="0">
                <a:solidFill>
                  <a:srgbClr val="14263D"/>
                </a:solidFill>
                <a:latin typeface="Helvetica Neue"/>
              </a:rPr>
              <a:t>Las doce semanas con mayor cobertura de audiencia y de red.</a:t>
            </a:r>
          </a:p>
        </p:txBody>
      </p:sp>
      <p:sp>
        <p:nvSpPr>
          <p:cNvPr id="23" name="TextBox 22"/>
          <p:cNvSpPr txBox="1"/>
          <p:nvPr/>
        </p:nvSpPr>
        <p:spPr>
          <a:xfrm>
            <a:off x="8211312" y="3575303"/>
            <a:ext cx="3145536" cy="2267712"/>
          </a:xfrm>
          <a:prstGeom prst="rect">
            <a:avLst/>
          </a:prstGeom>
          <a:noFill/>
        </p:spPr>
        <p:txBody>
          <a:bodyPr wrap="square" lIns="0" rIns="0" tIns="0" bIns="0" anchor="t">
            <a:spAutoFit/>
          </a:bodyPr>
          <a:lstStyle/>
          <a:p>
            <a:pPr algn="l">
              <a:lnSpc>
                <a:spcPct val="119000"/>
              </a:lnSpc>
              <a:spcAft>
                <a:spcPts val="320"/>
              </a:spcAft>
            </a:pPr>
            <a:r>
              <a:rPr sz="840" b="0">
                <a:solidFill>
                  <a:srgbClr val="14263D"/>
                </a:solidFill>
                <a:latin typeface="Helvetica Neue"/>
              </a:rPr>
              <a:t>•  Todo lo de la opción B</a:t>
            </a:r>
          </a:p>
          <a:p>
            <a:pPr algn="l">
              <a:lnSpc>
                <a:spcPct val="119000"/>
              </a:lnSpc>
              <a:spcAft>
                <a:spcPts val="320"/>
              </a:spcAft>
            </a:pPr>
            <a:r>
              <a:rPr sz="840" b="0">
                <a:solidFill>
                  <a:srgbClr val="14263D"/>
                </a:solidFill>
                <a:latin typeface="Helvetica Neue"/>
              </a:rPr>
              <a:t>•  AXXIS sumado al ecosistema</a:t>
            </a:r>
          </a:p>
          <a:p>
            <a:pPr algn="l">
              <a:lnSpc>
                <a:spcPct val="119000"/>
              </a:lnSpc>
              <a:spcAft>
                <a:spcPts val="320"/>
              </a:spcAft>
            </a:pPr>
            <a:r>
              <a:rPr sz="840" b="0">
                <a:solidFill>
                  <a:srgbClr val="14263D"/>
                </a:solidFill>
                <a:latin typeface="Helvetica Neue"/>
              </a:rPr>
              <a:t>•  40 aliados verificados</a:t>
            </a:r>
          </a:p>
          <a:p>
            <a:pPr algn="l">
              <a:lnSpc>
                <a:spcPct val="119000"/>
              </a:lnSpc>
              <a:spcAft>
                <a:spcPts val="320"/>
              </a:spcAft>
            </a:pPr>
            <a:r>
              <a:rPr sz="840" b="0">
                <a:solidFill>
                  <a:srgbClr val="14263D"/>
                </a:solidFill>
                <a:latin typeface="Helvetica Neue"/>
              </a:rPr>
              <a:t>•  Dos experiencias por invitación</a:t>
            </a:r>
          </a:p>
          <a:p>
            <a:pPr algn="l">
              <a:lnSpc>
                <a:spcPct val="119000"/>
              </a:lnSpc>
              <a:spcAft>
                <a:spcPts val="320"/>
              </a:spcAft>
            </a:pPr>
            <a:r>
              <a:rPr sz="840" b="0">
                <a:solidFill>
                  <a:srgbClr val="14263D"/>
                </a:solidFill>
                <a:latin typeface="Helvetica Neue"/>
              </a:rPr>
              <a:t>•  Línea de video con personaje invitado</a:t>
            </a:r>
          </a:p>
          <a:p>
            <a:pPr algn="l">
              <a:lnSpc>
                <a:spcPct val="119000"/>
              </a:lnSpc>
              <a:spcAft>
                <a:spcPts val="320"/>
              </a:spcAft>
            </a:pPr>
            <a:r>
              <a:rPr sz="840" b="0">
                <a:solidFill>
                  <a:srgbClr val="14263D"/>
                </a:solidFill>
                <a:latin typeface="Helvetica Neue"/>
              </a:rPr>
              <a:t>•  LinkedIn y programática para el perfil alto</a:t>
            </a:r>
          </a:p>
        </p:txBody>
      </p:sp>
      <p:sp>
        <p:nvSpPr>
          <p:cNvPr id="24" name="TextBox 23"/>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VALORES POR SEPARADO EN LA COTIZACIÓN</a:t>
            </a:r>
          </a:p>
        </p:txBody>
      </p:sp>
      <p:sp>
        <p:nvSpPr>
          <p:cNvPr id="25" name="TextBox 24"/>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COMPARATIVO</a:t>
            </a:r>
          </a:p>
        </p:txBody>
      </p:sp>
      <p:sp>
        <p:nvSpPr>
          <p:cNvPr id="4" name="TextBox 3"/>
          <p:cNvSpPr txBox="1"/>
          <p:nvPr/>
        </p:nvSpPr>
        <p:spPr>
          <a:xfrm>
            <a:off x="731520" y="932688"/>
            <a:ext cx="786384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Qué incluye cada opción</a:t>
            </a:r>
          </a:p>
        </p:txBody>
      </p:sp>
      <p:sp>
        <p:nvSpPr>
          <p:cNvPr id="5" name="Rectangle 4"/>
          <p:cNvSpPr/>
          <p:nvPr/>
        </p:nvSpPr>
        <p:spPr>
          <a:xfrm>
            <a:off x="731520" y="1737360"/>
            <a:ext cx="10728655"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2103120"/>
          <a:ext cx="10725912" cy="3749040"/>
        </p:xfrm>
        <a:graphic>
          <a:graphicData uri="http://schemas.openxmlformats.org/drawingml/2006/table">
            <a:tbl>
              <a:tblPr firstRow="1" bandRow="1">
                <a:tableStyleId>{5C22544A-7EE6-4342-B048-85BDC9FD1C3A}</a:tableStyleId>
              </a:tblPr>
              <a:tblGrid>
                <a:gridCol w="2468880"/>
                <a:gridCol w="2743200"/>
                <a:gridCol w="2743200"/>
                <a:gridCol w="2770632"/>
              </a:tblGrid>
              <a:tr h="374904">
                <a:tc>
                  <a:txBody>
                    <a:bodyPr/>
                    <a:lstStyle/>
                    <a:p>
                      <a:r>
                        <a:rPr sz="840" b="1">
                          <a:solidFill>
                            <a:srgbClr val="FFFFFF"/>
                          </a:solidFill>
                          <a:latin typeface="Helvetica Neue"/>
                        </a:rPr>
                        <a:t>Componente</a:t>
                      </a:r>
                    </a:p>
                  </a:txBody>
                  <a:tcPr marL="73152" marR="45720" anchor="ctr">
                    <a:solidFill>
                      <a:srgbClr val="0A2540"/>
                    </a:solidFill>
                  </a:tcPr>
                </a:tc>
                <a:tc>
                  <a:txBody>
                    <a:bodyPr/>
                    <a:lstStyle/>
                    <a:p>
                      <a:r>
                        <a:rPr sz="840" b="1">
                          <a:solidFill>
                            <a:srgbClr val="FFFFFF"/>
                          </a:solidFill>
                          <a:latin typeface="Helvetica Neue"/>
                        </a:rPr>
                        <a:t>A · Instalación</a:t>
                      </a:r>
                    </a:p>
                  </a:txBody>
                  <a:tcPr marL="73152" marR="45720" anchor="ctr">
                    <a:solidFill>
                      <a:srgbClr val="0A2540"/>
                    </a:solidFill>
                  </a:tcPr>
                </a:tc>
                <a:tc>
                  <a:txBody>
                    <a:bodyPr/>
                    <a:lstStyle/>
                    <a:p>
                      <a:r>
                        <a:rPr sz="840" b="1">
                          <a:solidFill>
                            <a:srgbClr val="FFFFFF"/>
                          </a:solidFill>
                          <a:latin typeface="Helvetica Neue"/>
                        </a:rPr>
                        <a:t>B · Las doce semanas</a:t>
                      </a:r>
                    </a:p>
                  </a:txBody>
                  <a:tcPr marL="73152" marR="45720" anchor="ctr">
                    <a:solidFill>
                      <a:srgbClr val="8A6B1F"/>
                    </a:solidFill>
                  </a:tcPr>
                </a:tc>
                <a:tc>
                  <a:txBody>
                    <a:bodyPr/>
                    <a:lstStyle/>
                    <a:p>
                      <a:r>
                        <a:rPr sz="840" b="1">
                          <a:solidFill>
                            <a:srgbClr val="FFFFFF"/>
                          </a:solidFill>
                          <a:latin typeface="Helvetica Neue"/>
                        </a:rPr>
                        <a:t>C · Ampliada</a:t>
                      </a:r>
                    </a:p>
                  </a:txBody>
                  <a:tcPr marL="73152" marR="45720" anchor="ctr">
                    <a:solidFill>
                      <a:srgbClr val="0A2540"/>
                    </a:solidFill>
                  </a:tcPr>
                </a:tc>
              </a:tr>
              <a:tr h="374904">
                <a:tc>
                  <a:txBody>
                    <a:bodyPr/>
                    <a:lstStyle/>
                    <a:p>
                      <a:r>
                        <a:rPr sz="900" b="1">
                          <a:solidFill>
                            <a:srgbClr val="0A2540"/>
                          </a:solidFill>
                          <a:latin typeface="Georgia"/>
                        </a:rPr>
                        <a:t>Duración</a:t>
                      </a:r>
                    </a:p>
                  </a:txBody>
                  <a:tcPr marL="73152" marR="45720" anchor="ctr">
                    <a:solidFill>
                      <a:srgbClr val="FFFDF9"/>
                    </a:solidFill>
                  </a:tcPr>
                </a:tc>
                <a:tc>
                  <a:txBody>
                    <a:bodyPr/>
                    <a:lstStyle/>
                    <a:p>
                      <a:r>
                        <a:rPr sz="900" b="0">
                          <a:solidFill>
                            <a:srgbClr val="0A2540"/>
                          </a:solidFill>
                          <a:latin typeface="Georgia"/>
                        </a:rPr>
                        <a:t>12 semanas</a:t>
                      </a:r>
                    </a:p>
                  </a:txBody>
                  <a:tcPr marL="73152" marR="45720" anchor="ctr">
                    <a:solidFill>
                      <a:srgbClr val="FFFDF9"/>
                    </a:solidFill>
                  </a:tcPr>
                </a:tc>
                <a:tc>
                  <a:txBody>
                    <a:bodyPr/>
                    <a:lstStyle/>
                    <a:p>
                      <a:r>
                        <a:rPr sz="900" b="1">
                          <a:solidFill>
                            <a:srgbClr val="0A2540"/>
                          </a:solidFill>
                          <a:latin typeface="Georgia"/>
                        </a:rPr>
                        <a:t>12 semanas</a:t>
                      </a:r>
                    </a:p>
                  </a:txBody>
                  <a:tcPr marL="73152" marR="45720" anchor="ctr">
                    <a:solidFill>
                      <a:srgbClr val="F4EAD5"/>
                    </a:solidFill>
                  </a:tcPr>
                </a:tc>
                <a:tc>
                  <a:txBody>
                    <a:bodyPr/>
                    <a:lstStyle/>
                    <a:p>
                      <a:r>
                        <a:rPr sz="900" b="0">
                          <a:solidFill>
                            <a:srgbClr val="0A2540"/>
                          </a:solidFill>
                          <a:latin typeface="Georgia"/>
                        </a:rPr>
                        <a:t>12 semanas</a:t>
                      </a:r>
                    </a:p>
                  </a:txBody>
                  <a:tcPr marL="73152" marR="45720" anchor="ctr">
                    <a:solidFill>
                      <a:srgbClr val="FFFDF9"/>
                    </a:solidFill>
                  </a:tcPr>
                </a:tc>
              </a:tr>
              <a:tr h="374904">
                <a:tc>
                  <a:txBody>
                    <a:bodyPr/>
                    <a:lstStyle/>
                    <a:p>
                      <a:r>
                        <a:rPr sz="900" b="1">
                          <a:solidFill>
                            <a:srgbClr val="0A2540"/>
                          </a:solidFill>
                          <a:latin typeface="Georgia"/>
                        </a:rPr>
                        <a:t>Marcas</a:t>
                      </a:r>
                    </a:p>
                  </a:txBody>
                  <a:tcPr marL="73152" marR="45720" anchor="ctr">
                    <a:solidFill>
                      <a:srgbClr val="F6F3EC"/>
                    </a:solidFill>
                  </a:tcPr>
                </a:tc>
                <a:tc>
                  <a:txBody>
                    <a:bodyPr/>
                    <a:lstStyle/>
                    <a:p>
                      <a:r>
                        <a:rPr sz="900" b="0">
                          <a:solidFill>
                            <a:srgbClr val="0A2540"/>
                          </a:solidFill>
                          <a:latin typeface="Georgia"/>
                        </a:rPr>
                        <a:t>Solo Diners</a:t>
                      </a:r>
                    </a:p>
                  </a:txBody>
                  <a:tcPr marL="73152" marR="45720" anchor="ctr">
                    <a:solidFill>
                      <a:srgbClr val="F6F3EC"/>
                    </a:solidFill>
                  </a:tcPr>
                </a:tc>
                <a:tc>
                  <a:txBody>
                    <a:bodyPr/>
                    <a:lstStyle/>
                    <a:p>
                      <a:r>
                        <a:rPr sz="900" b="1">
                          <a:solidFill>
                            <a:srgbClr val="0A2540"/>
                          </a:solidFill>
                          <a:latin typeface="Georgia"/>
                        </a:rPr>
                        <a:t>Solo Diners</a:t>
                      </a:r>
                    </a:p>
                  </a:txBody>
                  <a:tcPr marL="73152" marR="45720" anchor="ctr">
                    <a:solidFill>
                      <a:srgbClr val="F4EAD5"/>
                    </a:solidFill>
                  </a:tcPr>
                </a:tc>
                <a:tc>
                  <a:txBody>
                    <a:bodyPr/>
                    <a:lstStyle/>
                    <a:p>
                      <a:r>
                        <a:rPr sz="900" b="0">
                          <a:solidFill>
                            <a:srgbClr val="0A2540"/>
                          </a:solidFill>
                          <a:latin typeface="Georgia"/>
                        </a:rPr>
                        <a:t>Diners + AXXIS</a:t>
                      </a:r>
                    </a:p>
                  </a:txBody>
                  <a:tcPr marL="73152" marR="45720" anchor="ctr">
                    <a:solidFill>
                      <a:srgbClr val="F6F3EC"/>
                    </a:solidFill>
                  </a:tcPr>
                </a:tc>
              </a:tr>
              <a:tr h="374904">
                <a:tc>
                  <a:txBody>
                    <a:bodyPr/>
                    <a:lstStyle/>
                    <a:p>
                      <a:r>
                        <a:rPr sz="900" b="1">
                          <a:solidFill>
                            <a:srgbClr val="0A2540"/>
                          </a:solidFill>
                          <a:latin typeface="Georgia"/>
                        </a:rPr>
                        <a:t>Alto impacto impreso</a:t>
                      </a:r>
                    </a:p>
                  </a:txBody>
                  <a:tcPr marL="73152" marR="45720" anchor="ctr">
                    <a:solidFill>
                      <a:srgbClr val="FFFDF9"/>
                    </a:solidFill>
                  </a:tcPr>
                </a:tc>
                <a:tc>
                  <a:txBody>
                    <a:bodyPr/>
                    <a:lstStyle/>
                    <a:p>
                      <a:r>
                        <a:rPr sz="900" b="0">
                          <a:solidFill>
                            <a:srgbClr val="0A2540"/>
                          </a:solidFill>
                          <a:latin typeface="Georgia"/>
                        </a:rPr>
                        <a:t>1 pieza</a:t>
                      </a:r>
                    </a:p>
                  </a:txBody>
                  <a:tcPr marL="73152" marR="45720" anchor="ctr">
                    <a:solidFill>
                      <a:srgbClr val="FFFDF9"/>
                    </a:solidFill>
                  </a:tcPr>
                </a:tc>
                <a:tc>
                  <a:txBody>
                    <a:bodyPr/>
                    <a:lstStyle/>
                    <a:p>
                      <a:r>
                        <a:rPr sz="900" b="1">
                          <a:solidFill>
                            <a:srgbClr val="0A2540"/>
                          </a:solidFill>
                          <a:latin typeface="Georgia"/>
                        </a:rPr>
                        <a:t>1 pieza</a:t>
                      </a:r>
                    </a:p>
                  </a:txBody>
                  <a:tcPr marL="73152" marR="45720" anchor="ctr">
                    <a:solidFill>
                      <a:srgbClr val="F4EAD5"/>
                    </a:solidFill>
                  </a:tcPr>
                </a:tc>
                <a:tc>
                  <a:txBody>
                    <a:bodyPr/>
                    <a:lstStyle/>
                    <a:p>
                      <a:r>
                        <a:rPr sz="900" b="0">
                          <a:solidFill>
                            <a:srgbClr val="0A2540"/>
                          </a:solidFill>
                          <a:latin typeface="Georgia"/>
                        </a:rPr>
                        <a:t>2 piezas</a:t>
                      </a:r>
                    </a:p>
                  </a:txBody>
                  <a:tcPr marL="73152" marR="45720" anchor="ctr">
                    <a:solidFill>
                      <a:srgbClr val="FFFDF9"/>
                    </a:solidFill>
                  </a:tcPr>
                </a:tc>
              </a:tr>
              <a:tr h="374904">
                <a:tc>
                  <a:txBody>
                    <a:bodyPr/>
                    <a:lstStyle/>
                    <a:p>
                      <a:r>
                        <a:rPr sz="900" b="1">
                          <a:solidFill>
                            <a:srgbClr val="0A2540"/>
                          </a:solidFill>
                          <a:latin typeface="Georgia"/>
                        </a:rPr>
                        <a:t>Pauta digital</a:t>
                      </a:r>
                    </a:p>
                  </a:txBody>
                  <a:tcPr marL="73152" marR="45720" anchor="ctr">
                    <a:solidFill>
                      <a:srgbClr val="F6F3EC"/>
                    </a:solidFill>
                  </a:tcPr>
                </a:tc>
                <a:tc>
                  <a:txBody>
                    <a:bodyPr/>
                    <a:lstStyle/>
                    <a:p>
                      <a:r>
                        <a:rPr sz="900" b="0">
                          <a:solidFill>
                            <a:srgbClr val="0A2540"/>
                          </a:solidFill>
                          <a:latin typeface="Georgia"/>
                        </a:rPr>
                        <a:t>—</a:t>
                      </a:r>
                    </a:p>
                  </a:txBody>
                  <a:tcPr marL="73152" marR="45720" anchor="ctr">
                    <a:solidFill>
                      <a:srgbClr val="F6F3EC"/>
                    </a:solidFill>
                  </a:tcPr>
                </a:tc>
                <a:tc>
                  <a:txBody>
                    <a:bodyPr/>
                    <a:lstStyle/>
                    <a:p>
                      <a:r>
                        <a:rPr sz="900" b="1">
                          <a:solidFill>
                            <a:srgbClr val="0A2540"/>
                          </a:solidFill>
                          <a:latin typeface="Georgia"/>
                        </a:rPr>
                        <a:t>4 canales</a:t>
                      </a:r>
                    </a:p>
                  </a:txBody>
                  <a:tcPr marL="73152" marR="45720" anchor="ctr">
                    <a:solidFill>
                      <a:srgbClr val="F4EAD5"/>
                    </a:solidFill>
                  </a:tcPr>
                </a:tc>
                <a:tc>
                  <a:txBody>
                    <a:bodyPr/>
                    <a:lstStyle/>
                    <a:p>
                      <a:r>
                        <a:rPr sz="900" b="0">
                          <a:solidFill>
                            <a:srgbClr val="0A2540"/>
                          </a:solidFill>
                          <a:latin typeface="Georgia"/>
                        </a:rPr>
                        <a:t>6 canales</a:t>
                      </a:r>
                    </a:p>
                  </a:txBody>
                  <a:tcPr marL="73152" marR="45720" anchor="ctr">
                    <a:solidFill>
                      <a:srgbClr val="F6F3EC"/>
                    </a:solidFill>
                  </a:tcPr>
                </a:tc>
              </a:tr>
              <a:tr h="374904">
                <a:tc>
                  <a:txBody>
                    <a:bodyPr/>
                    <a:lstStyle/>
                    <a:p>
                      <a:r>
                        <a:rPr sz="900" b="1">
                          <a:solidFill>
                            <a:srgbClr val="0A2540"/>
                          </a:solidFill>
                          <a:latin typeface="Georgia"/>
                        </a:rPr>
                        <a:t>Aliados verificados</a:t>
                      </a:r>
                    </a:p>
                  </a:txBody>
                  <a:tcPr marL="73152" marR="45720" anchor="ctr">
                    <a:solidFill>
                      <a:srgbClr val="FFFDF9"/>
                    </a:solidFill>
                  </a:tcPr>
                </a:tc>
                <a:tc>
                  <a:txBody>
                    <a:bodyPr/>
                    <a:lstStyle/>
                    <a:p>
                      <a:r>
                        <a:rPr sz="900" b="0">
                          <a:solidFill>
                            <a:srgbClr val="0A2540"/>
                          </a:solidFill>
                          <a:latin typeface="Georgia"/>
                        </a:rPr>
                        <a:t>—</a:t>
                      </a:r>
                    </a:p>
                  </a:txBody>
                  <a:tcPr marL="73152" marR="45720" anchor="ctr">
                    <a:solidFill>
                      <a:srgbClr val="FFFDF9"/>
                    </a:solidFill>
                  </a:tcPr>
                </a:tc>
                <a:tc>
                  <a:txBody>
                    <a:bodyPr/>
                    <a:lstStyle/>
                    <a:p>
                      <a:r>
                        <a:rPr sz="900" b="1">
                          <a:solidFill>
                            <a:srgbClr val="0A2540"/>
                          </a:solidFill>
                          <a:latin typeface="Georgia"/>
                        </a:rPr>
                        <a:t>20</a:t>
                      </a:r>
                    </a:p>
                  </a:txBody>
                  <a:tcPr marL="73152" marR="45720" anchor="ctr">
                    <a:solidFill>
                      <a:srgbClr val="F4EAD5"/>
                    </a:solidFill>
                  </a:tcPr>
                </a:tc>
                <a:tc>
                  <a:txBody>
                    <a:bodyPr/>
                    <a:lstStyle/>
                    <a:p>
                      <a:r>
                        <a:rPr sz="900" b="0">
                          <a:solidFill>
                            <a:srgbClr val="0A2540"/>
                          </a:solidFill>
                          <a:latin typeface="Georgia"/>
                        </a:rPr>
                        <a:t>40</a:t>
                      </a:r>
                    </a:p>
                  </a:txBody>
                  <a:tcPr marL="73152" marR="45720" anchor="ctr">
                    <a:solidFill>
                      <a:srgbClr val="FFFDF9"/>
                    </a:solidFill>
                  </a:tcPr>
                </a:tc>
              </a:tr>
              <a:tr h="374904">
                <a:tc>
                  <a:txBody>
                    <a:bodyPr/>
                    <a:lstStyle/>
                    <a:p>
                      <a:r>
                        <a:rPr sz="900" b="1">
                          <a:solidFill>
                            <a:srgbClr val="0A2540"/>
                          </a:solidFill>
                          <a:latin typeface="Georgia"/>
                        </a:rPr>
                        <a:t>Sello en punto de venta</a:t>
                      </a:r>
                    </a:p>
                  </a:txBody>
                  <a:tcPr marL="73152" marR="45720" anchor="ctr">
                    <a:solidFill>
                      <a:srgbClr val="F6F3EC"/>
                    </a:solidFill>
                  </a:tcPr>
                </a:tc>
                <a:tc>
                  <a:txBody>
                    <a:bodyPr/>
                    <a:lstStyle/>
                    <a:p>
                      <a:r>
                        <a:rPr sz="900" b="0">
                          <a:solidFill>
                            <a:srgbClr val="0A2540"/>
                          </a:solidFill>
                          <a:latin typeface="Georgia"/>
                        </a:rPr>
                        <a:t>—</a:t>
                      </a:r>
                    </a:p>
                  </a:txBody>
                  <a:tcPr marL="73152" marR="45720" anchor="ctr">
                    <a:solidFill>
                      <a:srgbClr val="F6F3EC"/>
                    </a:solidFill>
                  </a:tcPr>
                </a:tc>
                <a:tc>
                  <a:txBody>
                    <a:bodyPr/>
                    <a:lstStyle/>
                    <a:p>
                      <a:r>
                        <a:rPr sz="900" b="1">
                          <a:solidFill>
                            <a:srgbClr val="0A2540"/>
                          </a:solidFill>
                          <a:latin typeface="Georgia"/>
                        </a:rPr>
                        <a:t>Sí</a:t>
                      </a:r>
                    </a:p>
                  </a:txBody>
                  <a:tcPr marL="73152" marR="45720" anchor="ctr">
                    <a:solidFill>
                      <a:srgbClr val="F4EAD5"/>
                    </a:solidFill>
                  </a:tcPr>
                </a:tc>
                <a:tc>
                  <a:txBody>
                    <a:bodyPr/>
                    <a:lstStyle/>
                    <a:p>
                      <a:r>
                        <a:rPr sz="900" b="0">
                          <a:solidFill>
                            <a:srgbClr val="0A2540"/>
                          </a:solidFill>
                          <a:latin typeface="Georgia"/>
                        </a:rPr>
                        <a:t>Sí</a:t>
                      </a:r>
                    </a:p>
                  </a:txBody>
                  <a:tcPr marL="73152" marR="45720" anchor="ctr">
                    <a:solidFill>
                      <a:srgbClr val="F6F3EC"/>
                    </a:solidFill>
                  </a:tcPr>
                </a:tc>
              </a:tr>
              <a:tr h="374904">
                <a:tc>
                  <a:txBody>
                    <a:bodyPr/>
                    <a:lstStyle/>
                    <a:p>
                      <a:r>
                        <a:rPr sz="900" b="1">
                          <a:solidFill>
                            <a:srgbClr val="0A2540"/>
                          </a:solidFill>
                          <a:latin typeface="Georgia"/>
                        </a:rPr>
                        <a:t>Experiencias por invitación</a:t>
                      </a:r>
                    </a:p>
                  </a:txBody>
                  <a:tcPr marL="73152" marR="45720" anchor="ctr">
                    <a:solidFill>
                      <a:srgbClr val="FFFDF9"/>
                    </a:solidFill>
                  </a:tcPr>
                </a:tc>
                <a:tc>
                  <a:txBody>
                    <a:bodyPr/>
                    <a:lstStyle/>
                    <a:p>
                      <a:r>
                        <a:rPr sz="900" b="0">
                          <a:solidFill>
                            <a:srgbClr val="0A2540"/>
                          </a:solidFill>
                          <a:latin typeface="Georgia"/>
                        </a:rPr>
                        <a:t>—</a:t>
                      </a:r>
                    </a:p>
                  </a:txBody>
                  <a:tcPr marL="73152" marR="45720" anchor="ctr">
                    <a:solidFill>
                      <a:srgbClr val="FFFDF9"/>
                    </a:solidFill>
                  </a:tcPr>
                </a:tc>
                <a:tc>
                  <a:txBody>
                    <a:bodyPr/>
                    <a:lstStyle/>
                    <a:p>
                      <a:r>
                        <a:rPr sz="900" b="1">
                          <a:solidFill>
                            <a:srgbClr val="0A2540"/>
                          </a:solidFill>
                          <a:latin typeface="Georgia"/>
                        </a:rPr>
                        <a:t>1</a:t>
                      </a:r>
                    </a:p>
                  </a:txBody>
                  <a:tcPr marL="73152" marR="45720" anchor="ctr">
                    <a:solidFill>
                      <a:srgbClr val="F4EAD5"/>
                    </a:solidFill>
                  </a:tcPr>
                </a:tc>
                <a:tc>
                  <a:txBody>
                    <a:bodyPr/>
                    <a:lstStyle/>
                    <a:p>
                      <a:r>
                        <a:rPr sz="900" b="0">
                          <a:solidFill>
                            <a:srgbClr val="0A2540"/>
                          </a:solidFill>
                          <a:latin typeface="Georgia"/>
                        </a:rPr>
                        <a:t>2</a:t>
                      </a:r>
                    </a:p>
                  </a:txBody>
                  <a:tcPr marL="73152" marR="45720" anchor="ctr">
                    <a:solidFill>
                      <a:srgbClr val="FFFDF9"/>
                    </a:solidFill>
                  </a:tcPr>
                </a:tc>
              </a:tr>
              <a:tr h="374904">
                <a:tc>
                  <a:txBody>
                    <a:bodyPr/>
                    <a:lstStyle/>
                    <a:p>
                      <a:r>
                        <a:rPr sz="900" b="1">
                          <a:solidFill>
                            <a:srgbClr val="0A2540"/>
                          </a:solidFill>
                          <a:latin typeface="Georgia"/>
                        </a:rPr>
                        <a:t>Video</a:t>
                      </a:r>
                    </a:p>
                  </a:txBody>
                  <a:tcPr marL="73152" marR="45720" anchor="ctr">
                    <a:solidFill>
                      <a:srgbClr val="F6F3EC"/>
                    </a:solidFill>
                  </a:tcPr>
                </a:tc>
                <a:tc>
                  <a:txBody>
                    <a:bodyPr/>
                    <a:lstStyle/>
                    <a:p>
                      <a:r>
                        <a:rPr sz="900" b="0">
                          <a:solidFill>
                            <a:srgbClr val="0A2540"/>
                          </a:solidFill>
                          <a:latin typeface="Georgia"/>
                        </a:rPr>
                        <a:t>Manifiesto</a:t>
                      </a:r>
                    </a:p>
                  </a:txBody>
                  <a:tcPr marL="73152" marR="45720" anchor="ctr">
                    <a:solidFill>
                      <a:srgbClr val="F6F3EC"/>
                    </a:solidFill>
                  </a:tcPr>
                </a:tc>
                <a:tc>
                  <a:txBody>
                    <a:bodyPr/>
                    <a:lstStyle/>
                    <a:p>
                      <a:r>
                        <a:rPr sz="900" b="1">
                          <a:solidFill>
                            <a:srgbClr val="0A2540"/>
                          </a:solidFill>
                          <a:latin typeface="Georgia"/>
                        </a:rPr>
                        <a:t>Manifiesto + cocineros</a:t>
                      </a:r>
                    </a:p>
                  </a:txBody>
                  <a:tcPr marL="73152" marR="45720" anchor="ctr">
                    <a:solidFill>
                      <a:srgbClr val="F4EAD5"/>
                    </a:solidFill>
                  </a:tcPr>
                </a:tc>
                <a:tc>
                  <a:txBody>
                    <a:bodyPr/>
                    <a:lstStyle/>
                    <a:p>
                      <a:r>
                        <a:rPr sz="900" b="0">
                          <a:solidFill>
                            <a:srgbClr val="0A2540"/>
                          </a:solidFill>
                          <a:latin typeface="Georgia"/>
                        </a:rPr>
                        <a:t>+ personaje invitado</a:t>
                      </a:r>
                    </a:p>
                  </a:txBody>
                  <a:tcPr marL="73152" marR="45720" anchor="ctr">
                    <a:solidFill>
                      <a:srgbClr val="F6F3EC"/>
                    </a:solidFill>
                  </a:tcPr>
                </a:tc>
              </a:tr>
              <a:tr h="374904">
                <a:tc>
                  <a:txBody>
                    <a:bodyPr/>
                    <a:lstStyle/>
                    <a:p>
                      <a:r>
                        <a:rPr sz="900" b="1">
                          <a:solidFill>
                            <a:srgbClr val="0A2540"/>
                          </a:solidFill>
                          <a:latin typeface="Georgia"/>
                        </a:rPr>
                        <a:t>Medición de solicitudes</a:t>
                      </a:r>
                    </a:p>
                  </a:txBody>
                  <a:tcPr marL="73152" marR="45720" anchor="ctr">
                    <a:solidFill>
                      <a:srgbClr val="FFFDF9"/>
                    </a:solidFill>
                  </a:tcPr>
                </a:tc>
                <a:tc>
                  <a:txBody>
                    <a:bodyPr/>
                    <a:lstStyle/>
                    <a:p>
                      <a:r>
                        <a:rPr sz="900" b="0">
                          <a:solidFill>
                            <a:srgbClr val="0A2540"/>
                          </a:solidFill>
                          <a:latin typeface="Georgia"/>
                        </a:rPr>
                        <a:t>Parcial</a:t>
                      </a:r>
                    </a:p>
                  </a:txBody>
                  <a:tcPr marL="73152" marR="45720" anchor="ctr">
                    <a:solidFill>
                      <a:srgbClr val="FFFDF9"/>
                    </a:solidFill>
                  </a:tcPr>
                </a:tc>
                <a:tc>
                  <a:txBody>
                    <a:bodyPr/>
                    <a:lstStyle/>
                    <a:p>
                      <a:r>
                        <a:rPr sz="900" b="1">
                          <a:solidFill>
                            <a:srgbClr val="0A2540"/>
                          </a:solidFill>
                          <a:latin typeface="Georgia"/>
                        </a:rPr>
                        <a:t>Completa</a:t>
                      </a:r>
                    </a:p>
                  </a:txBody>
                  <a:tcPr marL="73152" marR="45720" anchor="ctr">
                    <a:solidFill>
                      <a:srgbClr val="F4EAD5"/>
                    </a:solidFill>
                  </a:tcPr>
                </a:tc>
                <a:tc>
                  <a:txBody>
                    <a:bodyPr/>
                    <a:lstStyle/>
                    <a:p>
                      <a:r>
                        <a:rPr sz="900" b="0">
                          <a:solidFill>
                            <a:srgbClr val="0A2540"/>
                          </a:solidFill>
                          <a:latin typeface="Georgia"/>
                        </a:rPr>
                        <a:t>Completa</a:t>
                      </a:r>
                    </a:p>
                  </a:txBody>
                  <a:tcPr marL="73152" marR="45720" anchor="ctr">
                    <a:solidFill>
                      <a:srgbClr val="FFFDF9"/>
                    </a:solidFill>
                  </a:tcPr>
                </a:tc>
              </a:tr>
            </a:tbl>
          </a:graphicData>
        </a:graphic>
      </p:graphicFrame>
      <p:sp>
        <p:nvSpPr>
          <p:cNvPr id="7" name="Rectangle 6"/>
          <p:cNvSpPr/>
          <p:nvPr/>
        </p:nvSpPr>
        <p:spPr>
          <a:xfrm>
            <a:off x="731520" y="5486400"/>
            <a:ext cx="10725912" cy="713232"/>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5641848"/>
            <a:ext cx="10396728"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POR QUÉ RECOMENDAMOS LA OPCIÓN B</a:t>
            </a:r>
          </a:p>
        </p:txBody>
      </p:sp>
      <p:sp>
        <p:nvSpPr>
          <p:cNvPr id="9" name="TextBox 8"/>
          <p:cNvSpPr txBox="1"/>
          <p:nvPr/>
        </p:nvSpPr>
        <p:spPr>
          <a:xfrm>
            <a:off x="896112" y="5852160"/>
            <a:ext cx="10396728" cy="219455"/>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Es el alcance mínimo que activa los dos objetivos y deja medición de punta a punta. La opción A instala marca sin construir la red; la C amplía cobertura cuando el presupuesto lo permita.</a:t>
            </a:r>
          </a:p>
        </p:txBody>
      </p:sp>
      <p:sp>
        <p:nvSpPr>
          <p:cNvPr id="10" name="TextBox 9"/>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TARIFAS 2026 SUJETAS A IVA</a:t>
            </a:r>
          </a:p>
        </p:txBody>
      </p:sp>
      <p:sp>
        <p:nvSpPr>
          <p:cNvPr id="11" name="TextBox 10"/>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alanca.jpg"/>
          <p:cNvPicPr>
            <a:picLocks noChangeAspect="1"/>
          </p:cNvPicPr>
          <p:nvPr/>
        </p:nvPicPr>
        <p:blipFill>
          <a:blip r:embed="rId2"/>
          <a:stretch>
            <a:fillRect/>
          </a:stretch>
        </p:blipFill>
        <p:spPr>
          <a:xfrm>
            <a:off x="8001000" y="0"/>
            <a:ext cx="4187952" cy="6858000"/>
          </a:xfrm>
          <a:prstGeom prst="rect">
            <a:avLst/>
          </a:prstGeom>
        </p:spPr>
      </p:pic>
      <p:sp>
        <p:nvSpPr>
          <p:cNvPr id="4" name="Rectangle 3"/>
          <p:cNvSpPr/>
          <p:nvPr/>
        </p:nvSpPr>
        <p:spPr>
          <a:xfrm>
            <a:off x="8001000" y="0"/>
            <a:ext cx="4187952" cy="6858000"/>
          </a:xfrm>
          <a:prstGeom prst="rect">
            <a:avLst/>
          </a:prstGeom>
          <a:solidFill>
            <a:srgbClr val="0A2540">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57031" y="5532120"/>
            <a:ext cx="3675887" cy="914400"/>
          </a:xfrm>
          <a:prstGeom prst="rect">
            <a:avLst/>
          </a:prstGeom>
          <a:noFill/>
        </p:spPr>
        <p:txBody>
          <a:bodyPr wrap="square" lIns="0" rIns="0" tIns="0" bIns="0" anchor="b">
            <a:spAutoFit/>
          </a:bodyPr>
          <a:lstStyle/>
          <a:p>
            <a:pPr algn="l">
              <a:lnSpc>
                <a:spcPct val="115000"/>
              </a:lnSpc>
              <a:spcAft>
                <a:spcPts val="0"/>
              </a:spcAft>
            </a:pPr>
            <a:r>
              <a:rPr sz="1800" b="0">
                <a:solidFill>
                  <a:srgbClr val="FFFFFF"/>
                </a:solidFill>
                <a:latin typeface="Georgia"/>
              </a:rPr>
              <a:t>El territorio lo
construyó una
casa editorial</a:t>
            </a:r>
          </a:p>
        </p:txBody>
      </p:sp>
      <p:sp>
        <p:nvSpPr>
          <p:cNvPr id="6" name="TextBox 5"/>
          <p:cNvSpPr txBox="1"/>
          <p:nvPr/>
        </p:nvSpPr>
        <p:spPr>
          <a:xfrm>
            <a:off x="8257031" y="6437376"/>
            <a:ext cx="3675887" cy="256032"/>
          </a:xfrm>
          <a:prstGeom prst="rect">
            <a:avLst/>
          </a:prstGeom>
          <a:noFill/>
        </p:spPr>
        <p:txBody>
          <a:bodyPr wrap="square" lIns="0" rIns="0" tIns="0" bIns="0" anchor="t">
            <a:spAutoFit/>
          </a:bodyPr>
          <a:lstStyle/>
          <a:p>
            <a:pPr algn="l">
              <a:lnSpc>
                <a:spcPct val="108000"/>
              </a:lnSpc>
              <a:spcAft>
                <a:spcPts val="0"/>
              </a:spcAft>
            </a:pPr>
            <a:r>
              <a:rPr sz="800" b="0">
                <a:solidFill>
                  <a:srgbClr val="C9CED6"/>
                </a:solidFill>
                <a:latin typeface="Helvetica Neue"/>
              </a:rPr>
              <a:t>DINERS CLUB DEL ECUADOR</a:t>
            </a:r>
          </a:p>
        </p:txBody>
      </p:sp>
      <p:sp>
        <p:nvSpPr>
          <p:cNvPr id="7" name="TextBox 6"/>
          <p:cNvSpPr txBox="1"/>
          <p:nvPr/>
        </p:nvSpPr>
        <p:spPr>
          <a:xfrm>
            <a:off x="731520" y="621792"/>
            <a:ext cx="7863840" cy="237744"/>
          </a:xfrm>
          <a:prstGeom prst="rect">
            <a:avLst/>
          </a:prstGeom>
          <a:noFill/>
        </p:spPr>
        <p:txBody>
          <a:bodyPr wrap="square" lIns="0" rIns="0" tIns="0" bIns="0" anchor="t">
            <a:spAutoFit/>
          </a:bodyPr>
          <a:lstStyle/>
          <a:p>
            <a:pPr algn="l">
              <a:lnSpc>
                <a:spcPct val="108000"/>
              </a:lnSpc>
              <a:spcAft>
                <a:spcPts val="0"/>
              </a:spcAft>
            </a:pPr>
            <a:r>
              <a:rPr sz="850" b="1">
                <a:solidFill>
                  <a:srgbClr val="8A6B1F"/>
                </a:solidFill>
                <a:latin typeface="Helvetica Neue"/>
              </a:rPr>
              <a:t>CASO DE REFERENCIA EN LA REGIÓN</a:t>
            </a:r>
          </a:p>
        </p:txBody>
      </p:sp>
      <p:sp>
        <p:nvSpPr>
          <p:cNvPr id="8" name="TextBox 7"/>
          <p:cNvSpPr txBox="1"/>
          <p:nvPr/>
        </p:nvSpPr>
        <p:spPr>
          <a:xfrm>
            <a:off x="731520" y="932688"/>
            <a:ext cx="6675120" cy="1188720"/>
          </a:xfrm>
          <a:prstGeom prst="rect">
            <a:avLst/>
          </a:prstGeom>
          <a:noFill/>
        </p:spPr>
        <p:txBody>
          <a:bodyPr wrap="square" lIns="0" rIns="0" tIns="0" bIns="0" anchor="t">
            <a:spAutoFit/>
          </a:bodyPr>
          <a:lstStyle/>
          <a:p>
            <a:pPr algn="l">
              <a:lnSpc>
                <a:spcPct val="102000"/>
              </a:lnSpc>
              <a:spcAft>
                <a:spcPts val="0"/>
              </a:spcAft>
            </a:pPr>
            <a:r>
              <a:rPr sz="3100" b="0">
                <a:solidFill>
                  <a:srgbClr val="0A2540"/>
                </a:solidFill>
                <a:latin typeface="Georgia"/>
              </a:rPr>
              <a:t>Lo que ya funcionó en Ecuador</a:t>
            </a:r>
          </a:p>
        </p:txBody>
      </p:sp>
      <p:sp>
        <p:nvSpPr>
          <p:cNvPr id="9" name="Rectangle 8"/>
          <p:cNvSpPr/>
          <p:nvPr/>
        </p:nvSpPr>
        <p:spPr>
          <a:xfrm>
            <a:off x="731520" y="1737360"/>
            <a:ext cx="6583680" cy="2377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83664"/>
            <a:ext cx="6583680" cy="73152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La franquicia construyó su territorio gastronómico apoyada en su propia casa editorial.</a:t>
            </a:r>
          </a:p>
        </p:txBody>
      </p:sp>
      <p:sp>
        <p:nvSpPr>
          <p:cNvPr id="11" name="Rectangle 10"/>
          <p:cNvSpPr/>
          <p:nvPr/>
        </p:nvSpPr>
        <p:spPr>
          <a:xfrm>
            <a:off x="731520" y="2468880"/>
            <a:ext cx="2084831" cy="118872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2633472"/>
            <a:ext cx="1828800" cy="411480"/>
          </a:xfrm>
          <a:prstGeom prst="rect">
            <a:avLst/>
          </a:prstGeom>
          <a:noFill/>
        </p:spPr>
        <p:txBody>
          <a:bodyPr wrap="square" lIns="0" rIns="0" tIns="0" bIns="0" anchor="t">
            <a:spAutoFit/>
          </a:bodyPr>
          <a:lstStyle/>
          <a:p>
            <a:pPr algn="l">
              <a:lnSpc>
                <a:spcPct val="108000"/>
              </a:lnSpc>
              <a:spcAft>
                <a:spcPts val="0"/>
              </a:spcAft>
            </a:pPr>
            <a:r>
              <a:rPr sz="1900" b="1">
                <a:solidFill>
                  <a:srgbClr val="8A6B1F"/>
                </a:solidFill>
                <a:latin typeface="Georgia"/>
              </a:rPr>
              <a:t>76%</a:t>
            </a:r>
          </a:p>
        </p:txBody>
      </p:sp>
      <p:sp>
        <p:nvSpPr>
          <p:cNvPr id="13" name="TextBox 12"/>
          <p:cNvSpPr txBox="1"/>
          <p:nvPr/>
        </p:nvSpPr>
        <p:spPr>
          <a:xfrm>
            <a:off x="877824" y="3090672"/>
            <a:ext cx="1828800" cy="502920"/>
          </a:xfrm>
          <a:prstGeom prst="rect">
            <a:avLst/>
          </a:prstGeom>
          <a:noFill/>
        </p:spPr>
        <p:txBody>
          <a:bodyPr wrap="square" lIns="0" rIns="0" tIns="0" bIns="0" anchor="t">
            <a:spAutoFit/>
          </a:bodyPr>
          <a:lstStyle/>
          <a:p>
            <a:pPr algn="l">
              <a:lnSpc>
                <a:spcPct val="122000"/>
              </a:lnSpc>
              <a:spcAft>
                <a:spcPts val="0"/>
              </a:spcAft>
            </a:pPr>
            <a:r>
              <a:rPr sz="720" b="0">
                <a:solidFill>
                  <a:srgbClr val="75808F"/>
                </a:solidFill>
                <a:latin typeface="Helvetica Neue"/>
              </a:rPr>
              <a:t>Recordación de marca en socios, en experiencias gastronómicas</a:t>
            </a:r>
          </a:p>
        </p:txBody>
      </p:sp>
      <p:sp>
        <p:nvSpPr>
          <p:cNvPr id="14" name="Rectangle 13"/>
          <p:cNvSpPr/>
          <p:nvPr/>
        </p:nvSpPr>
        <p:spPr>
          <a:xfrm>
            <a:off x="2962656" y="2468880"/>
            <a:ext cx="2084831" cy="118872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2633472"/>
            <a:ext cx="1828800" cy="411480"/>
          </a:xfrm>
          <a:prstGeom prst="rect">
            <a:avLst/>
          </a:prstGeom>
          <a:noFill/>
        </p:spPr>
        <p:txBody>
          <a:bodyPr wrap="square" lIns="0" rIns="0" tIns="0" bIns="0" anchor="t">
            <a:spAutoFit/>
          </a:bodyPr>
          <a:lstStyle/>
          <a:p>
            <a:pPr algn="l">
              <a:lnSpc>
                <a:spcPct val="108000"/>
              </a:lnSpc>
              <a:spcAft>
                <a:spcPts val="0"/>
              </a:spcAft>
            </a:pPr>
            <a:r>
              <a:rPr sz="1900" b="1">
                <a:solidFill>
                  <a:srgbClr val="0A2540"/>
                </a:solidFill>
                <a:latin typeface="Georgia"/>
              </a:rPr>
              <a:t>+14%</a:t>
            </a:r>
          </a:p>
        </p:txBody>
      </p:sp>
      <p:sp>
        <p:nvSpPr>
          <p:cNvPr id="16" name="TextBox 15"/>
          <p:cNvSpPr txBox="1"/>
          <p:nvPr/>
        </p:nvSpPr>
        <p:spPr>
          <a:xfrm>
            <a:off x="3108960" y="3090672"/>
            <a:ext cx="1828800" cy="502920"/>
          </a:xfrm>
          <a:prstGeom prst="rect">
            <a:avLst/>
          </a:prstGeom>
          <a:noFill/>
        </p:spPr>
        <p:txBody>
          <a:bodyPr wrap="square" lIns="0" rIns="0" tIns="0" bIns="0" anchor="t">
            <a:spAutoFit/>
          </a:bodyPr>
          <a:lstStyle/>
          <a:p>
            <a:pPr algn="l">
              <a:lnSpc>
                <a:spcPct val="122000"/>
              </a:lnSpc>
              <a:spcAft>
                <a:spcPts val="0"/>
              </a:spcAft>
            </a:pPr>
            <a:r>
              <a:rPr sz="720" b="0">
                <a:solidFill>
                  <a:srgbClr val="75808F"/>
                </a:solidFill>
                <a:latin typeface="Helvetica Neue"/>
              </a:rPr>
              <a:t>Incremento en socios del territorio</a:t>
            </a:r>
          </a:p>
        </p:txBody>
      </p:sp>
      <p:sp>
        <p:nvSpPr>
          <p:cNvPr id="17" name="Rectangle 16"/>
          <p:cNvSpPr/>
          <p:nvPr/>
        </p:nvSpPr>
        <p:spPr>
          <a:xfrm>
            <a:off x="5193792" y="2468880"/>
            <a:ext cx="2084831" cy="118872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096" y="2633472"/>
            <a:ext cx="1828800" cy="411480"/>
          </a:xfrm>
          <a:prstGeom prst="rect">
            <a:avLst/>
          </a:prstGeom>
          <a:noFill/>
        </p:spPr>
        <p:txBody>
          <a:bodyPr wrap="square" lIns="0" rIns="0" tIns="0" bIns="0" anchor="t">
            <a:spAutoFit/>
          </a:bodyPr>
          <a:lstStyle/>
          <a:p>
            <a:pPr algn="l">
              <a:lnSpc>
                <a:spcPct val="108000"/>
              </a:lnSpc>
              <a:spcAft>
                <a:spcPts val="0"/>
              </a:spcAft>
            </a:pPr>
            <a:r>
              <a:rPr sz="1900" b="1">
                <a:solidFill>
                  <a:srgbClr val="0A2540"/>
                </a:solidFill>
                <a:latin typeface="Georgia"/>
              </a:rPr>
              <a:t>1.053</a:t>
            </a:r>
          </a:p>
        </p:txBody>
      </p:sp>
      <p:sp>
        <p:nvSpPr>
          <p:cNvPr id="19" name="TextBox 18"/>
          <p:cNvSpPr txBox="1"/>
          <p:nvPr/>
        </p:nvSpPr>
        <p:spPr>
          <a:xfrm>
            <a:off x="5340096" y="3090672"/>
            <a:ext cx="1828800" cy="502920"/>
          </a:xfrm>
          <a:prstGeom prst="rect">
            <a:avLst/>
          </a:prstGeom>
          <a:noFill/>
        </p:spPr>
        <p:txBody>
          <a:bodyPr wrap="square" lIns="0" rIns="0" tIns="0" bIns="0" anchor="t">
            <a:spAutoFit/>
          </a:bodyPr>
          <a:lstStyle/>
          <a:p>
            <a:pPr algn="l">
              <a:lnSpc>
                <a:spcPct val="122000"/>
              </a:lnSpc>
              <a:spcAft>
                <a:spcPts val="0"/>
              </a:spcAft>
            </a:pPr>
            <a:r>
              <a:rPr sz="720" b="0">
                <a:solidFill>
                  <a:srgbClr val="75808F"/>
                </a:solidFill>
                <a:latin typeface="Helvetica Neue"/>
              </a:rPr>
              <a:t>Recetas compiladas en libros de su editorial</a:t>
            </a:r>
          </a:p>
        </p:txBody>
      </p:sp>
      <p:sp>
        <p:nvSpPr>
          <p:cNvPr id="20" name="Rectangle 19"/>
          <p:cNvSpPr/>
          <p:nvPr/>
        </p:nvSpPr>
        <p:spPr>
          <a:xfrm>
            <a:off x="731520" y="3840480"/>
            <a:ext cx="6583680" cy="214884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995928"/>
            <a:ext cx="6254496"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LO QUE DEMUESTRA</a:t>
            </a:r>
          </a:p>
        </p:txBody>
      </p:sp>
      <p:sp>
        <p:nvSpPr>
          <p:cNvPr id="22" name="TextBox 21"/>
          <p:cNvSpPr txBox="1"/>
          <p:nvPr/>
        </p:nvSpPr>
        <p:spPr>
          <a:xfrm>
            <a:off x="896112" y="4206240"/>
            <a:ext cx="6254496" cy="457200"/>
          </a:xfrm>
          <a:prstGeom prst="rect">
            <a:avLst/>
          </a:prstGeom>
          <a:noFill/>
        </p:spPr>
        <p:txBody>
          <a:bodyPr wrap="square" lIns="0" rIns="0" tIns="0" bIns="0" anchor="t">
            <a:spAutoFit/>
          </a:bodyPr>
          <a:lstStyle/>
          <a:p>
            <a:pPr algn="l">
              <a:lnSpc>
                <a:spcPct val="106000"/>
              </a:lnSpc>
              <a:spcAft>
                <a:spcPts val="0"/>
              </a:spcAft>
            </a:pPr>
            <a:r>
              <a:rPr sz="1300" b="1">
                <a:solidFill>
                  <a:srgbClr val="FFFFFF"/>
                </a:solidFill>
                <a:latin typeface="Georgia"/>
              </a:rPr>
              <a:t>La casa editorial es el motor</a:t>
            </a:r>
          </a:p>
        </p:txBody>
      </p:sp>
      <p:sp>
        <p:nvSpPr>
          <p:cNvPr id="23" name="TextBox 22"/>
          <p:cNvSpPr txBox="1"/>
          <p:nvPr/>
        </p:nvSpPr>
        <p:spPr>
          <a:xfrm>
            <a:off x="896112" y="4562856"/>
            <a:ext cx="6254496" cy="1298448"/>
          </a:xfrm>
          <a:prstGeom prst="rect">
            <a:avLst/>
          </a:prstGeom>
          <a:noFill/>
        </p:spPr>
        <p:txBody>
          <a:bodyPr wrap="square" lIns="0" rIns="0" tIns="0" bIns="0" anchor="t">
            <a:spAutoFit/>
          </a:bodyPr>
          <a:lstStyle/>
          <a:p>
            <a:pPr algn="l">
              <a:lnSpc>
                <a:spcPct val="126000"/>
              </a:lnSpc>
              <a:spcAft>
                <a:spcPts val="0"/>
              </a:spcAft>
            </a:pPr>
            <a:r>
              <a:rPr sz="919" b="0">
                <a:solidFill>
                  <a:srgbClr val="D8DDE4"/>
                </a:solidFill>
                <a:latin typeface="Helvetica Neue"/>
              </a:rPr>
              <a:t>El territorio no se construyó solo con pauta: se construyó con contenido propio, publicaciones y series, producidas por la editorial del emisor. Ediciones Gamma ocupa en Colombia la misma posición, con una revista homónima de 60 años, una unidad de Libros en operación y un alcance mensual de 1.133.000 personas.</a:t>
            </a:r>
          </a:p>
        </p:txBody>
      </p:sp>
      <p:sp>
        <p:nvSpPr>
          <p:cNvPr id="24" name="TextBox 23"/>
          <p:cNvSpPr txBox="1"/>
          <p:nvPr/>
        </p:nvSpPr>
        <p:spPr>
          <a:xfrm>
            <a:off x="731520" y="6327648"/>
            <a:ext cx="8229600" cy="219456"/>
          </a:xfrm>
          <a:prstGeom prst="rect">
            <a:avLst/>
          </a:prstGeom>
          <a:noFill/>
        </p:spPr>
        <p:txBody>
          <a:bodyPr wrap="square" lIns="0" rIns="0" tIns="0" bIns="0" anchor="t">
            <a:spAutoFit/>
          </a:bodyPr>
          <a:lstStyle/>
          <a:p>
            <a:pPr algn="l">
              <a:lnSpc>
                <a:spcPct val="108000"/>
              </a:lnSpc>
              <a:spcAft>
                <a:spcPts val="0"/>
              </a:spcAft>
            </a:pPr>
            <a:r>
              <a:rPr sz="700" b="0">
                <a:solidFill>
                  <a:srgbClr val="75808F"/>
                </a:solidFill>
                <a:latin typeface="Helvetica Neue"/>
              </a:rPr>
              <a:t>CAROLINA RAMIREZ · EDICIONES GAMMA</a:t>
            </a:r>
          </a:p>
        </p:txBody>
      </p:sp>
      <p:sp>
        <p:nvSpPr>
          <p:cNvPr id="25" name="TextBox 24"/>
          <p:cNvSpPr txBox="1"/>
          <p:nvPr/>
        </p:nvSpPr>
        <p:spPr>
          <a:xfrm>
            <a:off x="10454335" y="6327648"/>
            <a:ext cx="1005840" cy="219456"/>
          </a:xfrm>
          <a:prstGeom prst="rect">
            <a:avLst/>
          </a:prstGeom>
          <a:noFill/>
        </p:spPr>
        <p:txBody>
          <a:bodyPr wrap="square" lIns="0" rIns="0" tIns="0" bIns="0" anchor="t">
            <a:spAutoFit/>
          </a:bodyPr>
          <a:lstStyle/>
          <a:p>
            <a:pPr algn="r">
              <a:lnSpc>
                <a:spcPct val="108000"/>
              </a:lnSpc>
              <a:spcAft>
                <a:spcPts val="0"/>
              </a:spcAft>
            </a:pPr>
            <a:r>
              <a:rPr sz="800" b="1">
                <a:solidFill>
                  <a:srgbClr val="8A6B1F"/>
                </a:solidFill>
                <a:latin typeface="Helvetica Neue"/>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