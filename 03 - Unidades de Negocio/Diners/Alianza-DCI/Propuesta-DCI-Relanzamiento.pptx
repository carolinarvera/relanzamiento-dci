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n.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7315200" cy="219456"/>
          </a:xfrm>
          <a:prstGeom prst="rect">
            <a:avLst/>
          </a:prstGeom>
          <a:noFill/>
        </p:spPr>
        <p:txBody>
          <a:bodyPr wrap="square" lIns="0" rIns="0" tIns="0" bIns="0">
            <a:normAutofit/>
          </a:bodyPr>
          <a:lstStyle/>
          <a:p>
            <a:r>
              <a:rPr sz="800" b="1" i="0" spc="180">
                <a:solidFill>
                  <a:srgbClr val="F5F3C4"/>
                </a:solidFill>
                <a:latin typeface="Avenir Next"/>
              </a:rPr>
              <a:t>DINERS CLUB INTERNATIONAL · EDICIONES GAMMA · OCTUBRE 2026</a:t>
            </a:r>
          </a:p>
        </p:txBody>
      </p:sp>
      <p:sp>
        <p:nvSpPr>
          <p:cNvPr id="5" name="TextBox 4"/>
          <p:cNvSpPr txBox="1"/>
          <p:nvPr/>
        </p:nvSpPr>
        <p:spPr>
          <a:xfrm>
            <a:off x="731520" y="1371600"/>
            <a:ext cx="6766560" cy="1737360"/>
          </a:xfrm>
          <a:prstGeom prst="rect">
            <a:avLst/>
          </a:prstGeom>
          <a:noFill/>
        </p:spPr>
        <p:txBody>
          <a:bodyPr wrap="square" lIns="0" rIns="0" tIns="0" bIns="0">
            <a:normAutofit/>
          </a:bodyPr>
          <a:lstStyle/>
          <a:p>
            <a:pPr>
              <a:lnSpc>
                <a:spcPct val="100000"/>
              </a:lnSpc>
            </a:pPr>
            <a:r>
              <a:rPr sz="4600" b="0" i="0">
                <a:solidFill>
                  <a:srgbClr val="CCECF9"/>
                </a:solidFill>
                <a:latin typeface="Baskerville"/>
              </a:rPr>
              <a:t>Unlock Interesting
</a:t>
            </a:r>
            <a:r>
              <a:rPr sz="4600" b="0" i="0">
                <a:solidFill>
                  <a:srgbClr val="CCECF9"/>
                </a:solidFill>
                <a:latin typeface="Baskerville"/>
              </a:rPr>
              <a:t>llega a </a:t>
            </a:r>
            <a:r>
              <a:rPr sz="4600" b="0" i="1">
                <a:solidFill>
                  <a:srgbClr val="F5F3C4"/>
                </a:solidFill>
                <a:latin typeface="Baskerville"/>
              </a:rPr>
              <a:t>Colombia</a:t>
            </a:r>
          </a:p>
        </p:txBody>
      </p:sp>
      <p:sp>
        <p:nvSpPr>
          <p:cNvPr id="6" name="TextBox 5"/>
          <p:cNvSpPr txBox="1"/>
          <p:nvPr/>
        </p:nvSpPr>
        <p:spPr>
          <a:xfrm>
            <a:off x="731520" y="3218688"/>
            <a:ext cx="6035040" cy="731520"/>
          </a:xfrm>
          <a:prstGeom prst="rect">
            <a:avLst/>
          </a:prstGeom>
          <a:noFill/>
        </p:spPr>
        <p:txBody>
          <a:bodyPr wrap="square" lIns="0" rIns="0" tIns="0" bIns="0">
            <a:normAutofit/>
          </a:bodyPr>
          <a:lstStyle/>
          <a:p>
            <a:pPr>
              <a:lnSpc>
                <a:spcPct val="145000"/>
              </a:lnSpc>
            </a:pPr>
            <a:r>
              <a:rPr sz="1040" b="0" i="0">
                <a:solidFill>
                  <a:srgbClr val="A8C4DA"/>
                </a:solidFill>
                <a:latin typeface="Avenir Next"/>
              </a:rPr>
              <a:t>El lanzamiento de la marca Diners Club ante quien todavía no es Clubmember. Doce semanas, con el ecosistema de Ediciones Gamma como medio de lanzamiento.</a:t>
            </a:r>
          </a:p>
        </p:txBody>
      </p:sp>
      <p:sp>
        <p:nvSpPr>
          <p:cNvPr id="7" name="Rounded Rectangle 6"/>
          <p:cNvSpPr/>
          <p:nvPr/>
        </p:nvSpPr>
        <p:spPr>
          <a:xfrm>
            <a:off x="731520" y="4279392"/>
            <a:ext cx="2029968" cy="1371600"/>
          </a:xfrm>
          <a:prstGeom prst="roundRect">
            <a:avLst>
              <a:gd name="adj" fmla="val 12666"/>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TextBox 7"/>
          <p:cNvSpPr txBox="1"/>
          <p:nvPr/>
        </p:nvSpPr>
        <p:spPr>
          <a:xfrm>
            <a:off x="950976" y="4462272"/>
            <a:ext cx="1591056" cy="182880"/>
          </a:xfrm>
          <a:prstGeom prst="rect">
            <a:avLst/>
          </a:prstGeom>
          <a:noFill/>
        </p:spPr>
        <p:txBody>
          <a:bodyPr wrap="square" lIns="0" rIns="0" tIns="0" bIns="0">
            <a:normAutofit/>
          </a:bodyPr>
          <a:lstStyle/>
          <a:p>
            <a:r>
              <a:rPr sz="680" b="1" i="0" spc="130">
                <a:solidFill>
                  <a:srgbClr val="F5F3C4"/>
                </a:solidFill>
                <a:latin typeface="Avenir Next"/>
              </a:rPr>
              <a:t>CLUBMEMBERS EN COLOMBIA</a:t>
            </a:r>
          </a:p>
        </p:txBody>
      </p:sp>
      <p:sp>
        <p:nvSpPr>
          <p:cNvPr id="9" name="TextBox 8"/>
          <p:cNvSpPr txBox="1"/>
          <p:nvPr/>
        </p:nvSpPr>
        <p:spPr>
          <a:xfrm>
            <a:off x="950976" y="4681728"/>
            <a:ext cx="1591056" cy="475488"/>
          </a:xfrm>
          <a:prstGeom prst="rect">
            <a:avLst/>
          </a:prstGeom>
          <a:noFill/>
        </p:spPr>
        <p:txBody>
          <a:bodyPr wrap="square" lIns="0" rIns="0" tIns="0" bIns="0">
            <a:normAutofit/>
          </a:bodyPr>
          <a:lstStyle/>
          <a:p>
            <a:pPr>
              <a:lnSpc>
                <a:spcPct val="100000"/>
              </a:lnSpc>
            </a:pPr>
            <a:r>
              <a:rPr sz="2500" b="0" i="0">
                <a:solidFill>
                  <a:srgbClr val="CCECF9"/>
                </a:solidFill>
                <a:latin typeface="Baskerville"/>
              </a:rPr>
              <a:t>169K</a:t>
            </a:r>
          </a:p>
        </p:txBody>
      </p:sp>
      <p:sp>
        <p:nvSpPr>
          <p:cNvPr id="10" name="TextBox 9"/>
          <p:cNvSpPr txBox="1"/>
          <p:nvPr/>
        </p:nvSpPr>
        <p:spPr>
          <a:xfrm>
            <a:off x="950976" y="5230368"/>
            <a:ext cx="1591056" cy="365760"/>
          </a:xfrm>
          <a:prstGeom prst="rect">
            <a:avLst/>
          </a:prstGeom>
          <a:noFill/>
        </p:spPr>
        <p:txBody>
          <a:bodyPr wrap="square" lIns="0" rIns="0" tIns="0" bIns="0">
            <a:normAutofit/>
          </a:bodyPr>
          <a:lstStyle/>
          <a:p>
            <a:pPr>
              <a:lnSpc>
                <a:spcPct val="130000"/>
              </a:lnSpc>
            </a:pPr>
            <a:r>
              <a:rPr sz="760" b="0" i="0">
                <a:solidFill>
                  <a:srgbClr val="CCECF9"/>
                </a:solidFill>
                <a:latin typeface="Avenir Next"/>
              </a:rPr>
              <a:t>18.4K en segmento Black</a:t>
            </a:r>
          </a:p>
        </p:txBody>
      </p:sp>
      <p:sp>
        <p:nvSpPr>
          <p:cNvPr id="11" name="Rounded Rectangle 10"/>
          <p:cNvSpPr/>
          <p:nvPr/>
        </p:nvSpPr>
        <p:spPr>
          <a:xfrm>
            <a:off x="2944368" y="4279392"/>
            <a:ext cx="2029968" cy="1371600"/>
          </a:xfrm>
          <a:prstGeom prst="roundRect">
            <a:avLst>
              <a:gd name="adj" fmla="val 12666"/>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2" name="TextBox 11"/>
          <p:cNvSpPr txBox="1"/>
          <p:nvPr/>
        </p:nvSpPr>
        <p:spPr>
          <a:xfrm>
            <a:off x="3163824" y="4462272"/>
            <a:ext cx="1591056" cy="182880"/>
          </a:xfrm>
          <a:prstGeom prst="rect">
            <a:avLst/>
          </a:prstGeom>
          <a:noFill/>
        </p:spPr>
        <p:txBody>
          <a:bodyPr wrap="square" lIns="0" rIns="0" tIns="0" bIns="0">
            <a:normAutofit/>
          </a:bodyPr>
          <a:lstStyle/>
          <a:p>
            <a:r>
              <a:rPr sz="680" b="1" i="0" spc="130">
                <a:solidFill>
                  <a:srgbClr val="F5F3C4"/>
                </a:solidFill>
                <a:latin typeface="Avenir Next"/>
              </a:rPr>
              <a:t>SUSCRIPTORES DE REVISTA DINERS</a:t>
            </a:r>
          </a:p>
        </p:txBody>
      </p:sp>
      <p:sp>
        <p:nvSpPr>
          <p:cNvPr id="13" name="TextBox 12"/>
          <p:cNvSpPr txBox="1"/>
          <p:nvPr/>
        </p:nvSpPr>
        <p:spPr>
          <a:xfrm>
            <a:off x="3163824" y="4681728"/>
            <a:ext cx="1591056" cy="475488"/>
          </a:xfrm>
          <a:prstGeom prst="rect">
            <a:avLst/>
          </a:prstGeom>
          <a:noFill/>
        </p:spPr>
        <p:txBody>
          <a:bodyPr wrap="square" lIns="0" rIns="0" tIns="0" bIns="0">
            <a:normAutofit/>
          </a:bodyPr>
          <a:lstStyle/>
          <a:p>
            <a:pPr>
              <a:lnSpc>
                <a:spcPct val="100000"/>
              </a:lnSpc>
            </a:pPr>
            <a:r>
              <a:rPr sz="2500" b="0" i="0">
                <a:solidFill>
                  <a:srgbClr val="CCECF9"/>
                </a:solidFill>
                <a:latin typeface="Baskerville"/>
              </a:rPr>
              <a:t>146.000</a:t>
            </a:r>
          </a:p>
        </p:txBody>
      </p:sp>
      <p:sp>
        <p:nvSpPr>
          <p:cNvPr id="14" name="TextBox 13"/>
          <p:cNvSpPr txBox="1"/>
          <p:nvPr/>
        </p:nvSpPr>
        <p:spPr>
          <a:xfrm>
            <a:off x="3163824" y="5230368"/>
            <a:ext cx="1591056" cy="365760"/>
          </a:xfrm>
          <a:prstGeom prst="rect">
            <a:avLst/>
          </a:prstGeom>
          <a:noFill/>
        </p:spPr>
        <p:txBody>
          <a:bodyPr wrap="square" lIns="0" rIns="0" tIns="0" bIns="0">
            <a:normAutofit/>
          </a:bodyPr>
          <a:lstStyle/>
          <a:p>
            <a:pPr>
              <a:lnSpc>
                <a:spcPct val="130000"/>
              </a:lnSpc>
            </a:pPr>
            <a:r>
              <a:rPr sz="760" b="0" i="0">
                <a:solidFill>
                  <a:srgbClr val="CCECF9"/>
                </a:solidFill>
                <a:latin typeface="Avenir Next"/>
              </a:rPr>
              <a:t>del mismo perfil premium que el Clubmember</a:t>
            </a:r>
          </a:p>
        </p:txBody>
      </p:sp>
      <p:sp>
        <p:nvSpPr>
          <p:cNvPr id="15" name="Rounded Rectangle 14"/>
          <p:cNvSpPr/>
          <p:nvPr/>
        </p:nvSpPr>
        <p:spPr>
          <a:xfrm>
            <a:off x="5157216" y="4279392"/>
            <a:ext cx="2029968" cy="1371600"/>
          </a:xfrm>
          <a:prstGeom prst="roundRect">
            <a:avLst>
              <a:gd name="adj" fmla="val 12666"/>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6" name="TextBox 15"/>
          <p:cNvSpPr txBox="1"/>
          <p:nvPr/>
        </p:nvSpPr>
        <p:spPr>
          <a:xfrm>
            <a:off x="5376672" y="4462272"/>
            <a:ext cx="1591056" cy="182880"/>
          </a:xfrm>
          <a:prstGeom prst="rect">
            <a:avLst/>
          </a:prstGeom>
          <a:noFill/>
        </p:spPr>
        <p:txBody>
          <a:bodyPr wrap="square" lIns="0" rIns="0" tIns="0" bIns="0">
            <a:normAutofit/>
          </a:bodyPr>
          <a:lstStyle/>
          <a:p>
            <a:r>
              <a:rPr sz="680" b="1" i="0" spc="130">
                <a:solidFill>
                  <a:srgbClr val="F5F3C4"/>
                </a:solidFill>
                <a:latin typeface="Avenir Next"/>
              </a:rPr>
              <a:t>LA REVISTA CON EL NOMBRE DE LA TARJETA</a:t>
            </a:r>
          </a:p>
        </p:txBody>
      </p:sp>
      <p:sp>
        <p:nvSpPr>
          <p:cNvPr id="17" name="TextBox 16"/>
          <p:cNvSpPr txBox="1"/>
          <p:nvPr/>
        </p:nvSpPr>
        <p:spPr>
          <a:xfrm>
            <a:off x="5376672" y="4681728"/>
            <a:ext cx="1591056" cy="475488"/>
          </a:xfrm>
          <a:prstGeom prst="rect">
            <a:avLst/>
          </a:prstGeom>
          <a:noFill/>
        </p:spPr>
        <p:txBody>
          <a:bodyPr wrap="square" lIns="0" rIns="0" tIns="0" bIns="0">
            <a:normAutofit/>
          </a:bodyPr>
          <a:lstStyle/>
          <a:p>
            <a:pPr>
              <a:lnSpc>
                <a:spcPct val="100000"/>
              </a:lnSpc>
            </a:pPr>
            <a:r>
              <a:rPr sz="2500" b="0" i="0">
                <a:solidFill>
                  <a:srgbClr val="CCECF9"/>
                </a:solidFill>
                <a:latin typeface="Baskerville"/>
              </a:rPr>
              <a:t>Desde 1963</a:t>
            </a:r>
          </a:p>
        </p:txBody>
      </p:sp>
      <p:sp>
        <p:nvSpPr>
          <p:cNvPr id="18" name="TextBox 17"/>
          <p:cNvSpPr txBox="1"/>
          <p:nvPr/>
        </p:nvSpPr>
        <p:spPr>
          <a:xfrm>
            <a:off x="5376672" y="5230368"/>
            <a:ext cx="1591056" cy="365760"/>
          </a:xfrm>
          <a:prstGeom prst="rect">
            <a:avLst/>
          </a:prstGeom>
          <a:noFill/>
        </p:spPr>
        <p:txBody>
          <a:bodyPr wrap="square" lIns="0" rIns="0" tIns="0" bIns="0">
            <a:normAutofit/>
          </a:bodyPr>
          <a:lstStyle/>
          <a:p>
            <a:pPr>
              <a:lnSpc>
                <a:spcPct val="130000"/>
              </a:lnSpc>
            </a:pPr>
            <a:r>
              <a:rPr sz="760" b="0" i="0">
                <a:solidFill>
                  <a:srgbClr val="CCECF9"/>
                </a:solidFill>
                <a:latin typeface="Avenir Next"/>
              </a:rPr>
              <a:t>una editorial con archivo propio</a:t>
            </a:r>
          </a:p>
        </p:txBody>
      </p:sp>
      <p:sp>
        <p:nvSpPr>
          <p:cNvPr id="19" name="Rectangle 18"/>
          <p:cNvSpPr/>
          <p:nvPr/>
        </p:nvSpPr>
        <p:spPr>
          <a:xfrm>
            <a:off x="7223760" y="1371600"/>
            <a:ext cx="4242816" cy="4279392"/>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0" name="TextBox 19"/>
          <p:cNvSpPr txBox="1"/>
          <p:nvPr/>
        </p:nvSpPr>
        <p:spPr>
          <a:xfrm>
            <a:off x="7680960" y="2688336"/>
            <a:ext cx="3328415" cy="1645920"/>
          </a:xfrm>
          <a:prstGeom prst="rect">
            <a:avLst/>
          </a:prstGeom>
          <a:noFill/>
        </p:spPr>
        <p:txBody>
          <a:bodyPr wrap="square" lIns="0" rIns="0" tIns="0" bIns="0">
            <a:normAutofit/>
          </a:bodyPr>
          <a:lstStyle/>
          <a:p>
            <a:pPr>
              <a:lnSpc>
                <a:spcPct val="116000"/>
              </a:lnSpc>
            </a:pPr>
            <a:r>
              <a:rPr sz="2300" b="0" i="0">
                <a:solidFill>
                  <a:srgbClr val="CCECF9"/>
                </a:solidFill>
                <a:latin typeface="Baskerville"/>
              </a:rPr>
              <a:t>It's the
</a:t>
            </a:r>
            <a:r>
              <a:rPr sz="2300" b="0" i="0">
                <a:solidFill>
                  <a:srgbClr val="F5F3C4"/>
                </a:solidFill>
                <a:latin typeface="Baskerville"/>
              </a:rPr>
              <a:t>( Dining ) </a:t>
            </a:r>
            <a:r>
              <a:rPr sz="2300" b="0" i="0">
                <a:solidFill>
                  <a:srgbClr val="CCECF9"/>
                </a:solidFill>
                <a:latin typeface="Baskerville"/>
              </a:rPr>
              <a:t>Club</a:t>
            </a:r>
          </a:p>
        </p:txBody>
      </p:sp>
      <p:pic>
        <p:nvPicPr>
          <p:cNvPr id="21" name="Picture 20" descr="logo_emb-n.png"/>
          <p:cNvPicPr>
            <a:picLocks noChangeAspect="1"/>
          </p:cNvPicPr>
          <p:nvPr/>
        </p:nvPicPr>
        <p:blipFill>
          <a:blip r:embed="rId3"/>
          <a:stretch>
            <a:fillRect/>
          </a:stretch>
        </p:blipFill>
        <p:spPr>
          <a:xfrm>
            <a:off x="7680960" y="4736592"/>
            <a:ext cx="566928" cy="566928"/>
          </a:xfrm>
          <a:prstGeom prst="rect">
            <a:avLst/>
          </a:prstGeom>
        </p:spPr>
      </p:pic>
      <p:sp>
        <p:nvSpPr>
          <p:cNvPr id="22" name="TextBox 21"/>
          <p:cNvSpPr txBox="1"/>
          <p:nvPr/>
        </p:nvSpPr>
        <p:spPr>
          <a:xfrm>
            <a:off x="731520" y="6291072"/>
            <a:ext cx="5486400" cy="201168"/>
          </a:xfrm>
          <a:prstGeom prst="rect">
            <a:avLst/>
          </a:prstGeom>
          <a:noFill/>
        </p:spPr>
        <p:txBody>
          <a:bodyPr wrap="square" lIns="0" rIns="0" tIns="0" bIns="0">
            <a:normAutofit/>
          </a:bodyPr>
          <a:lstStyle/>
          <a:p>
            <a:r>
              <a:rPr sz="700" b="0" i="0" spc="120">
                <a:solidFill>
                  <a:srgbClr val="A8C4DA"/>
                </a:solidFill>
                <a:latin typeface="Avenir Next"/>
              </a:rPr>
              <a:t>EDICIONES GAMMA · DOCUMENTO CONFIDENCIAL</a:t>
            </a:r>
          </a:p>
        </p:txBody>
      </p:sp>
      <p:sp>
        <p:nvSpPr>
          <p:cNvPr id="23" name="TextBox 22"/>
          <p:cNvSpPr txBox="1"/>
          <p:nvPr/>
        </p:nvSpPr>
        <p:spPr>
          <a:xfrm>
            <a:off x="8716975" y="6291072"/>
            <a:ext cx="2743200" cy="201168"/>
          </a:xfrm>
          <a:prstGeom prst="rect">
            <a:avLst/>
          </a:prstGeom>
          <a:noFill/>
        </p:spPr>
        <p:txBody>
          <a:bodyPr wrap="square" lIns="0" rIns="0" tIns="0" bIns="0">
            <a:normAutofit/>
          </a:bodyPr>
          <a:lstStyle/>
          <a:p>
            <a:r>
              <a:rPr sz="700" b="1" i="0" spc="120">
                <a:solidFill>
                  <a:srgbClr val="F5F3C4"/>
                </a:solidFill>
                <a:latin typeface="Avenir Next"/>
              </a:rPr>
              <a:t>TRES MESES DESDE LA FIRMA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EL ENCARGO</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Esto es lo que el roadmap </a:t>
            </a:r>
            <a:r>
              <a:rPr sz="2900" b="0" i="1">
                <a:solidFill>
                  <a:srgbClr val="004C97"/>
                </a:solidFill>
                <a:latin typeface="Baskerville"/>
              </a:rPr>
              <a:t>pidió</a:t>
            </a:r>
          </a:p>
        </p:txBody>
      </p:sp>
      <p:sp>
        <p:nvSpPr>
          <p:cNvPr id="6" name="TextBox 5"/>
          <p:cNvSpPr txBox="1"/>
          <p:nvPr/>
        </p:nvSpPr>
        <p:spPr>
          <a:xfrm>
            <a:off x="731520" y="1517904"/>
            <a:ext cx="1042416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El encargo tiene dos objetivos: relanzamiento estratégico de marca y posicionamiento de beneficios. Gamma lleva la marca a quien todavía no la tiene, en medios externos. Davivienda sigue hablando con los Clubmembers actuales por sus propios canales. Esta propuesta cubre el primer trimestre.</a:t>
            </a:r>
          </a:p>
        </p:txBody>
      </p:sp>
      <p:sp>
        <p:nvSpPr>
          <p:cNvPr id="7" name="Rectangle 6"/>
          <p:cNvSpPr/>
          <p:nvPr/>
        </p:nvSpPr>
        <p:spPr>
          <a:xfrm>
            <a:off x="731520" y="2176272"/>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359152"/>
            <a:ext cx="5577840" cy="3785615"/>
          </a:xfrm>
          <a:prstGeom prst="roundRect">
            <a:avLst>
              <a:gd name="adj" fmla="val 4589"/>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596896"/>
            <a:ext cx="5102352" cy="201168"/>
          </a:xfrm>
          <a:prstGeom prst="rect">
            <a:avLst/>
          </a:prstGeom>
          <a:noFill/>
        </p:spPr>
        <p:txBody>
          <a:bodyPr wrap="square" lIns="0" rIns="0" tIns="0" bIns="0">
            <a:normAutofit/>
          </a:bodyPr>
          <a:lstStyle/>
          <a:p>
            <a:r>
              <a:rPr sz="700" b="1" i="0" spc="130">
                <a:solidFill>
                  <a:srgbClr val="004C97"/>
                </a:solidFill>
                <a:latin typeface="Avenir Next"/>
              </a:rPr>
              <a:t>CALENDARIO DEL ROADMAP</a:t>
            </a:r>
          </a:p>
        </p:txBody>
      </p:sp>
      <p:graphicFrame>
        <p:nvGraphicFramePr>
          <p:cNvPr id="10" name="Table 9"/>
          <p:cNvGraphicFramePr>
            <a:graphicFrameLocks noGrp="1"/>
          </p:cNvGraphicFramePr>
          <p:nvPr/>
        </p:nvGraphicFramePr>
        <p:xfrm>
          <a:off x="969264" y="2871216"/>
          <a:ext cx="5102351" cy="2194560"/>
        </p:xfrm>
        <a:graphic>
          <a:graphicData uri="http://schemas.openxmlformats.org/drawingml/2006/table">
            <a:tbl>
              <a:tblPr>
                <a:tableStyleId>{5C22544A-7EE6-4342-B048-85BDC9FD1C3A}</a:tableStyleId>
              </a:tblPr>
              <a:tblGrid>
                <a:gridCol w="1457814"/>
                <a:gridCol w="3644537"/>
              </a:tblGrid>
              <a:tr h="274320">
                <a:tc>
                  <a:txBody>
                    <a:bodyPr/>
                    <a:lstStyle/>
                    <a:p>
                      <a:pPr>
                        <a:lnSpc>
                          <a:spcPct val="120000"/>
                        </a:lnSpc>
                      </a:pPr>
                      <a:r>
                        <a:rPr sz="720" b="1" spc="110">
                          <a:solidFill>
                            <a:srgbClr val="F3FAFA"/>
                          </a:solidFill>
                          <a:latin typeface="Avenir Next"/>
                        </a:rPr>
                        <a:t>Momento</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Qué ocurre</a:t>
                      </a:r>
                    </a:p>
                  </a:txBody>
                  <a:tcPr marL="82296" marR="82296" marT="22860" marB="22860" anchor="ctr">
                    <a:solidFill>
                      <a:srgbClr val="041E42"/>
                    </a:solidFill>
                  </a:tcPr>
                </a:tc>
              </a:tr>
              <a:tr h="384048">
                <a:tc>
                  <a:txBody>
                    <a:bodyPr/>
                    <a:lstStyle/>
                    <a:p>
                      <a:pPr>
                        <a:lnSpc>
                          <a:spcPct val="120000"/>
                        </a:lnSpc>
                      </a:pPr>
                      <a:r>
                        <a:rPr sz="819" b="1">
                          <a:solidFill>
                            <a:srgbClr val="041E42"/>
                          </a:solidFill>
                          <a:latin typeface="Baskerville"/>
                        </a:rPr>
                        <a:t>Q2 2026</a:t>
                      </a:r>
                    </a:p>
                  </a:txBody>
                  <a:tcPr marL="82296" marR="82296" marT="22860" marB="22860" anchor="ctr">
                    <a:solidFill>
                      <a:srgbClr val="F3FAFA"/>
                    </a:solidFill>
                  </a:tcPr>
                </a:tc>
                <a:tc>
                  <a:txBody>
                    <a:bodyPr/>
                    <a:lstStyle/>
                    <a:p>
                      <a:pPr>
                        <a:lnSpc>
                          <a:spcPct val="120000"/>
                        </a:lnSpc>
                      </a:pPr>
                      <a:r>
                        <a:rPr sz="819" b="0">
                          <a:solidFill>
                            <a:srgbClr val="041E42"/>
                          </a:solidFill>
                          <a:latin typeface="Avenir Next"/>
                        </a:rPr>
                        <a:t>DC Colombia empieza a adaptar las mejores prácticas</a:t>
                      </a:r>
                    </a:p>
                  </a:txBody>
                  <a:tcPr marL="82296" marR="82296" marT="22860" marB="22860" anchor="ctr">
                    <a:solidFill>
                      <a:srgbClr val="F3FAFA"/>
                    </a:solidFill>
                  </a:tcPr>
                </a:tc>
              </a:tr>
              <a:tr h="384048">
                <a:tc>
                  <a:txBody>
                    <a:bodyPr/>
                    <a:lstStyle/>
                    <a:p>
                      <a:pPr>
                        <a:lnSpc>
                          <a:spcPct val="120000"/>
                        </a:lnSpc>
                      </a:pPr>
                      <a:r>
                        <a:rPr sz="819" b="1">
                          <a:solidFill>
                            <a:srgbClr val="041E42"/>
                          </a:solidFill>
                          <a:latin typeface="Baskerville"/>
                        </a:rPr>
                        <a:t>Q3 2026</a:t>
                      </a:r>
                    </a:p>
                  </a:txBody>
                  <a:tcPr marL="82296" marR="82296" marT="22860" marB="22860" anchor="ctr">
                    <a:solidFill>
                      <a:srgbClr val="F3FAFA"/>
                    </a:solidFill>
                  </a:tcPr>
                </a:tc>
                <a:tc>
                  <a:txBody>
                    <a:bodyPr/>
                    <a:lstStyle/>
                    <a:p>
                      <a:pPr>
                        <a:lnSpc>
                          <a:spcPct val="120000"/>
                        </a:lnSpc>
                      </a:pPr>
                      <a:r>
                        <a:rPr sz="819" b="0">
                          <a:solidFill>
                            <a:srgbClr val="041E42"/>
                          </a:solidFill>
                          <a:latin typeface="Avenir Next"/>
                        </a:rPr>
                        <a:t>Los socios de LATAM entregan su plan de medios</a:t>
                      </a:r>
                    </a:p>
                  </a:txBody>
                  <a:tcPr marL="82296" marR="82296" marT="22860" marB="22860" anchor="ctr">
                    <a:solidFill>
                      <a:srgbClr val="F3FAFA"/>
                    </a:solidFill>
                  </a:tcPr>
                </a:tc>
              </a:tr>
              <a:tr h="384048">
                <a:tc>
                  <a:txBody>
                    <a:bodyPr/>
                    <a:lstStyle/>
                    <a:p>
                      <a:pPr>
                        <a:lnSpc>
                          <a:spcPct val="120000"/>
                        </a:lnSpc>
                      </a:pPr>
                      <a:r>
                        <a:rPr sz="819" b="1">
                          <a:solidFill>
                            <a:srgbClr val="041E42"/>
                          </a:solidFill>
                          <a:latin typeface="Baskerville"/>
                        </a:rPr>
                        <a:t>Q4 2026</a:t>
                      </a:r>
                    </a:p>
                  </a:txBody>
                  <a:tcPr marL="82296" marR="82296" marT="22860" marB="22860" anchor="ctr">
                    <a:solidFill>
                      <a:srgbClr val="F3FAFA"/>
                    </a:solidFill>
                  </a:tcPr>
                </a:tc>
                <a:tc>
                  <a:txBody>
                    <a:bodyPr/>
                    <a:lstStyle/>
                    <a:p>
                      <a:pPr>
                        <a:lnSpc>
                          <a:spcPct val="120000"/>
                        </a:lnSpc>
                      </a:pPr>
                      <a:r>
                        <a:rPr sz="819" b="0">
                          <a:solidFill>
                            <a:srgbClr val="041E42"/>
                          </a:solidFill>
                          <a:latin typeface="Avenir Next"/>
                        </a:rPr>
                        <a:t>Desarrollo de la campaña LATAM</a:t>
                      </a:r>
                    </a:p>
                  </a:txBody>
                  <a:tcPr marL="82296" marR="82296" marT="22860" marB="22860" anchor="ctr">
                    <a:solidFill>
                      <a:srgbClr val="F3FAFA"/>
                    </a:solidFill>
                  </a:tcPr>
                </a:tc>
              </a:tr>
              <a:tr h="384048">
                <a:tc>
                  <a:txBody>
                    <a:bodyPr/>
                    <a:lstStyle/>
                    <a:p>
                      <a:pPr>
                        <a:lnSpc>
                          <a:spcPct val="120000"/>
                        </a:lnSpc>
                      </a:pPr>
                      <a:r>
                        <a:rPr sz="819" b="1">
                          <a:solidFill>
                            <a:srgbClr val="041E42"/>
                          </a:solidFill>
                          <a:latin typeface="Baskerville"/>
                        </a:rPr>
                        <a:t>Q1 2027</a:t>
                      </a:r>
                    </a:p>
                  </a:txBody>
                  <a:tcPr marL="82296" marR="82296" marT="22860" marB="22860" anchor="ctr">
                    <a:solidFill>
                      <a:srgbClr val="F3FAFA"/>
                    </a:solidFill>
                  </a:tcPr>
                </a:tc>
                <a:tc>
                  <a:txBody>
                    <a:bodyPr/>
                    <a:lstStyle/>
                    <a:p>
                      <a:pPr>
                        <a:lnSpc>
                          <a:spcPct val="120000"/>
                        </a:lnSpc>
                      </a:pPr>
                      <a:r>
                        <a:rPr sz="819" b="0">
                          <a:solidFill>
                            <a:srgbClr val="041E42"/>
                          </a:solidFill>
                          <a:latin typeface="Avenir Next"/>
                        </a:rPr>
                        <a:t>Los socios de LATAM lanzan la campaña de dining</a:t>
                      </a:r>
                    </a:p>
                  </a:txBody>
                  <a:tcPr marL="82296" marR="82296" marT="22860" marB="22860" anchor="ctr">
                    <a:solidFill>
                      <a:srgbClr val="F3FAFA"/>
                    </a:solidFill>
                  </a:tcPr>
                </a:tc>
              </a:tr>
              <a:tr h="384048">
                <a:tc>
                  <a:txBody>
                    <a:bodyPr/>
                    <a:lstStyle/>
                    <a:p>
                      <a:pPr>
                        <a:lnSpc>
                          <a:spcPct val="120000"/>
                        </a:lnSpc>
                      </a:pPr>
                      <a:r>
                        <a:rPr sz="819" b="1">
                          <a:solidFill>
                            <a:srgbClr val="041E42"/>
                          </a:solidFill>
                          <a:latin typeface="Baskerville"/>
                        </a:rPr>
                        <a:t>2027</a:t>
                      </a:r>
                    </a:p>
                  </a:txBody>
                  <a:tcPr marL="82296" marR="82296" marT="22860" marB="22860" anchor="ctr">
                    <a:solidFill>
                      <a:srgbClr val="F3FAFA"/>
                    </a:solidFill>
                  </a:tcPr>
                </a:tc>
                <a:tc>
                  <a:txBody>
                    <a:bodyPr/>
                    <a:lstStyle/>
                    <a:p>
                      <a:pPr>
                        <a:lnSpc>
                          <a:spcPct val="120000"/>
                        </a:lnSpc>
                      </a:pPr>
                      <a:r>
                        <a:rPr sz="819" b="0">
                          <a:solidFill>
                            <a:srgbClr val="041E42"/>
                          </a:solidFill>
                          <a:latin typeface="Avenir Next"/>
                        </a:rPr>
                        <a:t>La app habilita ofertas locales cargadas por el emisor</a:t>
                      </a:r>
                    </a:p>
                  </a:txBody>
                  <a:tcPr marL="82296" marR="82296" marT="22860" marB="22860" anchor="ctr">
                    <a:solidFill>
                      <a:srgbClr val="F3FAFA"/>
                    </a:solidFill>
                  </a:tcPr>
                </a:tc>
              </a:tr>
            </a:tbl>
          </a:graphicData>
        </a:graphic>
      </p:graphicFrame>
      <p:sp>
        <p:nvSpPr>
          <p:cNvPr id="11" name="Rounded Rectangle 10"/>
          <p:cNvSpPr/>
          <p:nvPr/>
        </p:nvSpPr>
        <p:spPr>
          <a:xfrm>
            <a:off x="6537959" y="2359152"/>
            <a:ext cx="4922215" cy="3785615"/>
          </a:xfrm>
          <a:prstGeom prst="roundRect">
            <a:avLst>
              <a:gd name="adj" fmla="val 4589"/>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2" name="TextBox 11"/>
          <p:cNvSpPr txBox="1"/>
          <p:nvPr/>
        </p:nvSpPr>
        <p:spPr>
          <a:xfrm>
            <a:off x="6775703" y="3707891"/>
            <a:ext cx="4446727" cy="201168"/>
          </a:xfrm>
          <a:prstGeom prst="rect">
            <a:avLst/>
          </a:prstGeom>
          <a:noFill/>
        </p:spPr>
        <p:txBody>
          <a:bodyPr wrap="square" lIns="0" rIns="0" tIns="0" bIns="0">
            <a:normAutofit/>
          </a:bodyPr>
          <a:lstStyle/>
          <a:p>
            <a:r>
              <a:rPr sz="700" b="1" i="0" spc="130">
                <a:solidFill>
                  <a:srgbClr val="F5F3C4"/>
                </a:solidFill>
                <a:latin typeface="Avenir Next"/>
              </a:rPr>
              <a:t>CÓMO SE MAPEA SOBRE LOS CUATRO ELEMENTOS DEL PROGRAMA</a:t>
            </a:r>
          </a:p>
        </p:txBody>
      </p:sp>
      <p:sp>
        <p:nvSpPr>
          <p:cNvPr id="13" name="TextBox 12"/>
          <p:cNvSpPr txBox="1"/>
          <p:nvPr/>
        </p:nvSpPr>
        <p:spPr>
          <a:xfrm>
            <a:off x="6775703" y="3945635"/>
            <a:ext cx="4446727" cy="155448"/>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Ningún componente es invención local. Cada uno responde a un elemento ya definido por el programa global.</a:t>
            </a:r>
          </a:p>
        </p:txBody>
      </p:sp>
      <p:sp>
        <p:nvSpPr>
          <p:cNvPr id="14" name="TextBox 13"/>
          <p:cNvSpPr txBox="1"/>
          <p:nvPr/>
        </p:nvSpPr>
        <p:spPr>
          <a:xfrm>
            <a:off x="6775703" y="4155948"/>
            <a:ext cx="4446727" cy="731520"/>
          </a:xfrm>
          <a:prstGeom prst="rect">
            <a:avLst/>
          </a:prstGeom>
          <a:noFill/>
        </p:spPr>
        <p:txBody>
          <a:bodyPr wrap="square" lIns="0" rIns="0" tIns="0" bIns="0">
            <a:normAutofit/>
          </a:bodyPr>
          <a:lstStyle/>
          <a:p>
            <a:pPr>
              <a:lnSpc>
                <a:spcPct val="118000"/>
              </a:lnSpc>
              <a:spcAft>
                <a:spcPts val="350"/>
              </a:spcAft>
            </a:pPr>
            <a:r>
              <a:rPr sz="900" b="1">
                <a:solidFill>
                  <a:srgbClr val="F5F3C4"/>
                </a:solidFill>
                <a:latin typeface="Avenir Next"/>
              </a:rPr>
              <a:t>•  </a:t>
            </a:r>
            <a:r>
              <a:rPr sz="900" b="1">
                <a:solidFill>
                  <a:srgbClr val="CCECF9"/>
                </a:solidFill>
                <a:latin typeface="Avenir Next"/>
              </a:rPr>
              <a:t>01 Dining Experiences. </a:t>
            </a:r>
            <a:r>
              <a:rPr sz="900">
                <a:solidFill>
                  <a:srgbClr val="CCECF9"/>
                </a:solidFill>
                <a:latin typeface="Avenir Next"/>
              </a:rPr>
              <a:t>Experiencias OBI con cupo limitado</a:t>
            </a:r>
          </a:p>
          <a:p>
            <a:pPr>
              <a:lnSpc>
                <a:spcPct val="118000"/>
              </a:lnSpc>
              <a:spcAft>
                <a:spcPts val="350"/>
              </a:spcAft>
            </a:pPr>
            <a:r>
              <a:rPr sz="900" b="1">
                <a:solidFill>
                  <a:srgbClr val="F5F3C4"/>
                </a:solidFill>
                <a:latin typeface="Avenir Next"/>
              </a:rPr>
              <a:t>•  </a:t>
            </a:r>
            <a:r>
              <a:rPr sz="900" b="1">
                <a:solidFill>
                  <a:srgbClr val="CCECF9"/>
                </a:solidFill>
                <a:latin typeface="Avenir Next"/>
              </a:rPr>
              <a:t>02 Rewards &amp; Dining Offers. </a:t>
            </a:r>
            <a:r>
              <a:rPr sz="900">
                <a:solidFill>
                  <a:srgbClr val="CCECF9"/>
                </a:solidFill>
                <a:latin typeface="Avenir Next"/>
              </a:rPr>
              <a:t>Mesa Diners Club, beneficio recurrente sobre aliados verificados</a:t>
            </a:r>
          </a:p>
          <a:p>
            <a:pPr>
              <a:lnSpc>
                <a:spcPct val="118000"/>
              </a:lnSpc>
              <a:spcAft>
                <a:spcPts val="350"/>
              </a:spcAft>
            </a:pPr>
            <a:r>
              <a:rPr sz="900" b="1">
                <a:solidFill>
                  <a:srgbClr val="F5F3C4"/>
                </a:solidFill>
                <a:latin typeface="Avenir Next"/>
              </a:rPr>
              <a:t>•  </a:t>
            </a:r>
            <a:r>
              <a:rPr sz="900" b="1">
                <a:solidFill>
                  <a:srgbClr val="CCECF9"/>
                </a:solidFill>
                <a:latin typeface="Avenir Next"/>
              </a:rPr>
              <a:t>03 Chef &amp; Dining Partnerships. </a:t>
            </a:r>
            <a:r>
              <a:rPr sz="900">
                <a:solidFill>
                  <a:srgbClr val="CCECF9"/>
                </a:solidFill>
                <a:latin typeface="Avenir Next"/>
              </a:rPr>
              <a:t>Serie de video con cocineros y personajes locales</a:t>
            </a:r>
          </a:p>
          <a:p>
            <a:pPr>
              <a:lnSpc>
                <a:spcPct val="118000"/>
              </a:lnSpc>
              <a:spcAft>
                <a:spcPts val="350"/>
              </a:spcAft>
            </a:pPr>
            <a:r>
              <a:rPr sz="900" b="1">
                <a:solidFill>
                  <a:srgbClr val="F5F3C4"/>
                </a:solidFill>
                <a:latin typeface="Avenir Next"/>
              </a:rPr>
              <a:t>•  </a:t>
            </a:r>
            <a:r>
              <a:rPr sz="900" b="1">
                <a:solidFill>
                  <a:srgbClr val="CCECF9"/>
                </a:solidFill>
                <a:latin typeface="Avenir Next"/>
              </a:rPr>
              <a:t>04 Dining Awards. </a:t>
            </a:r>
            <a:r>
              <a:rPr sz="900">
                <a:solidFill>
                  <a:srgbClr val="CCECF9"/>
                </a:solidFill>
                <a:latin typeface="Avenir Next"/>
              </a:rPr>
              <a:t>Base editorial para un premio gastronómico colombiano</a:t>
            </a:r>
          </a:p>
        </p:txBody>
      </p:sp>
      <p:sp>
        <p:nvSpPr>
          <p:cNvPr id="15" name="TextBox 14"/>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DCI DINING PROGRAM · ROADMAP COLOMBIA</a:t>
            </a:r>
          </a:p>
        </p:txBody>
      </p:sp>
      <p:sp>
        <p:nvSpPr>
          <p:cNvPr id="16" name="TextBox 15"/>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n.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F5F3C4"/>
                </a:solidFill>
                <a:latin typeface="Avenir Next"/>
              </a:rPr>
              <a:t>LA MARCA QUE SE LANZA</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CCECF9"/>
                </a:solidFill>
                <a:latin typeface="Baskerville"/>
              </a:rPr>
              <a:t>Unlock Interesting: una vida más </a:t>
            </a:r>
            <a:r>
              <a:rPr sz="2900" b="0" i="1">
                <a:solidFill>
                  <a:srgbClr val="F5F3C4"/>
                </a:solidFill>
                <a:latin typeface="Baskerville"/>
              </a:rPr>
              <a:t>interesante</a:t>
            </a:r>
          </a:p>
        </p:txBody>
      </p:sp>
      <p:sp>
        <p:nvSpPr>
          <p:cNvPr id="6" name="Rectangle 5"/>
          <p:cNvSpPr/>
          <p:nvPr/>
        </p:nvSpPr>
        <p:spPr>
          <a:xfrm>
            <a:off x="731520" y="1517904"/>
            <a:ext cx="10728655" cy="10972"/>
          </a:xfrm>
          <a:prstGeom prst="rect">
            <a:avLst/>
          </a:prstGeom>
          <a:solidFill>
            <a:srgbClr val="A8C4D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7" name="Rounded Rectangle 6"/>
          <p:cNvSpPr/>
          <p:nvPr/>
        </p:nvSpPr>
        <p:spPr>
          <a:xfrm>
            <a:off x="731520" y="1700784"/>
            <a:ext cx="5029200" cy="2103120"/>
          </a:xfrm>
          <a:prstGeom prst="roundRect">
            <a:avLst>
              <a:gd name="adj" fmla="val 8260"/>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TextBox 7"/>
          <p:cNvSpPr txBox="1"/>
          <p:nvPr/>
        </p:nvSpPr>
        <p:spPr>
          <a:xfrm>
            <a:off x="969264" y="1938528"/>
            <a:ext cx="4553712" cy="201168"/>
          </a:xfrm>
          <a:prstGeom prst="rect">
            <a:avLst/>
          </a:prstGeom>
          <a:noFill/>
        </p:spPr>
        <p:txBody>
          <a:bodyPr wrap="square" lIns="0" rIns="0" tIns="0" bIns="0">
            <a:normAutofit/>
          </a:bodyPr>
          <a:lstStyle/>
          <a:p>
            <a:r>
              <a:rPr sz="700" b="1" i="0" spc="130">
                <a:solidFill>
                  <a:srgbClr val="F5F3C4"/>
                </a:solidFill>
                <a:latin typeface="Avenir Next"/>
              </a:rPr>
              <a:t>LA VERDAD DE MARCA</a:t>
            </a:r>
          </a:p>
        </p:txBody>
      </p:sp>
      <p:sp>
        <p:nvSpPr>
          <p:cNvPr id="9" name="TextBox 8"/>
          <p:cNvSpPr txBox="1"/>
          <p:nvPr/>
        </p:nvSpPr>
        <p:spPr>
          <a:xfrm>
            <a:off x="969264" y="2176272"/>
            <a:ext cx="4553712" cy="544914"/>
          </a:xfrm>
          <a:prstGeom prst="rect">
            <a:avLst/>
          </a:prstGeom>
          <a:noFill/>
        </p:spPr>
        <p:txBody>
          <a:bodyPr wrap="square" lIns="0" rIns="0" tIns="0" bIns="0">
            <a:normAutofit/>
          </a:bodyPr>
          <a:lstStyle/>
          <a:p>
            <a:pPr>
              <a:lnSpc>
                <a:spcPct val="105000"/>
              </a:lnSpc>
            </a:pPr>
            <a:r>
              <a:rPr sz="1700" b="0" i="0">
                <a:solidFill>
                  <a:srgbClr val="CCECF9"/>
                </a:solidFill>
                <a:latin typeface="Baskerville"/>
              </a:rPr>
              <a:t>No es solo una tarjeta.
Es un Club como ningún otro.</a:t>
            </a:r>
          </a:p>
        </p:txBody>
      </p:sp>
      <p:sp>
        <p:nvSpPr>
          <p:cNvPr id="10" name="TextBox 9"/>
          <p:cNvSpPr txBox="1"/>
          <p:nvPr/>
        </p:nvSpPr>
        <p:spPr>
          <a:xfrm>
            <a:off x="969264" y="2794338"/>
            <a:ext cx="4553712"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El Enrichment Enthusiast no quiere comprar cosas ni experiencias. Quiere comprar una vida más interesante, y Diners Club es su ruta para llegar ahí.</a:t>
            </a:r>
          </a:p>
        </p:txBody>
      </p:sp>
      <p:sp>
        <p:nvSpPr>
          <p:cNvPr id="11" name="Rounded Rectangle 10"/>
          <p:cNvSpPr/>
          <p:nvPr/>
        </p:nvSpPr>
        <p:spPr>
          <a:xfrm>
            <a:off x="731520" y="3941064"/>
            <a:ext cx="2423160" cy="2203704"/>
          </a:xfrm>
          <a:prstGeom prst="roundRect">
            <a:avLst>
              <a:gd name="adj" fmla="val 7883"/>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2" name="TextBox 11"/>
          <p:cNvSpPr txBox="1"/>
          <p:nvPr/>
        </p:nvSpPr>
        <p:spPr>
          <a:xfrm>
            <a:off x="969264" y="4178808"/>
            <a:ext cx="1947672" cy="201168"/>
          </a:xfrm>
          <a:prstGeom prst="rect">
            <a:avLst/>
          </a:prstGeom>
          <a:noFill/>
        </p:spPr>
        <p:txBody>
          <a:bodyPr wrap="square" lIns="0" rIns="0" tIns="0" bIns="0">
            <a:normAutofit/>
          </a:bodyPr>
          <a:lstStyle/>
          <a:p>
            <a:r>
              <a:rPr sz="700" b="1" i="0" spc="130">
                <a:solidFill>
                  <a:srgbClr val="F5F3C4"/>
                </a:solidFill>
                <a:latin typeface="Avenir Next"/>
              </a:rPr>
              <a:t>A QUIÉN LE HABLA</a:t>
            </a:r>
          </a:p>
        </p:txBody>
      </p:sp>
      <p:sp>
        <p:nvSpPr>
          <p:cNvPr id="13" name="TextBox 12"/>
          <p:cNvSpPr txBox="1"/>
          <p:nvPr/>
        </p:nvSpPr>
        <p:spPr>
          <a:xfrm>
            <a:off x="969264" y="4416552"/>
            <a:ext cx="1947672" cy="420623"/>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Al Enrichment Enthusiast, que reinvierte tiempo, energía y dinero en su propia expansión y la de su círculo cercano.</a:t>
            </a:r>
          </a:p>
        </p:txBody>
      </p:sp>
      <p:sp>
        <p:nvSpPr>
          <p:cNvPr id="14" name="Rounded Rectangle 13"/>
          <p:cNvSpPr/>
          <p:nvPr/>
        </p:nvSpPr>
        <p:spPr>
          <a:xfrm>
            <a:off x="3337560" y="3941064"/>
            <a:ext cx="2423160" cy="2203704"/>
          </a:xfrm>
          <a:prstGeom prst="roundRect">
            <a:avLst>
              <a:gd name="adj" fmla="val 7883"/>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5" name="TextBox 14"/>
          <p:cNvSpPr txBox="1"/>
          <p:nvPr/>
        </p:nvSpPr>
        <p:spPr>
          <a:xfrm>
            <a:off x="3575304" y="4178808"/>
            <a:ext cx="1947672" cy="201168"/>
          </a:xfrm>
          <a:prstGeom prst="rect">
            <a:avLst/>
          </a:prstGeom>
          <a:noFill/>
        </p:spPr>
        <p:txBody>
          <a:bodyPr wrap="square" lIns="0" rIns="0" tIns="0" bIns="0">
            <a:normAutofit/>
          </a:bodyPr>
          <a:lstStyle/>
          <a:p>
            <a:r>
              <a:rPr sz="700" b="1" i="0" spc="130">
                <a:solidFill>
                  <a:srgbClr val="F5F3C4"/>
                </a:solidFill>
                <a:latin typeface="Avenir Next"/>
              </a:rPr>
              <a:t>CONTRA QUÉ COMPITE</a:t>
            </a:r>
          </a:p>
        </p:txBody>
      </p:sp>
      <p:sp>
        <p:nvSpPr>
          <p:cNvPr id="16" name="TextBox 15"/>
          <p:cNvSpPr txBox="1"/>
          <p:nvPr/>
        </p:nvSpPr>
        <p:spPr>
          <a:xfrm>
            <a:off x="3575304" y="4416552"/>
            <a:ext cx="1947672" cy="420623"/>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Contra un lenguaje premium limitado a puntos y acceso, y contra lo premium producido en masa, que hoy se siente poco interesante.</a:t>
            </a:r>
          </a:p>
        </p:txBody>
      </p:sp>
      <p:sp>
        <p:nvSpPr>
          <p:cNvPr id="17" name="Rounded Rectangle 16"/>
          <p:cNvSpPr/>
          <p:nvPr/>
        </p:nvSpPr>
        <p:spPr>
          <a:xfrm>
            <a:off x="5989320" y="1700784"/>
            <a:ext cx="5470855" cy="4443984"/>
          </a:xfrm>
          <a:prstGeom prst="roundRect">
            <a:avLst>
              <a:gd name="adj" fmla="val 3909"/>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8" name="TextBox 17"/>
          <p:cNvSpPr txBox="1"/>
          <p:nvPr/>
        </p:nvSpPr>
        <p:spPr>
          <a:xfrm>
            <a:off x="6227064" y="1938528"/>
            <a:ext cx="4995367" cy="201168"/>
          </a:xfrm>
          <a:prstGeom prst="rect">
            <a:avLst/>
          </a:prstGeom>
          <a:noFill/>
        </p:spPr>
        <p:txBody>
          <a:bodyPr wrap="square" lIns="0" rIns="0" tIns="0" bIns="0">
            <a:normAutofit/>
          </a:bodyPr>
          <a:lstStyle/>
          <a:p>
            <a:r>
              <a:rPr sz="700" b="1" i="0" spc="130">
                <a:solidFill>
                  <a:srgbClr val="F5F3C4"/>
                </a:solidFill>
                <a:latin typeface="Avenir Next"/>
              </a:rPr>
              <a:t>EL SISTEMA CREATIVO, EN TRES REGLAS</a:t>
            </a:r>
          </a:p>
        </p:txBody>
      </p:sp>
      <p:sp>
        <p:nvSpPr>
          <p:cNvPr id="19" name="TextBox 18"/>
          <p:cNvSpPr txBox="1"/>
          <p:nvPr/>
        </p:nvSpPr>
        <p:spPr>
          <a:xfrm>
            <a:off x="6227064" y="2176272"/>
            <a:ext cx="4995367" cy="155448"/>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Se completa con el emblema del círculo partido, los dos colores primarios, rectángulos redondeados y fotografía de escena real.</a:t>
            </a:r>
          </a:p>
        </p:txBody>
      </p:sp>
      <p:sp>
        <p:nvSpPr>
          <p:cNvPr id="20" name="TextBox 19"/>
          <p:cNvSpPr txBox="1"/>
          <p:nvPr/>
        </p:nvSpPr>
        <p:spPr>
          <a:xfrm>
            <a:off x="6227064" y="2386584"/>
            <a:ext cx="4995367" cy="548640"/>
          </a:xfrm>
          <a:prstGeom prst="rect">
            <a:avLst/>
          </a:prstGeom>
          <a:noFill/>
        </p:spPr>
        <p:txBody>
          <a:bodyPr wrap="square" lIns="0" rIns="0" tIns="0" bIns="0">
            <a:normAutofit/>
          </a:bodyPr>
          <a:lstStyle/>
          <a:p>
            <a:pPr>
              <a:lnSpc>
                <a:spcPct val="118000"/>
              </a:lnSpc>
              <a:spcAft>
                <a:spcPts val="350"/>
              </a:spcAft>
            </a:pPr>
            <a:r>
              <a:rPr sz="900" b="1">
                <a:solidFill>
                  <a:srgbClr val="F5F3C4"/>
                </a:solidFill>
                <a:latin typeface="Avenir Next"/>
              </a:rPr>
              <a:t>•  </a:t>
            </a:r>
            <a:r>
              <a:rPr sz="900" b="1">
                <a:solidFill>
                  <a:srgbClr val="CCECF9"/>
                </a:solidFill>
                <a:latin typeface="Avenir Next"/>
              </a:rPr>
              <a:t>Belonging. </a:t>
            </a:r>
            <a:r>
              <a:rPr sz="900">
                <a:solidFill>
                  <a:srgbClr val="CCECF9"/>
                </a:solidFill>
                <a:latin typeface="Avenir Next"/>
              </a:rPr>
              <a:t>El titular abre con una invitación o una confirmación de pertenencia: We're, It's the, Welcome to the</a:t>
            </a:r>
          </a:p>
          <a:p>
            <a:pPr>
              <a:lnSpc>
                <a:spcPct val="118000"/>
              </a:lnSpc>
              <a:spcAft>
                <a:spcPts val="350"/>
              </a:spcAft>
            </a:pPr>
            <a:r>
              <a:rPr sz="900" b="1">
                <a:solidFill>
                  <a:srgbClr val="F5F3C4"/>
                </a:solidFill>
                <a:latin typeface="Avenir Next"/>
              </a:rPr>
              <a:t>•  </a:t>
            </a:r>
            <a:r>
              <a:rPr sz="900" b="1">
                <a:solidFill>
                  <a:srgbClr val="CCECF9"/>
                </a:solidFill>
                <a:latin typeface="Avenir Next"/>
              </a:rPr>
              <a:t>Uniqueness. </a:t>
            </a:r>
            <a:r>
              <a:rPr sz="900">
                <a:solidFill>
                  <a:srgbClr val="CCECF9"/>
                </a:solidFill>
                <a:latin typeface="Avenir Next"/>
              </a:rPr>
              <a:t>Los corchetes enmarcan la escena que representa la vida más interesante que Diners Club desbloquea</a:t>
            </a:r>
          </a:p>
          <a:p>
            <a:pPr>
              <a:lnSpc>
                <a:spcPct val="118000"/>
              </a:lnSpc>
              <a:spcAft>
                <a:spcPts val="350"/>
              </a:spcAft>
            </a:pPr>
            <a:r>
              <a:rPr sz="900" b="1">
                <a:solidFill>
                  <a:srgbClr val="F5F3C4"/>
                </a:solidFill>
                <a:latin typeface="Avenir Next"/>
              </a:rPr>
              <a:t>•  </a:t>
            </a:r>
            <a:r>
              <a:rPr sz="900" b="1">
                <a:solidFill>
                  <a:srgbClr val="CCECF9"/>
                </a:solidFill>
                <a:latin typeface="Avenir Next"/>
              </a:rPr>
              <a:t>Distinctiveness. </a:t>
            </a:r>
            <a:r>
              <a:rPr sz="900">
                <a:solidFill>
                  <a:srgbClr val="CCECF9"/>
                </a:solidFill>
                <a:latin typeface="Avenir Next"/>
              </a:rPr>
              <a:t>Todo titular termina en Club. Es lo que ninguna otra tarjeta puede decir</a:t>
            </a:r>
          </a:p>
        </p:txBody>
      </p:sp>
      <p:sp>
        <p:nvSpPr>
          <p:cNvPr id="21" name="TextBox 20"/>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A8C4DA"/>
                </a:solidFill>
                <a:latin typeface="Avenir Next"/>
              </a:rPr>
              <a:t>GUÍA DE MARCA DCI · BRAND EVOLUTION, JUNIO DE 2026</a:t>
            </a:r>
          </a:p>
        </p:txBody>
      </p:sp>
      <p:sp>
        <p:nvSpPr>
          <p:cNvPr id="22" name="TextBox 21"/>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F5F3C4"/>
                </a:solidFill>
                <a:latin typeface="Avenir Next"/>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EL PUNTO DE PARTIDA</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Lo que su investigación ya </a:t>
            </a:r>
            <a:r>
              <a:rPr sz="2900" b="0" i="1">
                <a:solidFill>
                  <a:srgbClr val="004C97"/>
                </a:solidFill>
                <a:latin typeface="Baskerville"/>
              </a:rPr>
              <a:t>señala</a:t>
            </a:r>
          </a:p>
        </p:txBody>
      </p:sp>
      <p:sp>
        <p:nvSpPr>
          <p:cNvPr id="6" name="Rectangle 5"/>
          <p:cNvSpPr/>
          <p:nvPr/>
        </p:nvSpPr>
        <p:spPr>
          <a:xfrm>
            <a:off x="731520" y="1517904"/>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7" name="Rounded Rectangle 6"/>
          <p:cNvSpPr/>
          <p:nvPr/>
        </p:nvSpPr>
        <p:spPr>
          <a:xfrm>
            <a:off x="731520" y="1700784"/>
            <a:ext cx="5230368" cy="2304288"/>
          </a:xfrm>
          <a:prstGeom prst="roundRect">
            <a:avLst>
              <a:gd name="adj" fmla="val 7539"/>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TextBox 7"/>
          <p:cNvSpPr txBox="1"/>
          <p:nvPr/>
        </p:nvSpPr>
        <p:spPr>
          <a:xfrm>
            <a:off x="969264" y="1938528"/>
            <a:ext cx="4754879" cy="201168"/>
          </a:xfrm>
          <a:prstGeom prst="rect">
            <a:avLst/>
          </a:prstGeom>
          <a:noFill/>
        </p:spPr>
        <p:txBody>
          <a:bodyPr wrap="square" lIns="0" rIns="0" tIns="0" bIns="0">
            <a:normAutofit/>
          </a:bodyPr>
          <a:lstStyle/>
          <a:p>
            <a:r>
              <a:rPr sz="700" b="1" i="0" spc="130">
                <a:solidFill>
                  <a:srgbClr val="004C97"/>
                </a:solidFill>
                <a:latin typeface="Avenir Next"/>
              </a:rPr>
              <a:t>ACCESIBILIDAD PERCIBIDA, GLOBAL, ENTRE CLUBMEMBERS PROPIOS</a:t>
            </a:r>
          </a:p>
        </p:txBody>
      </p:sp>
      <p:graphicFrame>
        <p:nvGraphicFramePr>
          <p:cNvPr id="9" name="Table 8"/>
          <p:cNvGraphicFramePr>
            <a:graphicFrameLocks noGrp="1"/>
          </p:cNvGraphicFramePr>
          <p:nvPr/>
        </p:nvGraphicFramePr>
        <p:xfrm>
          <a:off x="969264" y="2212848"/>
          <a:ext cx="4754878" cy="1042416"/>
        </p:xfrm>
        <a:graphic>
          <a:graphicData uri="http://schemas.openxmlformats.org/drawingml/2006/table">
            <a:tbl>
              <a:tblPr>
                <a:tableStyleId>{5C22544A-7EE6-4342-B048-85BDC9FD1C3A}</a:tableStyleId>
              </a:tblPr>
              <a:tblGrid>
                <a:gridCol w="1862919"/>
                <a:gridCol w="638715"/>
                <a:gridCol w="887104"/>
                <a:gridCol w="727425"/>
                <a:gridCol w="638715"/>
              </a:tblGrid>
              <a:tr h="274320">
                <a:tc>
                  <a:txBody>
                    <a:bodyPr/>
                    <a:lstStyle/>
                    <a:p>
                      <a:pPr>
                        <a:lnSpc>
                          <a:spcPct val="120000"/>
                        </a:lnSpc>
                      </a:pPr>
                      <a:r>
                        <a:rPr sz="720" b="1" spc="110">
                          <a:solidFill>
                            <a:srgbClr val="F3FAFA"/>
                          </a:solidFill>
                          <a:latin typeface="Avenir Next"/>
                        </a:rPr>
                        <a:t>Atributo</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Visa</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Mastercard</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Diners</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Amex</a:t>
                      </a:r>
                    </a:p>
                  </a:txBody>
                  <a:tcPr marL="82296" marR="82296" marT="22860" marB="22860" anchor="ctr">
                    <a:solidFill>
                      <a:srgbClr val="041E42"/>
                    </a:solidFill>
                  </a:tcPr>
                </a:tc>
              </a:tr>
              <a:tr h="384048">
                <a:tc>
                  <a:txBody>
                    <a:bodyPr/>
                    <a:lstStyle/>
                    <a:p>
                      <a:pPr>
                        <a:lnSpc>
                          <a:spcPct val="120000"/>
                        </a:lnSpc>
                      </a:pPr>
                      <a:r>
                        <a:rPr sz="840" b="1">
                          <a:solidFill>
                            <a:srgbClr val="041E42"/>
                          </a:solidFill>
                          <a:latin typeface="Baskerville"/>
                        </a:rPr>
                        <a:t>Aceptada en mi zona</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72</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59</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54</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27</a:t>
                      </a:r>
                    </a:p>
                  </a:txBody>
                  <a:tcPr marL="82296" marR="82296" marT="22860" marB="22860" anchor="ctr">
                    <a:solidFill>
                      <a:srgbClr val="F3FAFA"/>
                    </a:solidFill>
                  </a:tcPr>
                </a:tc>
              </a:tr>
              <a:tr h="384048">
                <a:tc>
                  <a:txBody>
                    <a:bodyPr/>
                    <a:lstStyle/>
                    <a:p>
                      <a:pPr>
                        <a:lnSpc>
                          <a:spcPct val="120000"/>
                        </a:lnSpc>
                      </a:pPr>
                      <a:r>
                        <a:rPr sz="840" b="1">
                          <a:solidFill>
                            <a:srgbClr val="041E42"/>
                          </a:solidFill>
                          <a:latin typeface="Baskerville"/>
                        </a:rPr>
                        <a:t>Aceptación en el mundo</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76</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56</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28</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24</a:t>
                      </a:r>
                    </a:p>
                  </a:txBody>
                  <a:tcPr marL="82296" marR="82296" marT="22860" marB="22860" anchor="ctr">
                    <a:solidFill>
                      <a:srgbClr val="F3FAFA"/>
                    </a:solidFill>
                  </a:tcPr>
                </a:tc>
              </a:tr>
            </a:tbl>
          </a:graphicData>
        </a:graphic>
      </p:graphicFrame>
      <p:sp>
        <p:nvSpPr>
          <p:cNvPr id="10" name="TextBox 9"/>
          <p:cNvSpPr txBox="1"/>
          <p:nvPr/>
        </p:nvSpPr>
        <p:spPr>
          <a:xfrm>
            <a:off x="969264" y="3456432"/>
            <a:ext cx="4754880" cy="457200"/>
          </a:xfrm>
          <a:prstGeom prst="rect">
            <a:avLst/>
          </a:prstGeom>
          <a:noFill/>
        </p:spPr>
        <p:txBody>
          <a:bodyPr wrap="square" lIns="0" rIns="0" tIns="0" bIns="0">
            <a:normAutofit/>
          </a:bodyPr>
          <a:lstStyle/>
          <a:p>
            <a:pPr>
              <a:lnSpc>
                <a:spcPct val="135000"/>
              </a:lnSpc>
            </a:pPr>
            <a:r>
              <a:rPr sz="740" b="0" i="1">
                <a:solidFill>
                  <a:srgbClr val="5A6B85"/>
                </a:solidFill>
                <a:latin typeface="Avenir Next"/>
              </a:rPr>
              <a:t>“Resolver las barreras de aceptación es clave para retener a los clientes actuales, que de lo contrario pueden optar por la competencia.”  Brand Health Tracker 2026 · 9.721 encuestados · 16 mercados</a:t>
            </a:r>
          </a:p>
        </p:txBody>
      </p:sp>
      <p:sp>
        <p:nvSpPr>
          <p:cNvPr id="11" name="Rounded Rectangle 10"/>
          <p:cNvSpPr/>
          <p:nvPr/>
        </p:nvSpPr>
        <p:spPr>
          <a:xfrm>
            <a:off x="731520" y="4151376"/>
            <a:ext cx="5230368" cy="1993392"/>
          </a:xfrm>
          <a:prstGeom prst="roundRect">
            <a:avLst>
              <a:gd name="adj" fmla="val 8715"/>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2" name="TextBox 11"/>
          <p:cNvSpPr txBox="1"/>
          <p:nvPr/>
        </p:nvSpPr>
        <p:spPr>
          <a:xfrm>
            <a:off x="969264" y="4389120"/>
            <a:ext cx="4754879" cy="201168"/>
          </a:xfrm>
          <a:prstGeom prst="rect">
            <a:avLst/>
          </a:prstGeom>
          <a:noFill/>
        </p:spPr>
        <p:txBody>
          <a:bodyPr wrap="square" lIns="0" rIns="0" tIns="0" bIns="0">
            <a:normAutofit/>
          </a:bodyPr>
          <a:lstStyle/>
          <a:p>
            <a:r>
              <a:rPr sz="700" b="1" i="0" spc="130">
                <a:solidFill>
                  <a:srgbClr val="004C97"/>
                </a:solidFill>
                <a:latin typeface="Avenir Next"/>
              </a:rPr>
              <a:t>LA CONSECUENCIA OPERATIVA</a:t>
            </a:r>
          </a:p>
        </p:txBody>
      </p:sp>
      <p:sp>
        <p:nvSpPr>
          <p:cNvPr id="13" name="TextBox 12"/>
          <p:cNvSpPr txBox="1"/>
          <p:nvPr/>
        </p:nvSpPr>
        <p:spPr>
          <a:xfrm>
            <a:off x="969264" y="4626864"/>
            <a:ext cx="4754879" cy="481245"/>
          </a:xfrm>
          <a:prstGeom prst="rect">
            <a:avLst/>
          </a:prstGeom>
          <a:noFill/>
        </p:spPr>
        <p:txBody>
          <a:bodyPr wrap="square" lIns="0" rIns="0" tIns="0" bIns="0">
            <a:normAutofit/>
          </a:bodyPr>
          <a:lstStyle/>
          <a:p>
            <a:pPr>
              <a:lnSpc>
                <a:spcPct val="105000"/>
              </a:lnSpc>
            </a:pPr>
            <a:r>
              <a:rPr sz="1300" b="0" i="0">
                <a:solidFill>
                  <a:srgbClr val="041E42"/>
                </a:solidFill>
                <a:latin typeface="Baskerville"/>
              </a:rPr>
              <a:t>El plan no puede generar intención hacia comercios sin verificar</a:t>
            </a:r>
          </a:p>
        </p:txBody>
      </p:sp>
      <p:sp>
        <p:nvSpPr>
          <p:cNvPr id="14" name="TextBox 13"/>
          <p:cNvSpPr txBox="1"/>
          <p:nvPr/>
        </p:nvSpPr>
        <p:spPr>
          <a:xfrm>
            <a:off x="969264" y="5181261"/>
            <a:ext cx="4754879" cy="288036"/>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Cada intento fallido en caja confirma la percepción que la investigación ya midió. Por eso toda la comunicación de uso apunta únicamente a establecimientos con aceptación verificada.</a:t>
            </a:r>
          </a:p>
        </p:txBody>
      </p:sp>
      <p:sp>
        <p:nvSpPr>
          <p:cNvPr id="15" name="Rounded Rectangle 14"/>
          <p:cNvSpPr/>
          <p:nvPr/>
        </p:nvSpPr>
        <p:spPr>
          <a:xfrm>
            <a:off x="6190488" y="1700784"/>
            <a:ext cx="5269687" cy="2304288"/>
          </a:xfrm>
          <a:prstGeom prst="roundRect">
            <a:avLst>
              <a:gd name="adj" fmla="val 7539"/>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6" name="TextBox 15"/>
          <p:cNvSpPr txBox="1"/>
          <p:nvPr/>
        </p:nvSpPr>
        <p:spPr>
          <a:xfrm>
            <a:off x="6428231" y="1938528"/>
            <a:ext cx="4794199" cy="201168"/>
          </a:xfrm>
          <a:prstGeom prst="rect">
            <a:avLst/>
          </a:prstGeom>
          <a:noFill/>
        </p:spPr>
        <p:txBody>
          <a:bodyPr wrap="square" lIns="0" rIns="0" tIns="0" bIns="0">
            <a:normAutofit/>
          </a:bodyPr>
          <a:lstStyle/>
          <a:p>
            <a:r>
              <a:rPr sz="700" b="1" i="0" spc="130">
                <a:solidFill>
                  <a:srgbClr val="004C97"/>
                </a:solidFill>
                <a:latin typeface="Avenir Next"/>
              </a:rPr>
              <a:t>OFERTAS ÚNICAS DE DINING Y DEALS RELEVANTES, ENTRE CLUBMEMBERS</a:t>
            </a:r>
          </a:p>
        </p:txBody>
      </p:sp>
      <p:graphicFrame>
        <p:nvGraphicFramePr>
          <p:cNvPr id="17" name="Table 16"/>
          <p:cNvGraphicFramePr>
            <a:graphicFrameLocks noGrp="1"/>
          </p:cNvGraphicFramePr>
          <p:nvPr/>
        </p:nvGraphicFramePr>
        <p:xfrm>
          <a:off x="6428232" y="2212848"/>
          <a:ext cx="4754879" cy="1481328"/>
        </p:xfrm>
        <a:graphic>
          <a:graphicData uri="http://schemas.openxmlformats.org/drawingml/2006/table">
            <a:tbl>
              <a:tblPr>
                <a:tableStyleId>{5C22544A-7EE6-4342-B048-85BDC9FD1C3A}</a:tableStyleId>
              </a:tblPr>
              <a:tblGrid>
                <a:gridCol w="3622765"/>
                <a:gridCol w="1132114"/>
              </a:tblGrid>
              <a:tr h="274320">
                <a:tc>
                  <a:txBody>
                    <a:bodyPr/>
                    <a:lstStyle/>
                    <a:p>
                      <a:pPr>
                        <a:lnSpc>
                          <a:spcPct val="120000"/>
                        </a:lnSpc>
                      </a:pPr>
                      <a:r>
                        <a:rPr sz="720" b="1" spc="110">
                          <a:solidFill>
                            <a:srgbClr val="F3FAFA"/>
                          </a:solidFill>
                          <a:latin typeface="Avenir Next"/>
                        </a:rPr>
                        <a:t>Marca</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a:t>
                      </a:r>
                    </a:p>
                  </a:txBody>
                  <a:tcPr marL="82296" marR="82296" marT="22860" marB="22860" anchor="ctr">
                    <a:solidFill>
                      <a:srgbClr val="041E42"/>
                    </a:solidFill>
                  </a:tcPr>
                </a:tc>
              </a:tr>
              <a:tr h="301752">
                <a:tc>
                  <a:txBody>
                    <a:bodyPr/>
                    <a:lstStyle/>
                    <a:p>
                      <a:pPr>
                        <a:lnSpc>
                          <a:spcPct val="120000"/>
                        </a:lnSpc>
                      </a:pPr>
                      <a:r>
                        <a:rPr sz="840" b="1">
                          <a:solidFill>
                            <a:srgbClr val="041E42"/>
                          </a:solidFill>
                          <a:latin typeface="Baskerville"/>
                        </a:rPr>
                        <a:t>Diners Club</a:t>
                      </a:r>
                    </a:p>
                  </a:txBody>
                  <a:tcPr marL="82296" marR="82296" marT="22860" marB="22860" anchor="ctr">
                    <a:solidFill>
                      <a:srgbClr val="F5F3C4"/>
                    </a:solidFill>
                  </a:tcPr>
                </a:tc>
                <a:tc>
                  <a:txBody>
                    <a:bodyPr/>
                    <a:lstStyle/>
                    <a:p>
                      <a:pPr>
                        <a:lnSpc>
                          <a:spcPct val="120000"/>
                        </a:lnSpc>
                      </a:pPr>
                      <a:r>
                        <a:rPr sz="840" b="0">
                          <a:solidFill>
                            <a:srgbClr val="041E42"/>
                          </a:solidFill>
                          <a:latin typeface="Avenir Next"/>
                        </a:rPr>
                        <a:t>56</a:t>
                      </a:r>
                    </a:p>
                  </a:txBody>
                  <a:tcPr marL="82296" marR="82296" marT="22860" marB="22860" anchor="ctr">
                    <a:solidFill>
                      <a:srgbClr val="F5F3C4"/>
                    </a:solidFill>
                  </a:tcPr>
                </a:tc>
              </a:tr>
              <a:tr h="301752">
                <a:tc>
                  <a:txBody>
                    <a:bodyPr/>
                    <a:lstStyle/>
                    <a:p>
                      <a:pPr>
                        <a:lnSpc>
                          <a:spcPct val="120000"/>
                        </a:lnSpc>
                      </a:pPr>
                      <a:r>
                        <a:rPr sz="840" b="1">
                          <a:solidFill>
                            <a:srgbClr val="041E42"/>
                          </a:solidFill>
                          <a:latin typeface="Baskerville"/>
                        </a:rPr>
                        <a:t>American Express</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23</a:t>
                      </a:r>
                    </a:p>
                  </a:txBody>
                  <a:tcPr marL="82296" marR="82296" marT="22860" marB="22860" anchor="ctr">
                    <a:solidFill>
                      <a:srgbClr val="F3FAFA"/>
                    </a:solidFill>
                  </a:tcPr>
                </a:tc>
              </a:tr>
              <a:tr h="301752">
                <a:tc>
                  <a:txBody>
                    <a:bodyPr/>
                    <a:lstStyle/>
                    <a:p>
                      <a:pPr>
                        <a:lnSpc>
                          <a:spcPct val="120000"/>
                        </a:lnSpc>
                      </a:pPr>
                      <a:r>
                        <a:rPr sz="840" b="1">
                          <a:solidFill>
                            <a:srgbClr val="041E42"/>
                          </a:solidFill>
                          <a:latin typeface="Baskerville"/>
                        </a:rPr>
                        <a:t>Visa</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23</a:t>
                      </a:r>
                    </a:p>
                  </a:txBody>
                  <a:tcPr marL="82296" marR="82296" marT="22860" marB="22860" anchor="ctr">
                    <a:solidFill>
                      <a:srgbClr val="F3FAFA"/>
                    </a:solidFill>
                  </a:tcPr>
                </a:tc>
              </a:tr>
              <a:tr h="301752">
                <a:tc>
                  <a:txBody>
                    <a:bodyPr/>
                    <a:lstStyle/>
                    <a:p>
                      <a:pPr>
                        <a:lnSpc>
                          <a:spcPct val="120000"/>
                        </a:lnSpc>
                      </a:pPr>
                      <a:r>
                        <a:rPr sz="840" b="1">
                          <a:solidFill>
                            <a:srgbClr val="041E42"/>
                          </a:solidFill>
                          <a:latin typeface="Baskerville"/>
                        </a:rPr>
                        <a:t>Mastercard</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14</a:t>
                      </a:r>
                    </a:p>
                  </a:txBody>
                  <a:tcPr marL="82296" marR="82296" marT="22860" marB="22860" anchor="ctr">
                    <a:solidFill>
                      <a:srgbClr val="F3FAFA"/>
                    </a:solidFill>
                  </a:tcPr>
                </a:tc>
              </a:tr>
            </a:tbl>
          </a:graphicData>
        </a:graphic>
      </p:graphicFrame>
      <p:sp>
        <p:nvSpPr>
          <p:cNvPr id="18" name="Rounded Rectangle 17"/>
          <p:cNvSpPr/>
          <p:nvPr/>
        </p:nvSpPr>
        <p:spPr>
          <a:xfrm>
            <a:off x="6190488" y="4151376"/>
            <a:ext cx="5269687" cy="1993392"/>
          </a:xfrm>
          <a:prstGeom prst="roundRect">
            <a:avLst>
              <a:gd name="adj" fmla="val 8715"/>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9" name="TextBox 18"/>
          <p:cNvSpPr txBox="1"/>
          <p:nvPr/>
        </p:nvSpPr>
        <p:spPr>
          <a:xfrm>
            <a:off x="6428231" y="4389120"/>
            <a:ext cx="4794199" cy="201168"/>
          </a:xfrm>
          <a:prstGeom prst="rect">
            <a:avLst/>
          </a:prstGeom>
          <a:noFill/>
        </p:spPr>
        <p:txBody>
          <a:bodyPr wrap="square" lIns="0" rIns="0" tIns="0" bIns="0">
            <a:normAutofit/>
          </a:bodyPr>
          <a:lstStyle/>
          <a:p>
            <a:r>
              <a:rPr sz="700" b="1" i="0" spc="130">
                <a:solidFill>
                  <a:srgbClr val="F5F3C4"/>
                </a:solidFill>
                <a:latin typeface="Avenir Next"/>
              </a:rPr>
              <a:t>LO QUE ESTO DEFINE</a:t>
            </a:r>
          </a:p>
        </p:txBody>
      </p:sp>
      <p:sp>
        <p:nvSpPr>
          <p:cNvPr id="20" name="TextBox 19"/>
          <p:cNvSpPr txBox="1"/>
          <p:nvPr/>
        </p:nvSpPr>
        <p:spPr>
          <a:xfrm>
            <a:off x="6428231" y="4626864"/>
            <a:ext cx="4794199" cy="481245"/>
          </a:xfrm>
          <a:prstGeom prst="rect">
            <a:avLst/>
          </a:prstGeom>
          <a:noFill/>
        </p:spPr>
        <p:txBody>
          <a:bodyPr wrap="square" lIns="0" rIns="0" tIns="0" bIns="0">
            <a:normAutofit/>
          </a:bodyPr>
          <a:lstStyle/>
          <a:p>
            <a:pPr>
              <a:lnSpc>
                <a:spcPct val="105000"/>
              </a:lnSpc>
            </a:pPr>
            <a:r>
              <a:rPr sz="1300" b="0" i="0">
                <a:solidFill>
                  <a:srgbClr val="CCECF9"/>
                </a:solidFill>
                <a:latin typeface="Baskerville"/>
              </a:rPr>
              <a:t>Dining es el terreno donde la marca ya gana</a:t>
            </a:r>
          </a:p>
        </p:txBody>
      </p:sp>
      <p:sp>
        <p:nvSpPr>
          <p:cNvPr id="21" name="TextBox 20"/>
          <p:cNvSpPr txBox="1"/>
          <p:nvPr/>
        </p:nvSpPr>
        <p:spPr>
          <a:xfrm>
            <a:off x="6428231" y="5181261"/>
            <a:ext cx="4794199"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La ventaja en dining duplica a la del competidor más cercano. El plan no abre un frente nuevo: concentra la inversión donde la marca ya tiene permiso.</a:t>
            </a:r>
          </a:p>
        </p:txBody>
      </p:sp>
      <p:sp>
        <p:nvSpPr>
          <p:cNvPr id="22" name="TextBox 21"/>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BRAND HEALTH TRACKER 2026 · INVESTIGACIÓN PROPIA DE DCI</a:t>
            </a:r>
          </a:p>
        </p:txBody>
      </p:sp>
      <p:sp>
        <p:nvSpPr>
          <p:cNvPr id="23" name="TextBox 22"/>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A QUIÉN LLEGA ESTE PLAN</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Dos públicos, no uno. El encargo </a:t>
            </a:r>
            <a:r>
              <a:rPr sz="2900" b="0" i="1">
                <a:solidFill>
                  <a:srgbClr val="004C97"/>
                </a:solidFill>
                <a:latin typeface="Baskerville"/>
              </a:rPr>
              <a:t>es el prospecto</a:t>
            </a:r>
          </a:p>
        </p:txBody>
      </p:sp>
      <p:sp>
        <p:nvSpPr>
          <p:cNvPr id="6" name="TextBox 5"/>
          <p:cNvSpPr txBox="1"/>
          <p:nvPr/>
        </p:nvSpPr>
        <p:spPr>
          <a:xfrm>
            <a:off x="731520" y="1517904"/>
            <a:ext cx="813816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Un beneficio de tarjeta solo alcanza a quien ya la tiene. Un medio editorial alcanza a quien todavía no.</a:t>
            </a:r>
          </a:p>
        </p:txBody>
      </p:sp>
      <p:sp>
        <p:nvSpPr>
          <p:cNvPr id="7" name="Rectangle 6"/>
          <p:cNvSpPr/>
          <p:nvPr/>
        </p:nvSpPr>
        <p:spPr>
          <a:xfrm>
            <a:off x="731520" y="1993391"/>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176272"/>
            <a:ext cx="5394960" cy="3968496"/>
          </a:xfrm>
          <a:prstGeom prst="roundRect">
            <a:avLst>
              <a:gd name="adj" fmla="val 4377"/>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414015"/>
            <a:ext cx="4919472" cy="201168"/>
          </a:xfrm>
          <a:prstGeom prst="rect">
            <a:avLst/>
          </a:prstGeom>
          <a:noFill/>
        </p:spPr>
        <p:txBody>
          <a:bodyPr wrap="square" lIns="0" rIns="0" tIns="0" bIns="0">
            <a:normAutofit/>
          </a:bodyPr>
          <a:lstStyle/>
          <a:p>
            <a:r>
              <a:rPr sz="700" b="1" i="0" spc="130">
                <a:solidFill>
                  <a:srgbClr val="004C97"/>
                </a:solidFill>
                <a:latin typeface="Avenir Next"/>
              </a:rPr>
              <a:t>LA BRECHA CON PROSPECTOS, GLOBAL</a:t>
            </a:r>
          </a:p>
        </p:txBody>
      </p:sp>
      <p:graphicFrame>
        <p:nvGraphicFramePr>
          <p:cNvPr id="10" name="Table 9"/>
          <p:cNvGraphicFramePr>
            <a:graphicFrameLocks noGrp="1"/>
          </p:cNvGraphicFramePr>
          <p:nvPr/>
        </p:nvGraphicFramePr>
        <p:xfrm>
          <a:off x="969264" y="2688336"/>
          <a:ext cx="4919470" cy="1883664"/>
        </p:xfrm>
        <a:graphic>
          <a:graphicData uri="http://schemas.openxmlformats.org/drawingml/2006/table">
            <a:tbl>
              <a:tblPr>
                <a:tableStyleId>{5C22544A-7EE6-4342-B048-85BDC9FD1C3A}</a:tableStyleId>
              </a:tblPr>
              <a:tblGrid>
                <a:gridCol w="2378854"/>
                <a:gridCol w="808810"/>
                <a:gridCol w="685110"/>
                <a:gridCol w="1046696"/>
              </a:tblGrid>
              <a:tr h="274320">
                <a:tc>
                  <a:txBody>
                    <a:bodyPr/>
                    <a:lstStyle/>
                    <a:p>
                      <a:pPr>
                        <a:lnSpc>
                          <a:spcPct val="120000"/>
                        </a:lnSpc>
                      </a:pPr>
                      <a:r>
                        <a:rPr sz="720" b="1" spc="110">
                          <a:solidFill>
                            <a:srgbClr val="F3FAFA"/>
                          </a:solidFill>
                          <a:latin typeface="Avenir Next"/>
                        </a:rPr>
                        <a:t>Atributo</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Diners</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Visa</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Mastercard</a:t>
                      </a:r>
                    </a:p>
                  </a:txBody>
                  <a:tcPr marL="82296" marR="82296" marT="22860" marB="22860" anchor="ctr">
                    <a:solidFill>
                      <a:srgbClr val="041E42"/>
                    </a:solidFill>
                  </a:tcPr>
                </a:tc>
              </a:tr>
              <a:tr h="402336">
                <a:tc>
                  <a:txBody>
                    <a:bodyPr/>
                    <a:lstStyle/>
                    <a:p>
                      <a:pPr>
                        <a:lnSpc>
                          <a:spcPct val="120000"/>
                        </a:lnSpc>
                      </a:pPr>
                      <a:r>
                        <a:rPr sz="840" b="1">
                          <a:solidFill>
                            <a:srgbClr val="041E42"/>
                          </a:solidFill>
                          <a:latin typeface="Baskerville"/>
                        </a:rPr>
                        <a:t>Entiendo del todo sus beneficios</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7</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47</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42</a:t>
                      </a:r>
                    </a:p>
                  </a:txBody>
                  <a:tcPr marL="82296" marR="82296" marT="22860" marB="22860" anchor="ctr">
                    <a:solidFill>
                      <a:srgbClr val="F3FAFA"/>
                    </a:solidFill>
                  </a:tcPr>
                </a:tc>
              </a:tr>
              <a:tr h="402336">
                <a:tc>
                  <a:txBody>
                    <a:bodyPr/>
                    <a:lstStyle/>
                    <a:p>
                      <a:pPr>
                        <a:lnSpc>
                          <a:spcPct val="120000"/>
                        </a:lnSpc>
                      </a:pPr>
                      <a:r>
                        <a:rPr sz="840" b="1">
                          <a:solidFill>
                            <a:srgbClr val="041E42"/>
                          </a:solidFill>
                          <a:latin typeface="Baskerville"/>
                        </a:rPr>
                        <a:t>Ofertas de dining relevantes</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16</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39</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35</a:t>
                      </a:r>
                    </a:p>
                  </a:txBody>
                  <a:tcPr marL="82296" marR="82296" marT="22860" marB="22860" anchor="ctr">
                    <a:solidFill>
                      <a:srgbClr val="F3FAFA"/>
                    </a:solidFill>
                  </a:tcPr>
                </a:tc>
              </a:tr>
              <a:tr h="402336">
                <a:tc>
                  <a:txBody>
                    <a:bodyPr/>
                    <a:lstStyle/>
                    <a:p>
                      <a:pPr>
                        <a:lnSpc>
                          <a:spcPct val="120000"/>
                        </a:lnSpc>
                      </a:pPr>
                      <a:r>
                        <a:rPr sz="840" b="1">
                          <a:solidFill>
                            <a:srgbClr val="041E42"/>
                          </a:solidFill>
                          <a:latin typeface="Baskerville"/>
                        </a:rPr>
                        <a:t>Aspiro a tenerla</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11</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42</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38</a:t>
                      </a:r>
                    </a:p>
                  </a:txBody>
                  <a:tcPr marL="82296" marR="82296" marT="22860" marB="22860" anchor="ctr">
                    <a:solidFill>
                      <a:srgbClr val="F3FAFA"/>
                    </a:solidFill>
                  </a:tcPr>
                </a:tc>
              </a:tr>
              <a:tr h="402336">
                <a:tc>
                  <a:txBody>
                    <a:bodyPr/>
                    <a:lstStyle/>
                    <a:p>
                      <a:pPr>
                        <a:lnSpc>
                          <a:spcPct val="120000"/>
                        </a:lnSpc>
                      </a:pPr>
                      <a:r>
                        <a:rPr sz="840" b="1">
                          <a:solidFill>
                            <a:srgbClr val="041E42"/>
                          </a:solidFill>
                          <a:latin typeface="Baskerville"/>
                        </a:rPr>
                        <a:t>Aceptada en mi zona</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11</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66</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63</a:t>
                      </a:r>
                    </a:p>
                  </a:txBody>
                  <a:tcPr marL="82296" marR="82296" marT="22860" marB="22860" anchor="ctr">
                    <a:solidFill>
                      <a:srgbClr val="F3FAFA"/>
                    </a:solidFill>
                  </a:tcPr>
                </a:tc>
              </a:tr>
            </a:tbl>
          </a:graphicData>
        </a:graphic>
      </p:graphicFrame>
      <p:sp>
        <p:nvSpPr>
          <p:cNvPr id="11" name="Rounded Rectangle 10"/>
          <p:cNvSpPr/>
          <p:nvPr/>
        </p:nvSpPr>
        <p:spPr>
          <a:xfrm>
            <a:off x="6355080" y="2176272"/>
            <a:ext cx="5105095" cy="1911095"/>
          </a:xfrm>
          <a:prstGeom prst="roundRect">
            <a:avLst>
              <a:gd name="adj" fmla="val 9090"/>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2" name="TextBox 11"/>
          <p:cNvSpPr txBox="1"/>
          <p:nvPr/>
        </p:nvSpPr>
        <p:spPr>
          <a:xfrm>
            <a:off x="6592824" y="2414015"/>
            <a:ext cx="4629607" cy="201168"/>
          </a:xfrm>
          <a:prstGeom prst="rect">
            <a:avLst/>
          </a:prstGeom>
          <a:noFill/>
        </p:spPr>
        <p:txBody>
          <a:bodyPr wrap="square" lIns="0" rIns="0" tIns="0" bIns="0">
            <a:normAutofit/>
          </a:bodyPr>
          <a:lstStyle/>
          <a:p>
            <a:r>
              <a:rPr sz="700" b="1" i="0" spc="130">
                <a:solidFill>
                  <a:srgbClr val="004C97"/>
                </a:solidFill>
                <a:latin typeface="Avenir Next"/>
              </a:rPr>
              <a:t>PROSPECTOS · 146.000 SUSCRIPTORES</a:t>
            </a:r>
          </a:p>
        </p:txBody>
      </p:sp>
      <p:sp>
        <p:nvSpPr>
          <p:cNvPr id="13" name="TextBox 12"/>
          <p:cNvSpPr txBox="1"/>
          <p:nvPr/>
        </p:nvSpPr>
        <p:spPr>
          <a:xfrm>
            <a:off x="6592824" y="2651759"/>
            <a:ext cx="4629607" cy="481245"/>
          </a:xfrm>
          <a:prstGeom prst="rect">
            <a:avLst/>
          </a:prstGeom>
          <a:noFill/>
        </p:spPr>
        <p:txBody>
          <a:bodyPr wrap="square" lIns="0" rIns="0" tIns="0" bIns="0">
            <a:normAutofit/>
          </a:bodyPr>
          <a:lstStyle/>
          <a:p>
            <a:pPr>
              <a:lnSpc>
                <a:spcPct val="105000"/>
              </a:lnSpc>
            </a:pPr>
            <a:r>
              <a:rPr sz="1300" b="0" i="0">
                <a:solidFill>
                  <a:srgbClr val="041E42"/>
                </a:solidFill>
                <a:latin typeface="Baskerville"/>
              </a:rPr>
              <a:t>Comprensión y aspiración</a:t>
            </a:r>
          </a:p>
        </p:txBody>
      </p:sp>
      <p:sp>
        <p:nvSpPr>
          <p:cNvPr id="14" name="TextBox 13"/>
          <p:cNvSpPr txBox="1"/>
          <p:nvPr/>
        </p:nvSpPr>
        <p:spPr>
          <a:xfrm>
            <a:off x="6592824" y="3206157"/>
            <a:ext cx="4629607" cy="288036"/>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La revista entra a hogares del mismo perfil premium que todavía no son Clubmembers. Es el único instrumento del plan que ataca la brecha de prospectos, y es el mandato de Gamma.</a:t>
            </a:r>
          </a:p>
        </p:txBody>
      </p:sp>
      <p:sp>
        <p:nvSpPr>
          <p:cNvPr id="15" name="Rounded Rectangle 14"/>
          <p:cNvSpPr/>
          <p:nvPr/>
        </p:nvSpPr>
        <p:spPr>
          <a:xfrm>
            <a:off x="6355080" y="4233672"/>
            <a:ext cx="5105095" cy="1911095"/>
          </a:xfrm>
          <a:prstGeom prst="roundRect">
            <a:avLst>
              <a:gd name="adj" fmla="val 9090"/>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6" name="TextBox 15"/>
          <p:cNvSpPr txBox="1"/>
          <p:nvPr/>
        </p:nvSpPr>
        <p:spPr>
          <a:xfrm>
            <a:off x="6592824" y="4471416"/>
            <a:ext cx="4629607" cy="201168"/>
          </a:xfrm>
          <a:prstGeom prst="rect">
            <a:avLst/>
          </a:prstGeom>
          <a:noFill/>
        </p:spPr>
        <p:txBody>
          <a:bodyPr wrap="square" lIns="0" rIns="0" tIns="0" bIns="0">
            <a:normAutofit/>
          </a:bodyPr>
          <a:lstStyle/>
          <a:p>
            <a:r>
              <a:rPr sz="700" b="1" i="0" spc="130">
                <a:solidFill>
                  <a:srgbClr val="F5F3C4"/>
                </a:solidFill>
                <a:latin typeface="Avenir Next"/>
              </a:rPr>
              <a:t>CLUBMEMBERS · 169.000</a:t>
            </a:r>
          </a:p>
        </p:txBody>
      </p:sp>
      <p:sp>
        <p:nvSpPr>
          <p:cNvPr id="17" name="TextBox 16"/>
          <p:cNvSpPr txBox="1"/>
          <p:nvPr/>
        </p:nvSpPr>
        <p:spPr>
          <a:xfrm>
            <a:off x="6592824" y="4709159"/>
            <a:ext cx="4629607" cy="481245"/>
          </a:xfrm>
          <a:prstGeom prst="rect">
            <a:avLst/>
          </a:prstGeom>
          <a:noFill/>
        </p:spPr>
        <p:txBody>
          <a:bodyPr wrap="square" lIns="0" rIns="0" tIns="0" bIns="0">
            <a:normAutofit/>
          </a:bodyPr>
          <a:lstStyle/>
          <a:p>
            <a:pPr>
              <a:lnSpc>
                <a:spcPct val="105000"/>
              </a:lnSpc>
            </a:pPr>
            <a:r>
              <a:rPr sz="1300" b="0" i="0">
                <a:solidFill>
                  <a:srgbClr val="CCECF9"/>
                </a:solidFill>
                <a:latin typeface="Baskerville"/>
              </a:rPr>
              <a:t>Retención y uso</a:t>
            </a:r>
          </a:p>
        </p:txBody>
      </p:sp>
      <p:sp>
        <p:nvSpPr>
          <p:cNvPr id="18" name="TextBox 17"/>
          <p:cNvSpPr txBox="1"/>
          <p:nvPr/>
        </p:nvSpPr>
        <p:spPr>
          <a:xfrm>
            <a:off x="6592824" y="5263557"/>
            <a:ext cx="4629607"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Una razón concreta para elegir la tarjeta al pagar, en lugares con aceptación verificada. Davivienda los comunica por sus canales y replica las piezas aprobadas.</a:t>
            </a:r>
          </a:p>
        </p:txBody>
      </p:sp>
      <p:sp>
        <p:nvSpPr>
          <p:cNvPr id="19" name="TextBox 18"/>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EL ACTIVO EDITORIAL ES EL QUE RESUELVE EL SEGUNDO PÚBLICO</a:t>
            </a:r>
          </a:p>
        </p:txBody>
      </p:sp>
      <p:sp>
        <p:nvSpPr>
          <p:cNvPr id="20" name="TextBox 19"/>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n.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F5F3C4"/>
                </a:solidFill>
                <a:latin typeface="Avenir Next"/>
              </a:rPr>
              <a:t>EL MEDIO DE LANZAMIENTO</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CCECF9"/>
                </a:solidFill>
                <a:latin typeface="Baskerville"/>
              </a:rPr>
              <a:t>El ecosistema de Gamma lleva la marca a </a:t>
            </a:r>
            <a:r>
              <a:rPr sz="2900" b="0" i="1">
                <a:solidFill>
                  <a:srgbClr val="F5F3C4"/>
                </a:solidFill>
                <a:latin typeface="Baskerville"/>
              </a:rPr>
              <a:t>quien falta</a:t>
            </a:r>
          </a:p>
        </p:txBody>
      </p:sp>
      <p:sp>
        <p:nvSpPr>
          <p:cNvPr id="6" name="TextBox 5"/>
          <p:cNvSpPr txBox="1"/>
          <p:nvPr/>
        </p:nvSpPr>
        <p:spPr>
          <a:xfrm>
            <a:off x="731520" y="1517904"/>
            <a:ext cx="8138160" cy="457200"/>
          </a:xfrm>
          <a:prstGeom prst="rect">
            <a:avLst/>
          </a:prstGeom>
          <a:noFill/>
        </p:spPr>
        <p:txBody>
          <a:bodyPr wrap="square" lIns="0" rIns="0" tIns="0" bIns="0">
            <a:normAutofit/>
          </a:bodyPr>
          <a:lstStyle/>
          <a:p>
            <a:pPr>
              <a:lnSpc>
                <a:spcPct val="140000"/>
              </a:lnSpc>
            </a:pPr>
            <a:r>
              <a:rPr sz="960" b="0" i="0">
                <a:solidFill>
                  <a:srgbClr val="A8C4DA"/>
                </a:solidFill>
                <a:latin typeface="Avenir Next"/>
              </a:rPr>
              <a:t>Cada activo cumple un papel distinto en el lanzamiento. Todas las piezas llevan el sistema de marca de DCI.</a:t>
            </a:r>
          </a:p>
        </p:txBody>
      </p:sp>
      <p:sp>
        <p:nvSpPr>
          <p:cNvPr id="7" name="Rectangle 6"/>
          <p:cNvSpPr/>
          <p:nvPr/>
        </p:nvSpPr>
        <p:spPr>
          <a:xfrm>
            <a:off x="731520" y="1993391"/>
            <a:ext cx="10728655" cy="10972"/>
          </a:xfrm>
          <a:prstGeom prst="rect">
            <a:avLst/>
          </a:prstGeom>
          <a:solidFill>
            <a:srgbClr val="A8C4D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graphicFrame>
        <p:nvGraphicFramePr>
          <p:cNvPr id="8" name="Table 7"/>
          <p:cNvGraphicFramePr>
            <a:graphicFrameLocks noGrp="1"/>
          </p:cNvGraphicFramePr>
          <p:nvPr/>
        </p:nvGraphicFramePr>
        <p:xfrm>
          <a:off x="731520" y="2176272"/>
          <a:ext cx="7223759" cy="3127248"/>
        </p:xfrm>
        <a:graphic>
          <a:graphicData uri="http://schemas.openxmlformats.org/drawingml/2006/table">
            <a:tbl>
              <a:tblPr>
                <a:tableStyleId>{5C22544A-7EE6-4342-B048-85BDC9FD1C3A}</a:tableStyleId>
              </a:tblPr>
              <a:tblGrid>
                <a:gridCol w="2177023"/>
                <a:gridCol w="2473890"/>
                <a:gridCol w="2572846"/>
              </a:tblGrid>
              <a:tr h="274320">
                <a:tc>
                  <a:txBody>
                    <a:bodyPr/>
                    <a:lstStyle/>
                    <a:p>
                      <a:pPr>
                        <a:lnSpc>
                          <a:spcPct val="120000"/>
                        </a:lnSpc>
                      </a:pPr>
                      <a:r>
                        <a:rPr sz="720" b="1" spc="110">
                          <a:solidFill>
                            <a:srgbClr val="F3FAFA"/>
                          </a:solidFill>
                          <a:latin typeface="Avenir Next"/>
                        </a:rPr>
                        <a:t>Activo Gamma</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Qué aporta</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Papel en el lanzamiento</a:t>
                      </a:r>
                    </a:p>
                  </a:txBody>
                  <a:tcPr marL="82296" marR="82296" marT="22860" marB="22860" anchor="ctr">
                    <a:solidFill>
                      <a:srgbClr val="041E42"/>
                    </a:solidFill>
                  </a:tcPr>
                </a:tc>
              </a:tr>
              <a:tr h="475488">
                <a:tc>
                  <a:txBody>
                    <a:bodyPr/>
                    <a:lstStyle/>
                    <a:p>
                      <a:pPr>
                        <a:lnSpc>
                          <a:spcPct val="120000"/>
                        </a:lnSpc>
                      </a:pPr>
                      <a:r>
                        <a:rPr sz="840" b="1">
                          <a:solidFill>
                            <a:srgbClr val="CCECF9"/>
                          </a:solidFill>
                          <a:latin typeface="Baskerville"/>
                        </a:rPr>
                        <a:t>Revista Diners, impreso</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146.000 suscriptores del perfil premium</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Irrupción y voz de marca</a:t>
                      </a:r>
                    </a:p>
                  </a:txBody>
                  <a:tcPr marL="82296" marR="82296" marT="22860" marB="22860" anchor="ctr">
                    <a:solidFill>
                      <a:srgbClr val="041E42"/>
                    </a:solidFill>
                  </a:tcPr>
                </a:tc>
              </a:tr>
              <a:tr h="475488">
                <a:tc>
                  <a:txBody>
                    <a:bodyPr/>
                    <a:lstStyle/>
                    <a:p>
                      <a:pPr>
                        <a:lnSpc>
                          <a:spcPct val="120000"/>
                        </a:lnSpc>
                      </a:pPr>
                      <a:r>
                        <a:rPr sz="840" b="1">
                          <a:solidFill>
                            <a:srgbClr val="CCECF9"/>
                          </a:solidFill>
                          <a:latin typeface="Baskerville"/>
                        </a:rPr>
                        <a:t>revistadiners.com.co</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Profundidad y archivo</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Artículo de origen, selección viva</a:t>
                      </a:r>
                    </a:p>
                  </a:txBody>
                  <a:tcPr marL="82296" marR="82296" marT="22860" marB="22860" anchor="ctr">
                    <a:solidFill>
                      <a:srgbClr val="041E42"/>
                    </a:solidFill>
                  </a:tcPr>
                </a:tc>
              </a:tr>
              <a:tr h="475488">
                <a:tc>
                  <a:txBody>
                    <a:bodyPr/>
                    <a:lstStyle/>
                    <a:p>
                      <a:pPr>
                        <a:lnSpc>
                          <a:spcPct val="120000"/>
                        </a:lnSpc>
                      </a:pPr>
                      <a:r>
                        <a:rPr sz="840" b="1">
                          <a:solidFill>
                            <a:srgbClr val="CCECF9"/>
                          </a:solidFill>
                          <a:latin typeface="Baskerville"/>
                        </a:rPr>
                        <a:t>Redes de Revista Diners</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Video y cubrimiento</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Manifiesto, serie con cocineros, reels</a:t>
                      </a:r>
                    </a:p>
                  </a:txBody>
                  <a:tcPr marL="82296" marR="82296" marT="22860" marB="22860" anchor="ctr">
                    <a:solidFill>
                      <a:srgbClr val="041E42"/>
                    </a:solidFill>
                  </a:tcPr>
                </a:tc>
              </a:tr>
              <a:tr h="475488">
                <a:tc>
                  <a:txBody>
                    <a:bodyPr/>
                    <a:lstStyle/>
                    <a:p>
                      <a:pPr>
                        <a:lnSpc>
                          <a:spcPct val="120000"/>
                        </a:lnSpc>
                      </a:pPr>
                      <a:r>
                        <a:rPr sz="840" b="1">
                          <a:solidFill>
                            <a:srgbClr val="CCECF9"/>
                          </a:solidFill>
                          <a:latin typeface="Baskerville"/>
                        </a:rPr>
                        <a:t>AXXIS, impreso y digital</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Perfil 35+ con mirada de diseño</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Cobertura ampliada, opción C</a:t>
                      </a:r>
                    </a:p>
                  </a:txBody>
                  <a:tcPr marL="82296" marR="82296" marT="22860" marB="22860" anchor="ctr">
                    <a:solidFill>
                      <a:srgbClr val="041E42"/>
                    </a:solidFill>
                  </a:tcPr>
                </a:tc>
              </a:tr>
              <a:tr h="475488">
                <a:tc>
                  <a:txBody>
                    <a:bodyPr/>
                    <a:lstStyle/>
                    <a:p>
                      <a:pPr>
                        <a:lnSpc>
                          <a:spcPct val="120000"/>
                        </a:lnSpc>
                      </a:pPr>
                      <a:r>
                        <a:rPr sz="840" b="1">
                          <a:solidFill>
                            <a:srgbClr val="CCECF9"/>
                          </a:solidFill>
                          <a:latin typeface="Baskerville"/>
                        </a:rPr>
                        <a:t>Libros</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Unidad editorial en operación</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Publicación anual con archivo y datos</a:t>
                      </a:r>
                    </a:p>
                  </a:txBody>
                  <a:tcPr marL="82296" marR="82296" marT="22860" marB="22860" anchor="ctr">
                    <a:solidFill>
                      <a:srgbClr val="041E42"/>
                    </a:solidFill>
                  </a:tcPr>
                </a:tc>
              </a:tr>
              <a:tr h="475488">
                <a:tc>
                  <a:txBody>
                    <a:bodyPr/>
                    <a:lstStyle/>
                    <a:p>
                      <a:pPr>
                        <a:lnSpc>
                          <a:spcPct val="120000"/>
                        </a:lnSpc>
                      </a:pPr>
                      <a:r>
                        <a:rPr sz="840" b="1">
                          <a:solidFill>
                            <a:srgbClr val="CCECF9"/>
                          </a:solidFill>
                          <a:latin typeface="Baskerville"/>
                        </a:rPr>
                        <a:t>Red de aliados verificados</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Vitrinas en las mejores zonas</a:t>
                      </a:r>
                    </a:p>
                  </a:txBody>
                  <a:tcPr marL="82296" marR="82296" marT="22860" marB="22860" anchor="ctr">
                    <a:solidFill>
                      <a:srgbClr val="041E42"/>
                    </a:solidFill>
                  </a:tcPr>
                </a:tc>
                <a:tc>
                  <a:txBody>
                    <a:bodyPr/>
                    <a:lstStyle/>
                    <a:p>
                      <a:pPr>
                        <a:lnSpc>
                          <a:spcPct val="120000"/>
                        </a:lnSpc>
                      </a:pPr>
                      <a:r>
                        <a:rPr sz="840" b="0">
                          <a:solidFill>
                            <a:srgbClr val="CCECF9"/>
                          </a:solidFill>
                          <a:latin typeface="Avenir Next"/>
                        </a:rPr>
                        <a:t>Sello, tent card y pieza de mesa</a:t>
                      </a:r>
                    </a:p>
                  </a:txBody>
                  <a:tcPr marL="82296" marR="82296" marT="22860" marB="22860" anchor="ctr">
                    <a:solidFill>
                      <a:srgbClr val="041E42"/>
                    </a:solidFill>
                  </a:tcPr>
                </a:tc>
              </a:tr>
            </a:tbl>
          </a:graphicData>
        </a:graphic>
      </p:graphicFrame>
      <p:sp>
        <p:nvSpPr>
          <p:cNvPr id="9" name="Rounded Rectangle 8"/>
          <p:cNvSpPr/>
          <p:nvPr/>
        </p:nvSpPr>
        <p:spPr>
          <a:xfrm>
            <a:off x="8183880" y="2176272"/>
            <a:ext cx="3276295" cy="3968496"/>
          </a:xfrm>
          <a:prstGeom prst="roundRect">
            <a:avLst>
              <a:gd name="adj" fmla="val 5302"/>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0" name="TextBox 9"/>
          <p:cNvSpPr txBox="1"/>
          <p:nvPr/>
        </p:nvSpPr>
        <p:spPr>
          <a:xfrm>
            <a:off x="8421624" y="3643460"/>
            <a:ext cx="2800807" cy="201168"/>
          </a:xfrm>
          <a:prstGeom prst="rect">
            <a:avLst/>
          </a:prstGeom>
          <a:noFill/>
        </p:spPr>
        <p:txBody>
          <a:bodyPr wrap="square" lIns="0" rIns="0" tIns="0" bIns="0">
            <a:normAutofit/>
          </a:bodyPr>
          <a:lstStyle/>
          <a:p>
            <a:r>
              <a:rPr sz="700" b="1" i="0" spc="130">
                <a:solidFill>
                  <a:srgbClr val="004C97"/>
                </a:solidFill>
                <a:latin typeface="Avenir Next"/>
              </a:rPr>
              <a:t>LA REGLA DE PRODUCCIÓN</a:t>
            </a:r>
          </a:p>
        </p:txBody>
      </p:sp>
      <p:sp>
        <p:nvSpPr>
          <p:cNvPr id="11" name="TextBox 10"/>
          <p:cNvSpPr txBox="1"/>
          <p:nvPr/>
        </p:nvSpPr>
        <p:spPr>
          <a:xfrm>
            <a:off x="8421624" y="3881204"/>
            <a:ext cx="2800807" cy="544914"/>
          </a:xfrm>
          <a:prstGeom prst="rect">
            <a:avLst/>
          </a:prstGeom>
          <a:noFill/>
        </p:spPr>
        <p:txBody>
          <a:bodyPr wrap="square" lIns="0" rIns="0" tIns="0" bIns="0">
            <a:normAutofit/>
          </a:bodyPr>
          <a:lstStyle/>
          <a:p>
            <a:pPr>
              <a:lnSpc>
                <a:spcPct val="105000"/>
              </a:lnSpc>
            </a:pPr>
            <a:r>
              <a:rPr sz="1700" b="0" i="0">
                <a:solidFill>
                  <a:srgbClr val="041E42"/>
                </a:solidFill>
                <a:latin typeface="Baskerville"/>
              </a:rPr>
              <a:t>Gamma produce.
DCI aprueba.</a:t>
            </a:r>
          </a:p>
        </p:txBody>
      </p:sp>
      <p:sp>
        <p:nvSpPr>
          <p:cNvPr id="12" name="TextBox 11"/>
          <p:cNvSpPr txBox="1"/>
          <p:nvPr/>
        </p:nvSpPr>
        <p:spPr>
          <a:xfrm>
            <a:off x="8421624" y="4499271"/>
            <a:ext cx="2800807" cy="288036"/>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Cada pieza usa el dispositivo ( ) Club, los colores y la tipografía de la guía. Nada sale sin visto bueno de marca.</a:t>
            </a:r>
          </a:p>
        </p:txBody>
      </p:sp>
      <p:sp>
        <p:nvSpPr>
          <p:cNvPr id="13" name="TextBox 12"/>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A8C4DA"/>
                </a:solidFill>
                <a:latin typeface="Avenir Next"/>
              </a:rPr>
              <a:t>CIFRAS DE SUSCRIPTORES: REVISTA DINERS, BASE DE CIRCULACIÓN</a:t>
            </a:r>
          </a:p>
        </p:txBody>
      </p:sp>
      <p:sp>
        <p:nvSpPr>
          <p:cNvPr id="14" name="TextBox 13"/>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F5F3C4"/>
                </a:solidFill>
                <a:latin typeface="Avenir Next"/>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EL ESPACIO QUE QUEDA LIBRE</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Dos ejes tomados, uno </a:t>
            </a:r>
            <a:r>
              <a:rPr sz="2900" b="0" i="1">
                <a:solidFill>
                  <a:srgbClr val="004C97"/>
                </a:solidFill>
                <a:latin typeface="Baskerville"/>
              </a:rPr>
              <a:t>vacío</a:t>
            </a:r>
          </a:p>
        </p:txBody>
      </p:sp>
      <p:sp>
        <p:nvSpPr>
          <p:cNvPr id="6" name="TextBox 5"/>
          <p:cNvSpPr txBox="1"/>
          <p:nvPr/>
        </p:nvSpPr>
        <p:spPr>
          <a:xfrm>
            <a:off x="731520" y="1517904"/>
            <a:ext cx="813816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Los dos competidores de la categoría ocupan posiciones distintas y ninguno ocupa la tercera. Esa es la razón de fondo de este posicionamiento.</a:t>
            </a:r>
          </a:p>
        </p:txBody>
      </p:sp>
      <p:sp>
        <p:nvSpPr>
          <p:cNvPr id="7" name="Rectangle 6"/>
          <p:cNvSpPr/>
          <p:nvPr/>
        </p:nvSpPr>
        <p:spPr>
          <a:xfrm>
            <a:off x="731520" y="1993391"/>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176272"/>
            <a:ext cx="3410712" cy="3108960"/>
          </a:xfrm>
          <a:prstGeom prst="roundRect">
            <a:avLst>
              <a:gd name="adj" fmla="val 5588"/>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414015"/>
            <a:ext cx="2935224" cy="201168"/>
          </a:xfrm>
          <a:prstGeom prst="rect">
            <a:avLst/>
          </a:prstGeom>
          <a:noFill/>
        </p:spPr>
        <p:txBody>
          <a:bodyPr wrap="square" lIns="0" rIns="0" tIns="0" bIns="0">
            <a:normAutofit/>
          </a:bodyPr>
          <a:lstStyle/>
          <a:p>
            <a:r>
              <a:rPr sz="700" b="1" i="0" spc="130">
                <a:solidFill>
                  <a:srgbClr val="004C97"/>
                </a:solidFill>
                <a:latin typeface="Avenir Next"/>
              </a:rPr>
              <a:t>VISA</a:t>
            </a:r>
          </a:p>
        </p:txBody>
      </p:sp>
      <p:sp>
        <p:nvSpPr>
          <p:cNvPr id="10" name="TextBox 9"/>
          <p:cNvSpPr txBox="1"/>
          <p:nvPr/>
        </p:nvSpPr>
        <p:spPr>
          <a:xfrm>
            <a:off x="969264" y="2651759"/>
            <a:ext cx="2935224" cy="497162"/>
          </a:xfrm>
          <a:prstGeom prst="rect">
            <a:avLst/>
          </a:prstGeom>
          <a:noFill/>
        </p:spPr>
        <p:txBody>
          <a:bodyPr wrap="square" lIns="0" rIns="0" tIns="0" bIns="0">
            <a:normAutofit/>
          </a:bodyPr>
          <a:lstStyle/>
          <a:p>
            <a:pPr>
              <a:lnSpc>
                <a:spcPct val="105000"/>
              </a:lnSpc>
            </a:pPr>
            <a:r>
              <a:rPr sz="1400" b="0" i="0">
                <a:solidFill>
                  <a:srgbClr val="041E42"/>
                </a:solidFill>
                <a:latin typeface="Baskerville"/>
              </a:rPr>
              <a:t>Everywhere you want to be</a:t>
            </a:r>
          </a:p>
        </p:txBody>
      </p:sp>
      <p:sp>
        <p:nvSpPr>
          <p:cNvPr id="11" name="TextBox 10"/>
          <p:cNvSpPr txBox="1"/>
          <p:nvPr/>
        </p:nvSpPr>
        <p:spPr>
          <a:xfrm>
            <a:off x="969264" y="3222074"/>
            <a:ext cx="2935224" cy="534924"/>
          </a:xfrm>
          <a:prstGeom prst="rect">
            <a:avLst/>
          </a:prstGeom>
          <a:noFill/>
        </p:spPr>
        <p:txBody>
          <a:bodyPr wrap="square" lIns="0" rIns="0" tIns="0" bIns="0">
            <a:normAutofit/>
          </a:bodyPr>
          <a:lstStyle/>
          <a:p>
            <a:pPr>
              <a:lnSpc>
                <a:spcPct val="140000"/>
              </a:lnSpc>
              <a:spcAft>
                <a:spcPts val="500"/>
              </a:spcAft>
            </a:pPr>
            <a:r>
              <a:rPr sz="919" b="1" i="0">
                <a:solidFill>
                  <a:srgbClr val="041E42"/>
                </a:solidFill>
                <a:latin typeface="Avenir Next"/>
              </a:rPr>
              <a:t>Promete cantidad. </a:t>
            </a:r>
            <a:r>
              <a:rPr sz="919" b="0" i="0">
                <a:solidFill>
                  <a:srgbClr val="041E42"/>
                </a:solidFill>
                <a:latin typeface="Avenir Next"/>
              </a:rPr>
              <a:t>Aceptación universal, pago sin contacto, patrocinio de Mundial y Juegos Olímpicos, festivales masivos.</a:t>
            </a:r>
          </a:p>
          <a:p>
            <a:pPr>
              <a:lnSpc>
                <a:spcPct val="140000"/>
              </a:lnSpc>
              <a:spcAft>
                <a:spcPts val="500"/>
              </a:spcAft>
            </a:pPr>
            <a:r>
              <a:rPr sz="919" b="0" i="0">
                <a:solidFill>
                  <a:srgbClr val="041E42"/>
                </a:solidFill>
                <a:latin typeface="Avenir Next"/>
              </a:rPr>
              <a:t>Es la dimensión donde Diners pierde en su propia medición: 54 contra 72 en aceptación local. Disputarla no tiene salida.</a:t>
            </a:r>
          </a:p>
        </p:txBody>
      </p:sp>
      <p:sp>
        <p:nvSpPr>
          <p:cNvPr id="12" name="Rounded Rectangle 11"/>
          <p:cNvSpPr/>
          <p:nvPr/>
        </p:nvSpPr>
        <p:spPr>
          <a:xfrm>
            <a:off x="4370832" y="2176272"/>
            <a:ext cx="3410712" cy="3108960"/>
          </a:xfrm>
          <a:prstGeom prst="roundRect">
            <a:avLst>
              <a:gd name="adj" fmla="val 5588"/>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3" name="TextBox 12"/>
          <p:cNvSpPr txBox="1"/>
          <p:nvPr/>
        </p:nvSpPr>
        <p:spPr>
          <a:xfrm>
            <a:off x="4608576" y="2414015"/>
            <a:ext cx="2935224" cy="201168"/>
          </a:xfrm>
          <a:prstGeom prst="rect">
            <a:avLst/>
          </a:prstGeom>
          <a:noFill/>
        </p:spPr>
        <p:txBody>
          <a:bodyPr wrap="square" lIns="0" rIns="0" tIns="0" bIns="0">
            <a:normAutofit/>
          </a:bodyPr>
          <a:lstStyle/>
          <a:p>
            <a:r>
              <a:rPr sz="700" b="1" i="0" spc="130">
                <a:solidFill>
                  <a:srgbClr val="004C97"/>
                </a:solidFill>
                <a:latin typeface="Avenir Next"/>
              </a:rPr>
              <a:t>MASTERCARD</a:t>
            </a:r>
          </a:p>
        </p:txBody>
      </p:sp>
      <p:sp>
        <p:nvSpPr>
          <p:cNvPr id="14" name="TextBox 13"/>
          <p:cNvSpPr txBox="1"/>
          <p:nvPr/>
        </p:nvSpPr>
        <p:spPr>
          <a:xfrm>
            <a:off x="4608576" y="2651759"/>
            <a:ext cx="2935224" cy="497162"/>
          </a:xfrm>
          <a:prstGeom prst="rect">
            <a:avLst/>
          </a:prstGeom>
          <a:noFill/>
        </p:spPr>
        <p:txBody>
          <a:bodyPr wrap="square" lIns="0" rIns="0" tIns="0" bIns="0">
            <a:normAutofit/>
          </a:bodyPr>
          <a:lstStyle/>
          <a:p>
            <a:pPr>
              <a:lnSpc>
                <a:spcPct val="105000"/>
              </a:lnSpc>
            </a:pPr>
            <a:r>
              <a:rPr sz="1400" b="0" i="0">
                <a:solidFill>
                  <a:srgbClr val="041E42"/>
                </a:solidFill>
                <a:latin typeface="Baskerville"/>
              </a:rPr>
              <a:t>Priceless</a:t>
            </a:r>
          </a:p>
        </p:txBody>
      </p:sp>
      <p:sp>
        <p:nvSpPr>
          <p:cNvPr id="15" name="TextBox 14"/>
          <p:cNvSpPr txBox="1"/>
          <p:nvPr/>
        </p:nvSpPr>
        <p:spPr>
          <a:xfrm>
            <a:off x="4608576" y="3222074"/>
            <a:ext cx="2935224" cy="534924"/>
          </a:xfrm>
          <a:prstGeom prst="rect">
            <a:avLst/>
          </a:prstGeom>
          <a:noFill/>
        </p:spPr>
        <p:txBody>
          <a:bodyPr wrap="square" lIns="0" rIns="0" tIns="0" bIns="0">
            <a:normAutofit/>
          </a:bodyPr>
          <a:lstStyle/>
          <a:p>
            <a:pPr>
              <a:lnSpc>
                <a:spcPct val="140000"/>
              </a:lnSpc>
              <a:spcAft>
                <a:spcPts val="500"/>
              </a:spcAft>
            </a:pPr>
            <a:r>
              <a:rPr sz="919" b="1" i="0">
                <a:solidFill>
                  <a:srgbClr val="041E42"/>
                </a:solidFill>
                <a:latin typeface="Avenir Next"/>
              </a:rPr>
              <a:t>Promete intensidad. </a:t>
            </a:r>
            <a:r>
              <a:rPr sz="919" b="0" i="0">
                <a:solidFill>
                  <a:srgbClr val="041E42"/>
                </a:solidFill>
                <a:latin typeface="Avenir Next"/>
              </a:rPr>
              <a:t>Momentos memorables, acceso exclusivo, patrocinio deportivo y mesas con chefs premiados.</a:t>
            </a:r>
          </a:p>
          <a:p>
            <a:pPr>
              <a:lnSpc>
                <a:spcPct val="140000"/>
              </a:lnSpc>
              <a:spcAft>
                <a:spcPts val="500"/>
              </a:spcAft>
            </a:pPr>
            <a:r>
              <a:rPr sz="919" b="0" i="0">
                <a:solidFill>
                  <a:srgbClr val="041E42"/>
                </a:solidFill>
                <a:latin typeface="Avenir Next"/>
              </a:rPr>
              <a:t>Tiene plataforma global de reserva y presupuesto de patrocinio. Competir de frente es hacer lo mismo, más pequeño.</a:t>
            </a:r>
          </a:p>
        </p:txBody>
      </p:sp>
      <p:sp>
        <p:nvSpPr>
          <p:cNvPr id="16" name="Rounded Rectangle 15"/>
          <p:cNvSpPr/>
          <p:nvPr/>
        </p:nvSpPr>
        <p:spPr>
          <a:xfrm>
            <a:off x="8010144" y="2176272"/>
            <a:ext cx="3410712" cy="3108960"/>
          </a:xfrm>
          <a:prstGeom prst="roundRect">
            <a:avLst>
              <a:gd name="adj" fmla="val 5588"/>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7" name="TextBox 16"/>
          <p:cNvSpPr txBox="1"/>
          <p:nvPr/>
        </p:nvSpPr>
        <p:spPr>
          <a:xfrm>
            <a:off x="8247888" y="2414015"/>
            <a:ext cx="2935224" cy="201168"/>
          </a:xfrm>
          <a:prstGeom prst="rect">
            <a:avLst/>
          </a:prstGeom>
          <a:noFill/>
        </p:spPr>
        <p:txBody>
          <a:bodyPr wrap="square" lIns="0" rIns="0" tIns="0" bIns="0">
            <a:normAutofit/>
          </a:bodyPr>
          <a:lstStyle/>
          <a:p>
            <a:r>
              <a:rPr sz="700" b="1" i="0" spc="130">
                <a:solidFill>
                  <a:srgbClr val="004C97"/>
                </a:solidFill>
                <a:latin typeface="Avenir Next"/>
              </a:rPr>
              <a:t>DINERS CLUB</a:t>
            </a:r>
          </a:p>
        </p:txBody>
      </p:sp>
      <p:sp>
        <p:nvSpPr>
          <p:cNvPr id="18" name="TextBox 17"/>
          <p:cNvSpPr txBox="1"/>
          <p:nvPr/>
        </p:nvSpPr>
        <p:spPr>
          <a:xfrm>
            <a:off x="8247888" y="2651759"/>
            <a:ext cx="2935224" cy="497162"/>
          </a:xfrm>
          <a:prstGeom prst="rect">
            <a:avLst/>
          </a:prstGeom>
          <a:noFill/>
        </p:spPr>
        <p:txBody>
          <a:bodyPr wrap="square" lIns="0" rIns="0" tIns="0" bIns="0">
            <a:normAutofit/>
          </a:bodyPr>
          <a:lstStyle/>
          <a:p>
            <a:pPr>
              <a:lnSpc>
                <a:spcPct val="105000"/>
              </a:lnSpc>
            </a:pPr>
            <a:r>
              <a:rPr sz="1400" b="0" i="0">
                <a:solidFill>
                  <a:srgbClr val="041E42"/>
                </a:solidFill>
                <a:latin typeface="Baskerville"/>
              </a:rPr>
              <a:t>Saber dónde</a:t>
            </a:r>
          </a:p>
        </p:txBody>
      </p:sp>
      <p:sp>
        <p:nvSpPr>
          <p:cNvPr id="19" name="TextBox 18"/>
          <p:cNvSpPr txBox="1"/>
          <p:nvPr/>
        </p:nvSpPr>
        <p:spPr>
          <a:xfrm>
            <a:off x="8247888" y="3222074"/>
            <a:ext cx="2935224" cy="534924"/>
          </a:xfrm>
          <a:prstGeom prst="rect">
            <a:avLst/>
          </a:prstGeom>
          <a:noFill/>
        </p:spPr>
        <p:txBody>
          <a:bodyPr wrap="square" lIns="0" rIns="0" tIns="0" bIns="0">
            <a:normAutofit/>
          </a:bodyPr>
          <a:lstStyle/>
          <a:p>
            <a:pPr>
              <a:lnSpc>
                <a:spcPct val="140000"/>
              </a:lnSpc>
              <a:spcAft>
                <a:spcPts val="500"/>
              </a:spcAft>
            </a:pPr>
            <a:r>
              <a:rPr sz="919" b="1" i="0">
                <a:solidFill>
                  <a:srgbClr val="041E42"/>
                </a:solidFill>
                <a:latin typeface="Avenir Next"/>
              </a:rPr>
              <a:t>Promete criterio. </a:t>
            </a:r>
            <a:r>
              <a:rPr sz="919" b="0" i="0">
                <a:solidFill>
                  <a:srgbClr val="041E42"/>
                </a:solidFill>
                <a:latin typeface="Avenir Next"/>
              </a:rPr>
              <a:t>Visa dice dónde se puede pagar. Mastercard dice qué momento comprar. Ninguna dice cuáles valen la pena.</a:t>
            </a:r>
          </a:p>
          <a:p>
            <a:pPr>
              <a:lnSpc>
                <a:spcPct val="140000"/>
              </a:lnSpc>
              <a:spcAft>
                <a:spcPts val="500"/>
              </a:spcAft>
            </a:pPr>
            <a:r>
              <a:rPr sz="919" b="0" i="0">
                <a:solidFill>
                  <a:srgbClr val="041E42"/>
                </a:solidFill>
                <a:latin typeface="Avenir Next"/>
              </a:rPr>
              <a:t>El criterio no se compra con presupuesto de medios. Se acumula con años de cubrimiento.</a:t>
            </a:r>
          </a:p>
        </p:txBody>
      </p:sp>
      <p:sp>
        <p:nvSpPr>
          <p:cNvPr id="20" name="Rounded Rectangle 19"/>
          <p:cNvSpPr/>
          <p:nvPr/>
        </p:nvSpPr>
        <p:spPr>
          <a:xfrm>
            <a:off x="731520" y="5431536"/>
            <a:ext cx="10728655" cy="713232"/>
          </a:xfrm>
          <a:prstGeom prst="roundRect">
            <a:avLst>
              <a:gd name="adj" fmla="val 24358"/>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1" name="TextBox 20"/>
          <p:cNvSpPr txBox="1"/>
          <p:nvPr/>
        </p:nvSpPr>
        <p:spPr>
          <a:xfrm>
            <a:off x="969264" y="5669280"/>
            <a:ext cx="10253167" cy="201168"/>
          </a:xfrm>
          <a:prstGeom prst="rect">
            <a:avLst/>
          </a:prstGeom>
          <a:noFill/>
        </p:spPr>
        <p:txBody>
          <a:bodyPr wrap="square" lIns="0" rIns="0" tIns="0" bIns="0">
            <a:normAutofit/>
          </a:bodyPr>
          <a:lstStyle/>
          <a:p>
            <a:r>
              <a:rPr sz="700" b="1" i="0" spc="130">
                <a:solidFill>
                  <a:srgbClr val="F5F3C4"/>
                </a:solidFill>
                <a:latin typeface="Avenir Next"/>
              </a:rPr>
              <a:t>Y UN PÚBLICO DESATENDIDO</a:t>
            </a:r>
          </a:p>
        </p:txBody>
      </p:sp>
      <p:sp>
        <p:nvSpPr>
          <p:cNvPr id="22" name="TextBox 21"/>
          <p:cNvSpPr txBox="1"/>
          <p:nvPr/>
        </p:nvSpPr>
        <p:spPr>
          <a:xfrm>
            <a:off x="969264" y="5907024"/>
            <a:ext cx="10253167" cy="155448"/>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Mastercard declara como objetivo los segmentos premium, la Gen Z y los apasionados del deporte. Visa apunta al usuario masivo y adoptante digital. El Clubmember clásico de 45 a 55 años no es el foco de ninguna de las dos.</a:t>
            </a:r>
          </a:p>
        </p:txBody>
      </p:sp>
      <p:sp>
        <p:nvSpPr>
          <p:cNvPr id="23" name="TextBox 22"/>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MAPA DE POSICIONAMIENTO DE LA CATEGORÍA EN COLOMBIA</a:t>
            </a:r>
          </a:p>
        </p:txBody>
      </p:sp>
      <p:sp>
        <p:nvSpPr>
          <p:cNvPr id="24" name="TextBox 23"/>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LA ARQUITECTURA</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Dos objetivos, tres </a:t>
            </a:r>
            <a:r>
              <a:rPr sz="2900" b="0" i="1">
                <a:solidFill>
                  <a:srgbClr val="004C97"/>
                </a:solidFill>
                <a:latin typeface="Baskerville"/>
              </a:rPr>
              <a:t>capas</a:t>
            </a:r>
          </a:p>
        </p:txBody>
      </p:sp>
      <p:sp>
        <p:nvSpPr>
          <p:cNvPr id="6" name="TextBox 5"/>
          <p:cNvSpPr txBox="1"/>
          <p:nvPr/>
        </p:nvSpPr>
        <p:spPr>
          <a:xfrm>
            <a:off x="731520" y="1517904"/>
            <a:ext cx="1042416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El relanzamiento de marca se sostiene en la capa editorial, que alcanza a quien todavía no es Clubmember. El posicionamiento de beneficios se sostiene en el beneficio recurrente y en las experiencias por invitación. La aceptación verificada atraviesa los dos.</a:t>
            </a:r>
          </a:p>
        </p:txBody>
      </p:sp>
      <p:sp>
        <p:nvSpPr>
          <p:cNvPr id="7" name="Rectangle 6"/>
          <p:cNvSpPr/>
          <p:nvPr/>
        </p:nvSpPr>
        <p:spPr>
          <a:xfrm>
            <a:off x="731520" y="2176272"/>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359152"/>
            <a:ext cx="3410712" cy="3785615"/>
          </a:xfrm>
          <a:prstGeom prst="roundRect">
            <a:avLst>
              <a:gd name="adj" fmla="val 5093"/>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596896"/>
            <a:ext cx="2935224" cy="310896"/>
          </a:xfrm>
          <a:prstGeom prst="rect">
            <a:avLst/>
          </a:prstGeom>
          <a:noFill/>
        </p:spPr>
        <p:txBody>
          <a:bodyPr wrap="square" lIns="0" rIns="0" tIns="0" bIns="0">
            <a:normAutofit/>
          </a:bodyPr>
          <a:lstStyle/>
          <a:p>
            <a:r>
              <a:rPr sz="1900" b="0" i="0">
                <a:solidFill>
                  <a:srgbClr val="F5F3C4"/>
                </a:solidFill>
                <a:latin typeface="Baskerville"/>
              </a:rPr>
              <a:t>01</a:t>
            </a:r>
          </a:p>
        </p:txBody>
      </p:sp>
      <p:sp>
        <p:nvSpPr>
          <p:cNvPr id="10" name="TextBox 9"/>
          <p:cNvSpPr txBox="1"/>
          <p:nvPr/>
        </p:nvSpPr>
        <p:spPr>
          <a:xfrm>
            <a:off x="969264" y="2926079"/>
            <a:ext cx="2935224" cy="201168"/>
          </a:xfrm>
          <a:prstGeom prst="rect">
            <a:avLst/>
          </a:prstGeom>
          <a:noFill/>
        </p:spPr>
        <p:txBody>
          <a:bodyPr wrap="square" lIns="0" rIns="0" tIns="0" bIns="0">
            <a:normAutofit/>
          </a:bodyPr>
          <a:lstStyle/>
          <a:p>
            <a:r>
              <a:rPr sz="700" b="1" i="0" spc="130">
                <a:solidFill>
                  <a:srgbClr val="F5F3C4"/>
                </a:solidFill>
                <a:latin typeface="Avenir Next"/>
              </a:rPr>
              <a:t>EL BENEFICIO</a:t>
            </a:r>
          </a:p>
        </p:txBody>
      </p:sp>
      <p:sp>
        <p:nvSpPr>
          <p:cNvPr id="11" name="TextBox 10"/>
          <p:cNvSpPr txBox="1"/>
          <p:nvPr/>
        </p:nvSpPr>
        <p:spPr>
          <a:xfrm>
            <a:off x="969264" y="3163824"/>
            <a:ext cx="2935224" cy="513080"/>
          </a:xfrm>
          <a:prstGeom prst="rect">
            <a:avLst/>
          </a:prstGeom>
          <a:noFill/>
        </p:spPr>
        <p:txBody>
          <a:bodyPr wrap="square" lIns="0" rIns="0" tIns="0" bIns="0">
            <a:normAutofit/>
          </a:bodyPr>
          <a:lstStyle/>
          <a:p>
            <a:pPr>
              <a:lnSpc>
                <a:spcPct val="105000"/>
              </a:lnSpc>
            </a:pPr>
            <a:r>
              <a:rPr sz="1500" b="0" i="0">
                <a:solidFill>
                  <a:srgbClr val="CCECF9"/>
                </a:solidFill>
                <a:latin typeface="Baskerville"/>
              </a:rPr>
              <a:t>Mesa Diners Club</a:t>
            </a:r>
          </a:p>
        </p:txBody>
      </p:sp>
      <p:sp>
        <p:nvSpPr>
          <p:cNvPr id="12" name="TextBox 11"/>
          <p:cNvSpPr txBox="1"/>
          <p:nvPr/>
        </p:nvSpPr>
        <p:spPr>
          <a:xfrm>
            <a:off x="969264" y="3750056"/>
            <a:ext cx="2935224"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Beneficio gastronómico recurrente con día fijo, sobre una selección de aliados con aceptación verificada.</a:t>
            </a:r>
          </a:p>
        </p:txBody>
      </p:sp>
      <p:sp>
        <p:nvSpPr>
          <p:cNvPr id="13" name="TextBox 12"/>
          <p:cNvSpPr txBox="1"/>
          <p:nvPr/>
        </p:nvSpPr>
        <p:spPr>
          <a:xfrm>
            <a:off x="969264" y="4092956"/>
            <a:ext cx="2935224" cy="603504"/>
          </a:xfrm>
          <a:prstGeom prst="rect">
            <a:avLst/>
          </a:prstGeom>
          <a:noFill/>
        </p:spPr>
        <p:txBody>
          <a:bodyPr wrap="square" lIns="0" rIns="0" tIns="0" bIns="0">
            <a:normAutofit/>
          </a:bodyPr>
          <a:lstStyle/>
          <a:p>
            <a:pPr>
              <a:lnSpc>
                <a:spcPct val="118000"/>
              </a:lnSpc>
              <a:spcAft>
                <a:spcPts val="350"/>
              </a:spcAft>
            </a:pPr>
            <a:r>
              <a:rPr sz="900" b="1">
                <a:solidFill>
                  <a:srgbClr val="F5F3C4"/>
                </a:solidFill>
                <a:latin typeface="Avenir Next"/>
              </a:rPr>
              <a:t>•  </a:t>
            </a:r>
            <a:r>
              <a:rPr sz="900">
                <a:solidFill>
                  <a:srgbClr val="CCECF9"/>
                </a:solidFill>
                <a:latin typeface="Avenir Next"/>
              </a:rPr>
              <a:t>Día fijo semanal</a:t>
            </a:r>
          </a:p>
          <a:p>
            <a:pPr>
              <a:lnSpc>
                <a:spcPct val="118000"/>
              </a:lnSpc>
              <a:spcAft>
                <a:spcPts val="350"/>
              </a:spcAft>
            </a:pPr>
            <a:r>
              <a:rPr sz="900" b="1">
                <a:solidFill>
                  <a:srgbClr val="F5F3C4"/>
                </a:solidFill>
                <a:latin typeface="Avenir Next"/>
              </a:rPr>
              <a:t>•  </a:t>
            </a:r>
            <a:r>
              <a:rPr sz="900">
                <a:solidFill>
                  <a:srgbClr val="CCECF9"/>
                </a:solidFill>
                <a:latin typeface="Avenir Next"/>
              </a:rPr>
              <a:t>Datáfono verificado como requisito</a:t>
            </a:r>
          </a:p>
          <a:p>
            <a:pPr>
              <a:lnSpc>
                <a:spcPct val="118000"/>
              </a:lnSpc>
              <a:spcAft>
                <a:spcPts val="350"/>
              </a:spcAft>
            </a:pPr>
            <a:r>
              <a:rPr sz="900" b="1">
                <a:solidFill>
                  <a:srgbClr val="F5F3C4"/>
                </a:solidFill>
                <a:latin typeface="Avenir Next"/>
              </a:rPr>
              <a:t>•  </a:t>
            </a:r>
            <a:r>
              <a:rPr sz="900">
                <a:solidFill>
                  <a:srgbClr val="CCECF9"/>
                </a:solidFill>
                <a:latin typeface="Avenir Next"/>
              </a:rPr>
              <a:t>Bogotá en el año uno</a:t>
            </a:r>
          </a:p>
        </p:txBody>
      </p:sp>
      <p:sp>
        <p:nvSpPr>
          <p:cNvPr id="14" name="Rounded Rectangle 13"/>
          <p:cNvSpPr/>
          <p:nvPr/>
        </p:nvSpPr>
        <p:spPr>
          <a:xfrm>
            <a:off x="4370832" y="2359152"/>
            <a:ext cx="3410712" cy="3785615"/>
          </a:xfrm>
          <a:prstGeom prst="roundRect">
            <a:avLst>
              <a:gd name="adj" fmla="val 5093"/>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5" name="TextBox 14"/>
          <p:cNvSpPr txBox="1"/>
          <p:nvPr/>
        </p:nvSpPr>
        <p:spPr>
          <a:xfrm>
            <a:off x="4608576" y="2596896"/>
            <a:ext cx="2935224" cy="310896"/>
          </a:xfrm>
          <a:prstGeom prst="rect">
            <a:avLst/>
          </a:prstGeom>
          <a:noFill/>
        </p:spPr>
        <p:txBody>
          <a:bodyPr wrap="square" lIns="0" rIns="0" tIns="0" bIns="0">
            <a:normAutofit/>
          </a:bodyPr>
          <a:lstStyle/>
          <a:p>
            <a:r>
              <a:rPr sz="1900" b="0" i="0">
                <a:solidFill>
                  <a:srgbClr val="F5F3C4"/>
                </a:solidFill>
                <a:latin typeface="Baskerville"/>
              </a:rPr>
              <a:t>02</a:t>
            </a:r>
          </a:p>
        </p:txBody>
      </p:sp>
      <p:sp>
        <p:nvSpPr>
          <p:cNvPr id="16" name="TextBox 15"/>
          <p:cNvSpPr txBox="1"/>
          <p:nvPr/>
        </p:nvSpPr>
        <p:spPr>
          <a:xfrm>
            <a:off x="4608576" y="2926079"/>
            <a:ext cx="2935224" cy="201168"/>
          </a:xfrm>
          <a:prstGeom prst="rect">
            <a:avLst/>
          </a:prstGeom>
          <a:noFill/>
        </p:spPr>
        <p:txBody>
          <a:bodyPr wrap="square" lIns="0" rIns="0" tIns="0" bIns="0">
            <a:normAutofit/>
          </a:bodyPr>
          <a:lstStyle/>
          <a:p>
            <a:r>
              <a:rPr sz="700" b="1" i="0" spc="130">
                <a:solidFill>
                  <a:srgbClr val="F5F3C4"/>
                </a:solidFill>
                <a:latin typeface="Avenir Next"/>
              </a:rPr>
              <a:t>EL DESCUBRIMIENTO</a:t>
            </a:r>
          </a:p>
        </p:txBody>
      </p:sp>
      <p:sp>
        <p:nvSpPr>
          <p:cNvPr id="17" name="TextBox 16"/>
          <p:cNvSpPr txBox="1"/>
          <p:nvPr/>
        </p:nvSpPr>
        <p:spPr>
          <a:xfrm>
            <a:off x="4608576" y="3163824"/>
            <a:ext cx="2935224" cy="513080"/>
          </a:xfrm>
          <a:prstGeom prst="rect">
            <a:avLst/>
          </a:prstGeom>
          <a:noFill/>
        </p:spPr>
        <p:txBody>
          <a:bodyPr wrap="square" lIns="0" rIns="0" tIns="0" bIns="0">
            <a:normAutofit/>
          </a:bodyPr>
          <a:lstStyle/>
          <a:p>
            <a:pPr>
              <a:lnSpc>
                <a:spcPct val="105000"/>
              </a:lnSpc>
            </a:pPr>
            <a:r>
              <a:rPr sz="1500" b="0" i="0">
                <a:solidFill>
                  <a:srgbClr val="CCECF9"/>
                </a:solidFill>
                <a:latin typeface="Baskerville"/>
              </a:rPr>
              <a:t>La Mesa Diners</a:t>
            </a:r>
          </a:p>
        </p:txBody>
      </p:sp>
      <p:sp>
        <p:nvSpPr>
          <p:cNvPr id="18" name="TextBox 17"/>
          <p:cNvSpPr txBox="1"/>
          <p:nvPr/>
        </p:nvSpPr>
        <p:spPr>
          <a:xfrm>
            <a:off x="4608576" y="3750056"/>
            <a:ext cx="2935224"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La sección editorial donde vive el beneficio. Convierte el descuento en criterio y alimenta el catálogo que la app cargará en 2027.</a:t>
            </a:r>
          </a:p>
        </p:txBody>
      </p:sp>
      <p:sp>
        <p:nvSpPr>
          <p:cNvPr id="19" name="TextBox 18"/>
          <p:cNvSpPr txBox="1"/>
          <p:nvPr/>
        </p:nvSpPr>
        <p:spPr>
          <a:xfrm>
            <a:off x="4608576" y="4092956"/>
            <a:ext cx="2935224" cy="603504"/>
          </a:xfrm>
          <a:prstGeom prst="rect">
            <a:avLst/>
          </a:prstGeom>
          <a:noFill/>
        </p:spPr>
        <p:txBody>
          <a:bodyPr wrap="square" lIns="0" rIns="0" tIns="0" bIns="0">
            <a:normAutofit/>
          </a:bodyPr>
          <a:lstStyle/>
          <a:p>
            <a:pPr>
              <a:lnSpc>
                <a:spcPct val="118000"/>
              </a:lnSpc>
              <a:spcAft>
                <a:spcPts val="350"/>
              </a:spcAft>
            </a:pPr>
            <a:r>
              <a:rPr sz="900" b="1">
                <a:solidFill>
                  <a:srgbClr val="F5F3C4"/>
                </a:solidFill>
                <a:latin typeface="Avenir Next"/>
              </a:rPr>
              <a:t>•  </a:t>
            </a:r>
            <a:r>
              <a:rPr sz="900">
                <a:solidFill>
                  <a:srgbClr val="CCECF9"/>
                </a:solidFill>
                <a:latin typeface="Avenir Next"/>
              </a:rPr>
              <a:t>Sección fija mensual en la revista</a:t>
            </a:r>
          </a:p>
          <a:p>
            <a:pPr>
              <a:lnSpc>
                <a:spcPct val="118000"/>
              </a:lnSpc>
              <a:spcAft>
                <a:spcPts val="350"/>
              </a:spcAft>
            </a:pPr>
            <a:r>
              <a:rPr sz="900" b="1">
                <a:solidFill>
                  <a:srgbClr val="F5F3C4"/>
                </a:solidFill>
                <a:latin typeface="Avenir Next"/>
              </a:rPr>
              <a:t>•  </a:t>
            </a:r>
            <a:r>
              <a:rPr sz="900">
                <a:solidFill>
                  <a:srgbClr val="CCECF9"/>
                </a:solidFill>
                <a:latin typeface="Avenir Next"/>
              </a:rPr>
              <a:t>Sección permanente en web</a:t>
            </a:r>
          </a:p>
          <a:p>
            <a:pPr>
              <a:lnSpc>
                <a:spcPct val="118000"/>
              </a:lnSpc>
              <a:spcAft>
                <a:spcPts val="350"/>
              </a:spcAft>
            </a:pPr>
            <a:r>
              <a:rPr sz="900" b="1">
                <a:solidFill>
                  <a:srgbClr val="F5F3C4"/>
                </a:solidFill>
                <a:latin typeface="Avenir Next"/>
              </a:rPr>
              <a:t>•  </a:t>
            </a:r>
            <a:r>
              <a:rPr sz="900">
                <a:solidFill>
                  <a:srgbClr val="CCECF9"/>
                </a:solidFill>
                <a:latin typeface="Avenir Next"/>
              </a:rPr>
              <a:t>Serie de videos</a:t>
            </a:r>
          </a:p>
        </p:txBody>
      </p:sp>
      <p:sp>
        <p:nvSpPr>
          <p:cNvPr id="20" name="Rounded Rectangle 19"/>
          <p:cNvSpPr/>
          <p:nvPr/>
        </p:nvSpPr>
        <p:spPr>
          <a:xfrm>
            <a:off x="8010144" y="2359152"/>
            <a:ext cx="3410712" cy="3785615"/>
          </a:xfrm>
          <a:prstGeom prst="roundRect">
            <a:avLst>
              <a:gd name="adj" fmla="val 5093"/>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1" name="TextBox 20"/>
          <p:cNvSpPr txBox="1"/>
          <p:nvPr/>
        </p:nvSpPr>
        <p:spPr>
          <a:xfrm>
            <a:off x="8247888" y="2596896"/>
            <a:ext cx="2935224" cy="310896"/>
          </a:xfrm>
          <a:prstGeom prst="rect">
            <a:avLst/>
          </a:prstGeom>
          <a:noFill/>
        </p:spPr>
        <p:txBody>
          <a:bodyPr wrap="square" lIns="0" rIns="0" tIns="0" bIns="0">
            <a:normAutofit/>
          </a:bodyPr>
          <a:lstStyle/>
          <a:p>
            <a:r>
              <a:rPr sz="1900" b="0" i="0">
                <a:solidFill>
                  <a:srgbClr val="F5F3C4"/>
                </a:solidFill>
                <a:latin typeface="Baskerville"/>
              </a:rPr>
              <a:t>03</a:t>
            </a:r>
          </a:p>
        </p:txBody>
      </p:sp>
      <p:sp>
        <p:nvSpPr>
          <p:cNvPr id="22" name="TextBox 21"/>
          <p:cNvSpPr txBox="1"/>
          <p:nvPr/>
        </p:nvSpPr>
        <p:spPr>
          <a:xfrm>
            <a:off x="8247888" y="2926079"/>
            <a:ext cx="2935224" cy="201168"/>
          </a:xfrm>
          <a:prstGeom prst="rect">
            <a:avLst/>
          </a:prstGeom>
          <a:noFill/>
        </p:spPr>
        <p:txBody>
          <a:bodyPr wrap="square" lIns="0" rIns="0" tIns="0" bIns="0">
            <a:normAutofit/>
          </a:bodyPr>
          <a:lstStyle/>
          <a:p>
            <a:r>
              <a:rPr sz="700" b="1" i="0" spc="130">
                <a:solidFill>
                  <a:srgbClr val="F5F3C4"/>
                </a:solidFill>
                <a:latin typeface="Avenir Next"/>
              </a:rPr>
              <a:t>EL ESTATUS</a:t>
            </a:r>
          </a:p>
        </p:txBody>
      </p:sp>
      <p:sp>
        <p:nvSpPr>
          <p:cNvPr id="23" name="TextBox 22"/>
          <p:cNvSpPr txBox="1"/>
          <p:nvPr/>
        </p:nvSpPr>
        <p:spPr>
          <a:xfrm>
            <a:off x="8247888" y="3163824"/>
            <a:ext cx="2935224" cy="513080"/>
          </a:xfrm>
          <a:prstGeom prst="rect">
            <a:avLst/>
          </a:prstGeom>
          <a:noFill/>
        </p:spPr>
        <p:txBody>
          <a:bodyPr wrap="square" lIns="0" rIns="0" tIns="0" bIns="0">
            <a:normAutofit/>
          </a:bodyPr>
          <a:lstStyle/>
          <a:p>
            <a:pPr>
              <a:lnSpc>
                <a:spcPct val="105000"/>
              </a:lnSpc>
            </a:pPr>
            <a:r>
              <a:rPr sz="1500" b="0" i="0">
                <a:solidFill>
                  <a:srgbClr val="CCECF9"/>
                </a:solidFill>
                <a:latin typeface="Baskerville"/>
              </a:rPr>
              <a:t>Experiencias OBI</a:t>
            </a:r>
          </a:p>
        </p:txBody>
      </p:sp>
      <p:sp>
        <p:nvSpPr>
          <p:cNvPr id="24" name="TextBox 23"/>
          <p:cNvSpPr txBox="1"/>
          <p:nvPr/>
        </p:nvSpPr>
        <p:spPr>
          <a:xfrm>
            <a:off x="8247888" y="3750056"/>
            <a:ext cx="2935224"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Only By Invitation. Acceso limitado a experiencias que no se compran, dirigido al segmento Black.</a:t>
            </a:r>
          </a:p>
        </p:txBody>
      </p:sp>
      <p:sp>
        <p:nvSpPr>
          <p:cNvPr id="25" name="TextBox 24"/>
          <p:cNvSpPr txBox="1"/>
          <p:nvPr/>
        </p:nvSpPr>
        <p:spPr>
          <a:xfrm>
            <a:off x="8247888" y="4092956"/>
            <a:ext cx="2935224" cy="603504"/>
          </a:xfrm>
          <a:prstGeom prst="rect">
            <a:avLst/>
          </a:prstGeom>
          <a:noFill/>
        </p:spPr>
        <p:txBody>
          <a:bodyPr wrap="square" lIns="0" rIns="0" tIns="0" bIns="0">
            <a:normAutofit/>
          </a:bodyPr>
          <a:lstStyle/>
          <a:p>
            <a:pPr>
              <a:lnSpc>
                <a:spcPct val="118000"/>
              </a:lnSpc>
              <a:spcAft>
                <a:spcPts val="350"/>
              </a:spcAft>
            </a:pPr>
            <a:r>
              <a:rPr sz="900" b="1">
                <a:solidFill>
                  <a:srgbClr val="F5F3C4"/>
                </a:solidFill>
                <a:latin typeface="Avenir Next"/>
              </a:rPr>
              <a:t>•  </a:t>
            </a:r>
            <a:r>
              <a:rPr sz="900">
                <a:solidFill>
                  <a:srgbClr val="CCECF9"/>
                </a:solidFill>
                <a:latin typeface="Avenir Next"/>
              </a:rPr>
              <a:t>Seis experiencias en el año</a:t>
            </a:r>
          </a:p>
          <a:p>
            <a:pPr>
              <a:lnSpc>
                <a:spcPct val="118000"/>
              </a:lnSpc>
              <a:spcAft>
                <a:spcPts val="350"/>
              </a:spcAft>
            </a:pPr>
            <a:r>
              <a:rPr sz="900" b="1">
                <a:solidFill>
                  <a:srgbClr val="F5F3C4"/>
                </a:solidFill>
                <a:latin typeface="Avenir Next"/>
              </a:rPr>
              <a:t>•  </a:t>
            </a:r>
            <a:r>
              <a:rPr sz="900">
                <a:solidFill>
                  <a:srgbClr val="CCECF9"/>
                </a:solidFill>
                <a:latin typeface="Avenir Next"/>
              </a:rPr>
              <a:t>Cupo corto, por invitación</a:t>
            </a:r>
          </a:p>
          <a:p>
            <a:pPr>
              <a:lnSpc>
                <a:spcPct val="118000"/>
              </a:lnSpc>
              <a:spcAft>
                <a:spcPts val="350"/>
              </a:spcAft>
            </a:pPr>
            <a:r>
              <a:rPr sz="900" b="1">
                <a:solidFill>
                  <a:srgbClr val="F5F3C4"/>
                </a:solidFill>
                <a:latin typeface="Avenir Next"/>
              </a:rPr>
              <a:t>•  </a:t>
            </a:r>
            <a:r>
              <a:rPr sz="900">
                <a:solidFill>
                  <a:srgbClr val="CCECF9"/>
                </a:solidFill>
                <a:latin typeface="Avenir Next"/>
              </a:rPr>
              <a:t>Cubrimiento editorial incluido</a:t>
            </a:r>
          </a:p>
        </p:txBody>
      </p:sp>
      <p:sp>
        <p:nvSpPr>
          <p:cNvPr id="26" name="TextBox 25"/>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LAS TRES OPERAN SOBRE LA MISMA RED DE ALIADOS VERIFICADOS</a:t>
            </a:r>
          </a:p>
        </p:txBody>
      </p:sp>
      <p:sp>
        <p:nvSpPr>
          <p:cNvPr id="27" name="TextBox 26"/>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CAPA 1 · EL BENEFICIO</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Mesa </a:t>
            </a:r>
            <a:r>
              <a:rPr sz="2900" b="0" i="1">
                <a:solidFill>
                  <a:srgbClr val="004C97"/>
                </a:solidFill>
                <a:latin typeface="Baskerville"/>
              </a:rPr>
              <a:t>Diners Club</a:t>
            </a:r>
          </a:p>
        </p:txBody>
      </p:sp>
      <p:sp>
        <p:nvSpPr>
          <p:cNvPr id="6" name="TextBox 5"/>
          <p:cNvSpPr txBox="1"/>
          <p:nvPr/>
        </p:nvSpPr>
        <p:spPr>
          <a:xfrm>
            <a:off x="731520" y="1517904"/>
            <a:ext cx="694944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Adaptación colombiana de la mecánica de descuento en días de baja reserva, que el programa global reconoce como práctica probada.</a:t>
            </a:r>
          </a:p>
        </p:txBody>
      </p:sp>
      <p:sp>
        <p:nvSpPr>
          <p:cNvPr id="7" name="Rectangle 6"/>
          <p:cNvSpPr/>
          <p:nvPr/>
        </p:nvSpPr>
        <p:spPr>
          <a:xfrm>
            <a:off x="731520" y="1993391"/>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176272"/>
            <a:ext cx="3749039" cy="3968496"/>
          </a:xfrm>
          <a:prstGeom prst="roundRect">
            <a:avLst>
              <a:gd name="adj" fmla="val 4634"/>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414015"/>
            <a:ext cx="3273551" cy="201168"/>
          </a:xfrm>
          <a:prstGeom prst="rect">
            <a:avLst/>
          </a:prstGeom>
          <a:noFill/>
        </p:spPr>
        <p:txBody>
          <a:bodyPr wrap="square" lIns="0" rIns="0" tIns="0" bIns="0">
            <a:normAutofit/>
          </a:bodyPr>
          <a:lstStyle/>
          <a:p>
            <a:r>
              <a:rPr sz="700" b="1" i="0" spc="130">
                <a:solidFill>
                  <a:srgbClr val="004C97"/>
                </a:solidFill>
                <a:latin typeface="Avenir Next"/>
              </a:rPr>
              <a:t>CÓMO OPERA</a:t>
            </a:r>
          </a:p>
        </p:txBody>
      </p:sp>
      <p:sp>
        <p:nvSpPr>
          <p:cNvPr id="10" name="TextBox 9"/>
          <p:cNvSpPr txBox="1"/>
          <p:nvPr/>
        </p:nvSpPr>
        <p:spPr>
          <a:xfrm>
            <a:off x="969264" y="2651759"/>
            <a:ext cx="3273551" cy="497162"/>
          </a:xfrm>
          <a:prstGeom prst="rect">
            <a:avLst/>
          </a:prstGeom>
          <a:noFill/>
        </p:spPr>
        <p:txBody>
          <a:bodyPr wrap="square" lIns="0" rIns="0" tIns="0" bIns="0">
            <a:normAutofit/>
          </a:bodyPr>
          <a:lstStyle/>
          <a:p>
            <a:pPr>
              <a:lnSpc>
                <a:spcPct val="105000"/>
              </a:lnSpc>
            </a:pPr>
            <a:r>
              <a:rPr sz="1400" b="0" i="0">
                <a:solidFill>
                  <a:srgbClr val="041E42"/>
                </a:solidFill>
                <a:latin typeface="Baskerville"/>
              </a:rPr>
              <a:t>Un día fijo, una lista corta</a:t>
            </a:r>
          </a:p>
        </p:txBody>
      </p:sp>
      <p:sp>
        <p:nvSpPr>
          <p:cNvPr id="11" name="TextBox 10"/>
          <p:cNvSpPr txBox="1"/>
          <p:nvPr/>
        </p:nvSpPr>
        <p:spPr>
          <a:xfrm>
            <a:off x="969264" y="3222074"/>
            <a:ext cx="3273551" cy="914400"/>
          </a:xfrm>
          <a:prstGeom prst="rect">
            <a:avLst/>
          </a:prstGeom>
          <a:noFill/>
        </p:spPr>
        <p:txBody>
          <a:bodyPr wrap="square" lIns="0" rIns="0" tIns="0" bIns="0">
            <a:normAutofit/>
          </a:bodyPr>
          <a:lstStyle/>
          <a:p>
            <a:pPr>
              <a:lnSpc>
                <a:spcPct val="118000"/>
              </a:lnSpc>
              <a:spcAft>
                <a:spcPts val="350"/>
              </a:spcAft>
            </a:pPr>
            <a:r>
              <a:rPr sz="900" b="1">
                <a:solidFill>
                  <a:srgbClr val="004C97"/>
                </a:solidFill>
                <a:latin typeface="Avenir Next"/>
              </a:rPr>
              <a:t>•  </a:t>
            </a:r>
            <a:r>
              <a:rPr sz="900" b="1">
                <a:solidFill>
                  <a:srgbClr val="041E42"/>
                </a:solidFill>
                <a:latin typeface="Avenir Next"/>
              </a:rPr>
              <a:t>Beneficio: </a:t>
            </a:r>
            <a:r>
              <a:rPr sz="900">
                <a:solidFill>
                  <a:srgbClr val="041E42"/>
                </a:solidFill>
                <a:latin typeface="Avenir Next"/>
              </a:rPr>
              <a:t>porcentaje sobre la cuenta</a:t>
            </a:r>
          </a:p>
          <a:p>
            <a:pPr>
              <a:lnSpc>
                <a:spcPct val="118000"/>
              </a:lnSpc>
              <a:spcAft>
                <a:spcPts val="350"/>
              </a:spcAft>
            </a:pPr>
            <a:r>
              <a:rPr sz="900" b="1">
                <a:solidFill>
                  <a:srgbClr val="004C97"/>
                </a:solidFill>
                <a:latin typeface="Avenir Next"/>
              </a:rPr>
              <a:t>•  </a:t>
            </a:r>
            <a:r>
              <a:rPr sz="900" b="1">
                <a:solidFill>
                  <a:srgbClr val="041E42"/>
                </a:solidFill>
                <a:latin typeface="Avenir Next"/>
              </a:rPr>
              <a:t>Frecuencia: </a:t>
            </a:r>
            <a:r>
              <a:rPr sz="900">
                <a:solidFill>
                  <a:srgbClr val="041E42"/>
                </a:solidFill>
                <a:latin typeface="Avenir Next"/>
              </a:rPr>
              <a:t>día fijo semanal, para construir hábito</a:t>
            </a:r>
          </a:p>
          <a:p>
            <a:pPr>
              <a:lnSpc>
                <a:spcPct val="118000"/>
              </a:lnSpc>
              <a:spcAft>
                <a:spcPts val="350"/>
              </a:spcAft>
            </a:pPr>
            <a:r>
              <a:rPr sz="900" b="1">
                <a:solidFill>
                  <a:srgbClr val="004C97"/>
                </a:solidFill>
                <a:latin typeface="Avenir Next"/>
              </a:rPr>
              <a:t>•  </a:t>
            </a:r>
            <a:r>
              <a:rPr sz="900" b="1">
                <a:solidFill>
                  <a:srgbClr val="041E42"/>
                </a:solidFill>
                <a:latin typeface="Avenir Next"/>
              </a:rPr>
              <a:t>Cobertura: </a:t>
            </a:r>
            <a:r>
              <a:rPr sz="900">
                <a:solidFill>
                  <a:srgbClr val="041E42"/>
                </a:solidFill>
                <a:latin typeface="Avenir Next"/>
              </a:rPr>
              <a:t>Bogotá en el año uno</a:t>
            </a:r>
          </a:p>
          <a:p>
            <a:pPr>
              <a:lnSpc>
                <a:spcPct val="118000"/>
              </a:lnSpc>
              <a:spcAft>
                <a:spcPts val="350"/>
              </a:spcAft>
            </a:pPr>
            <a:r>
              <a:rPr sz="900" b="1">
                <a:solidFill>
                  <a:srgbClr val="004C97"/>
                </a:solidFill>
                <a:latin typeface="Avenir Next"/>
              </a:rPr>
              <a:t>•  </a:t>
            </a:r>
            <a:r>
              <a:rPr sz="900" b="1">
                <a:solidFill>
                  <a:srgbClr val="041E42"/>
                </a:solidFill>
                <a:latin typeface="Avenir Next"/>
              </a:rPr>
              <a:t>Requisito del aliado: </a:t>
            </a:r>
            <a:r>
              <a:rPr sz="900">
                <a:solidFill>
                  <a:srgbClr val="041E42"/>
                </a:solidFill>
                <a:latin typeface="Avenir Next"/>
              </a:rPr>
              <a:t>Diners verificada en el datáfono</a:t>
            </a:r>
          </a:p>
          <a:p>
            <a:pPr>
              <a:lnSpc>
                <a:spcPct val="118000"/>
              </a:lnSpc>
              <a:spcAft>
                <a:spcPts val="350"/>
              </a:spcAft>
            </a:pPr>
            <a:r>
              <a:rPr sz="900" b="1">
                <a:solidFill>
                  <a:srgbClr val="004C97"/>
                </a:solidFill>
                <a:latin typeface="Avenir Next"/>
              </a:rPr>
              <a:t>•  </a:t>
            </a:r>
            <a:r>
              <a:rPr sz="900" b="1">
                <a:solidFill>
                  <a:srgbClr val="041E42"/>
                </a:solidFill>
                <a:latin typeface="Avenir Next"/>
              </a:rPr>
              <a:t>Condición: </a:t>
            </a:r>
            <a:r>
              <a:rPr sz="900">
                <a:solidFill>
                  <a:srgbClr val="041E42"/>
                </a:solidFill>
                <a:latin typeface="Avenir Next"/>
              </a:rPr>
              <a:t>reserva obligatoria</a:t>
            </a:r>
          </a:p>
        </p:txBody>
      </p:sp>
      <p:sp>
        <p:nvSpPr>
          <p:cNvPr id="12" name="Rounded Rectangle 11"/>
          <p:cNvSpPr/>
          <p:nvPr/>
        </p:nvSpPr>
        <p:spPr>
          <a:xfrm>
            <a:off x="4709159" y="2176272"/>
            <a:ext cx="3749039" cy="3968496"/>
          </a:xfrm>
          <a:prstGeom prst="roundRect">
            <a:avLst>
              <a:gd name="adj" fmla="val 4634"/>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3" name="TextBox 12"/>
          <p:cNvSpPr txBox="1"/>
          <p:nvPr/>
        </p:nvSpPr>
        <p:spPr>
          <a:xfrm>
            <a:off x="4946903" y="2414015"/>
            <a:ext cx="3273551" cy="201168"/>
          </a:xfrm>
          <a:prstGeom prst="rect">
            <a:avLst/>
          </a:prstGeom>
          <a:noFill/>
        </p:spPr>
        <p:txBody>
          <a:bodyPr wrap="square" lIns="0" rIns="0" tIns="0" bIns="0">
            <a:normAutofit/>
          </a:bodyPr>
          <a:lstStyle/>
          <a:p>
            <a:r>
              <a:rPr sz="700" b="1" i="0" spc="130">
                <a:solidFill>
                  <a:srgbClr val="004C97"/>
                </a:solidFill>
                <a:latin typeface="Avenir Next"/>
              </a:rPr>
              <a:t>QUÉ LO DIFERENCIA DEL MODELO DE DESCUENTO</a:t>
            </a:r>
          </a:p>
        </p:txBody>
      </p:sp>
      <p:sp>
        <p:nvSpPr>
          <p:cNvPr id="14" name="TextBox 13"/>
          <p:cNvSpPr txBox="1"/>
          <p:nvPr/>
        </p:nvSpPr>
        <p:spPr>
          <a:xfrm>
            <a:off x="4946903" y="2651759"/>
            <a:ext cx="3273551" cy="497162"/>
          </a:xfrm>
          <a:prstGeom prst="rect">
            <a:avLst/>
          </a:prstGeom>
          <a:noFill/>
        </p:spPr>
        <p:txBody>
          <a:bodyPr wrap="square" lIns="0" rIns="0" tIns="0" bIns="0">
            <a:normAutofit/>
          </a:bodyPr>
          <a:lstStyle/>
          <a:p>
            <a:pPr>
              <a:lnSpc>
                <a:spcPct val="105000"/>
              </a:lnSpc>
            </a:pPr>
            <a:r>
              <a:rPr sz="1400" b="0" i="0">
                <a:solidFill>
                  <a:srgbClr val="041E42"/>
                </a:solidFill>
                <a:latin typeface="Baskerville"/>
              </a:rPr>
              <a:t>El aliado paga la visibilidad</a:t>
            </a:r>
          </a:p>
        </p:txBody>
      </p:sp>
      <p:sp>
        <p:nvSpPr>
          <p:cNvPr id="15" name="TextBox 14"/>
          <p:cNvSpPr txBox="1"/>
          <p:nvPr/>
        </p:nvSpPr>
        <p:spPr>
          <a:xfrm>
            <a:off x="4946903" y="3222074"/>
            <a:ext cx="3273551" cy="800099"/>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En lugar de financiar un descuento profundo, el establecimiento paga por aparecer en la selección editorial. El costo neto del programa baja y la oferta crece sin inversión adicional.</a:t>
            </a:r>
          </a:p>
          <a:p>
            <a:pPr>
              <a:lnSpc>
                <a:spcPct val="140000"/>
              </a:lnSpc>
              <a:spcAft>
                <a:spcPts val="500"/>
              </a:spcAft>
            </a:pPr>
            <a:r>
              <a:rPr sz="919" b="0" i="0">
                <a:solidFill>
                  <a:srgbClr val="041E42"/>
                </a:solidFill>
                <a:latin typeface="Avenir Next"/>
              </a:rPr>
              <a:t>Es una oferta menos agresiva y una economía que mejora con la escala. Quedamos abiertos a modelar la alternativa de descuento financiado.</a:t>
            </a:r>
          </a:p>
        </p:txBody>
      </p:sp>
      <p:sp>
        <p:nvSpPr>
          <p:cNvPr id="16" name="Rectangle 15"/>
          <p:cNvSpPr/>
          <p:nvPr/>
        </p:nvSpPr>
        <p:spPr>
          <a:xfrm>
            <a:off x="8686800" y="2176272"/>
            <a:ext cx="2773375" cy="3968496"/>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7" name="TextBox 16"/>
          <p:cNvSpPr txBox="1"/>
          <p:nvPr/>
        </p:nvSpPr>
        <p:spPr>
          <a:xfrm>
            <a:off x="9144000" y="3337560"/>
            <a:ext cx="1858975" cy="1645920"/>
          </a:xfrm>
          <a:prstGeom prst="rect">
            <a:avLst/>
          </a:prstGeom>
          <a:noFill/>
        </p:spPr>
        <p:txBody>
          <a:bodyPr wrap="square" lIns="0" rIns="0" tIns="0" bIns="0">
            <a:normAutofit/>
          </a:bodyPr>
          <a:lstStyle/>
          <a:p>
            <a:pPr>
              <a:lnSpc>
                <a:spcPct val="116000"/>
              </a:lnSpc>
            </a:pPr>
            <a:r>
              <a:rPr sz="1700" b="0" i="0">
                <a:solidFill>
                  <a:srgbClr val="CCECF9"/>
                </a:solidFill>
                <a:latin typeface="Baskerville"/>
              </a:rPr>
              <a:t>A fixed day.
</a:t>
            </a:r>
            <a:r>
              <a:rPr sz="1700" b="0" i="0">
                <a:solidFill>
                  <a:srgbClr val="F5F3C4"/>
                </a:solidFill>
                <a:latin typeface="Baskerville"/>
              </a:rPr>
              <a:t>( A short list ) </a:t>
            </a:r>
            <a:r>
              <a:rPr sz="1700" b="0" i="0">
                <a:solidFill>
                  <a:srgbClr val="CCECF9"/>
                </a:solidFill>
                <a:latin typeface="Baskerville"/>
              </a:rPr>
              <a:t>Club</a:t>
            </a:r>
          </a:p>
        </p:txBody>
      </p:sp>
      <p:pic>
        <p:nvPicPr>
          <p:cNvPr id="18" name="Picture 17" descr="logo_emb-n.png"/>
          <p:cNvPicPr>
            <a:picLocks noChangeAspect="1"/>
          </p:cNvPicPr>
          <p:nvPr/>
        </p:nvPicPr>
        <p:blipFill>
          <a:blip r:embed="rId3"/>
          <a:stretch>
            <a:fillRect/>
          </a:stretch>
        </p:blipFill>
        <p:spPr>
          <a:xfrm>
            <a:off x="9144000" y="5230368"/>
            <a:ext cx="566928" cy="566928"/>
          </a:xfrm>
          <a:prstGeom prst="rect">
            <a:avLst/>
          </a:prstGeom>
        </p:spPr>
      </p:pic>
      <p:sp>
        <p:nvSpPr>
          <p:cNvPr id="19" name="TextBox 18"/>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MAPEA SOBRE REWARDS &amp; DINING OFFERS</a:t>
            </a:r>
          </a:p>
        </p:txBody>
      </p:sp>
      <p:sp>
        <p:nvSpPr>
          <p:cNvPr id="20" name="TextBox 19"/>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n.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F5F3C4"/>
                </a:solidFill>
                <a:latin typeface="Avenir Next"/>
              </a:rPr>
              <a:t>CAPA 2 · EL DESCUBRIMIENTO</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CCECF9"/>
                </a:solidFill>
                <a:latin typeface="Baskerville"/>
              </a:rPr>
              <a:t>Un descuento no se recuerda, un criterio </a:t>
            </a:r>
            <a:r>
              <a:rPr sz="2900" b="0" i="1">
                <a:solidFill>
                  <a:srgbClr val="F5F3C4"/>
                </a:solidFill>
                <a:latin typeface="Baskerville"/>
              </a:rPr>
              <a:t>sí</a:t>
            </a:r>
          </a:p>
        </p:txBody>
      </p:sp>
      <p:sp>
        <p:nvSpPr>
          <p:cNvPr id="6" name="TextBox 5"/>
          <p:cNvSpPr txBox="1"/>
          <p:nvPr/>
        </p:nvSpPr>
        <p:spPr>
          <a:xfrm>
            <a:off x="731520" y="1517904"/>
            <a:ext cx="8138160" cy="457200"/>
          </a:xfrm>
          <a:prstGeom prst="rect">
            <a:avLst/>
          </a:prstGeom>
          <a:noFill/>
        </p:spPr>
        <p:txBody>
          <a:bodyPr wrap="square" lIns="0" rIns="0" tIns="0" bIns="0">
            <a:normAutofit/>
          </a:bodyPr>
          <a:lstStyle/>
          <a:p>
            <a:pPr>
              <a:lnSpc>
                <a:spcPct val="140000"/>
              </a:lnSpc>
            </a:pPr>
            <a:r>
              <a:rPr sz="960" b="0" i="0">
                <a:solidFill>
                  <a:srgbClr val="A8C4DA"/>
                </a:solidFill>
                <a:latin typeface="Avenir Next"/>
              </a:rPr>
              <a:t>La selección de los lugares, cocineros y rituales que definen el buen comer en Bogotá, con el estándar editorial de la Revista Diners.</a:t>
            </a:r>
          </a:p>
        </p:txBody>
      </p:sp>
      <p:sp>
        <p:nvSpPr>
          <p:cNvPr id="7" name="Rectangle 6"/>
          <p:cNvSpPr/>
          <p:nvPr/>
        </p:nvSpPr>
        <p:spPr>
          <a:xfrm>
            <a:off x="731520" y="1993391"/>
            <a:ext cx="10728655" cy="10972"/>
          </a:xfrm>
          <a:prstGeom prst="rect">
            <a:avLst/>
          </a:prstGeom>
          <a:solidFill>
            <a:srgbClr val="A8C4D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176272"/>
            <a:ext cx="3410712" cy="2871216"/>
          </a:xfrm>
          <a:prstGeom prst="roundRect">
            <a:avLst>
              <a:gd name="adj" fmla="val 6050"/>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414015"/>
            <a:ext cx="2935224" cy="201168"/>
          </a:xfrm>
          <a:prstGeom prst="rect">
            <a:avLst/>
          </a:prstGeom>
          <a:noFill/>
        </p:spPr>
        <p:txBody>
          <a:bodyPr wrap="square" lIns="0" rIns="0" tIns="0" bIns="0">
            <a:normAutofit/>
          </a:bodyPr>
          <a:lstStyle/>
          <a:p>
            <a:r>
              <a:rPr sz="700" b="1" i="0" spc="130">
                <a:solidFill>
                  <a:srgbClr val="F5F3C4"/>
                </a:solidFill>
                <a:latin typeface="Avenir Next"/>
              </a:rPr>
              <a:t>SOPORTE 1</a:t>
            </a:r>
          </a:p>
        </p:txBody>
      </p:sp>
      <p:sp>
        <p:nvSpPr>
          <p:cNvPr id="10" name="TextBox 9"/>
          <p:cNvSpPr txBox="1"/>
          <p:nvPr/>
        </p:nvSpPr>
        <p:spPr>
          <a:xfrm>
            <a:off x="969264" y="2651759"/>
            <a:ext cx="2935224" cy="497162"/>
          </a:xfrm>
          <a:prstGeom prst="rect">
            <a:avLst/>
          </a:prstGeom>
          <a:noFill/>
        </p:spPr>
        <p:txBody>
          <a:bodyPr wrap="square" lIns="0" rIns="0" tIns="0" bIns="0">
            <a:normAutofit/>
          </a:bodyPr>
          <a:lstStyle/>
          <a:p>
            <a:pPr>
              <a:lnSpc>
                <a:spcPct val="105000"/>
              </a:lnSpc>
            </a:pPr>
            <a:r>
              <a:rPr sz="1400" b="0" i="0">
                <a:solidFill>
                  <a:srgbClr val="CCECF9"/>
                </a:solidFill>
                <a:latin typeface="Baskerville"/>
              </a:rPr>
              <a:t>Sección fija mensual</a:t>
            </a:r>
          </a:p>
        </p:txBody>
      </p:sp>
      <p:sp>
        <p:nvSpPr>
          <p:cNvPr id="11" name="TextBox 10"/>
          <p:cNvSpPr txBox="1"/>
          <p:nvPr/>
        </p:nvSpPr>
        <p:spPr>
          <a:xfrm>
            <a:off x="969264" y="3222074"/>
            <a:ext cx="2935224"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Sección nueva, complementaria al programa. No ocupa espacio existente: se crea para esto, en posición fija.</a:t>
            </a:r>
          </a:p>
        </p:txBody>
      </p:sp>
      <p:sp>
        <p:nvSpPr>
          <p:cNvPr id="12" name="Rounded Rectangle 11"/>
          <p:cNvSpPr/>
          <p:nvPr/>
        </p:nvSpPr>
        <p:spPr>
          <a:xfrm>
            <a:off x="4370832" y="2176272"/>
            <a:ext cx="3410712" cy="2871216"/>
          </a:xfrm>
          <a:prstGeom prst="roundRect">
            <a:avLst>
              <a:gd name="adj" fmla="val 6050"/>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3" name="TextBox 12"/>
          <p:cNvSpPr txBox="1"/>
          <p:nvPr/>
        </p:nvSpPr>
        <p:spPr>
          <a:xfrm>
            <a:off x="4608576" y="2414015"/>
            <a:ext cx="2935224" cy="201168"/>
          </a:xfrm>
          <a:prstGeom prst="rect">
            <a:avLst/>
          </a:prstGeom>
          <a:noFill/>
        </p:spPr>
        <p:txBody>
          <a:bodyPr wrap="square" lIns="0" rIns="0" tIns="0" bIns="0">
            <a:normAutofit/>
          </a:bodyPr>
          <a:lstStyle/>
          <a:p>
            <a:r>
              <a:rPr sz="700" b="1" i="0" spc="130">
                <a:solidFill>
                  <a:srgbClr val="F5F3C4"/>
                </a:solidFill>
                <a:latin typeface="Avenir Next"/>
              </a:rPr>
              <a:t>SOPORTE 2</a:t>
            </a:r>
          </a:p>
        </p:txBody>
      </p:sp>
      <p:sp>
        <p:nvSpPr>
          <p:cNvPr id="14" name="TextBox 13"/>
          <p:cNvSpPr txBox="1"/>
          <p:nvPr/>
        </p:nvSpPr>
        <p:spPr>
          <a:xfrm>
            <a:off x="4608576" y="2651759"/>
            <a:ext cx="2935224" cy="497162"/>
          </a:xfrm>
          <a:prstGeom prst="rect">
            <a:avLst/>
          </a:prstGeom>
          <a:noFill/>
        </p:spPr>
        <p:txBody>
          <a:bodyPr wrap="square" lIns="0" rIns="0" tIns="0" bIns="0">
            <a:normAutofit/>
          </a:bodyPr>
          <a:lstStyle/>
          <a:p>
            <a:pPr>
              <a:lnSpc>
                <a:spcPct val="105000"/>
              </a:lnSpc>
            </a:pPr>
            <a:r>
              <a:rPr sz="1400" b="0" i="0">
                <a:solidFill>
                  <a:srgbClr val="CCECF9"/>
                </a:solidFill>
                <a:latin typeface="Baskerville"/>
              </a:rPr>
              <a:t>Sección permanente en web</a:t>
            </a:r>
          </a:p>
        </p:txBody>
      </p:sp>
      <p:sp>
        <p:nvSpPr>
          <p:cNvPr id="15" name="TextBox 14"/>
          <p:cNvSpPr txBox="1"/>
          <p:nvPr/>
        </p:nvSpPr>
        <p:spPr>
          <a:xfrm>
            <a:off x="4608576" y="3222074"/>
            <a:ext cx="2935224" cy="155448"/>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La selección viva y buscable, enlazada con la lista de aliados verificados.</a:t>
            </a:r>
          </a:p>
        </p:txBody>
      </p:sp>
      <p:sp>
        <p:nvSpPr>
          <p:cNvPr id="16" name="Rounded Rectangle 15"/>
          <p:cNvSpPr/>
          <p:nvPr/>
        </p:nvSpPr>
        <p:spPr>
          <a:xfrm>
            <a:off x="8010144" y="2176272"/>
            <a:ext cx="3410712" cy="2871216"/>
          </a:xfrm>
          <a:prstGeom prst="roundRect">
            <a:avLst>
              <a:gd name="adj" fmla="val 6050"/>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7" name="TextBox 16"/>
          <p:cNvSpPr txBox="1"/>
          <p:nvPr/>
        </p:nvSpPr>
        <p:spPr>
          <a:xfrm>
            <a:off x="8247888" y="2414015"/>
            <a:ext cx="2935224" cy="201168"/>
          </a:xfrm>
          <a:prstGeom prst="rect">
            <a:avLst/>
          </a:prstGeom>
          <a:noFill/>
        </p:spPr>
        <p:txBody>
          <a:bodyPr wrap="square" lIns="0" rIns="0" tIns="0" bIns="0">
            <a:normAutofit/>
          </a:bodyPr>
          <a:lstStyle/>
          <a:p>
            <a:r>
              <a:rPr sz="700" b="1" i="0" spc="130">
                <a:solidFill>
                  <a:srgbClr val="F5F3C4"/>
                </a:solidFill>
                <a:latin typeface="Avenir Next"/>
              </a:rPr>
              <a:t>SOPORTE 3</a:t>
            </a:r>
          </a:p>
        </p:txBody>
      </p:sp>
      <p:sp>
        <p:nvSpPr>
          <p:cNvPr id="18" name="TextBox 17"/>
          <p:cNvSpPr txBox="1"/>
          <p:nvPr/>
        </p:nvSpPr>
        <p:spPr>
          <a:xfrm>
            <a:off x="8247888" y="2651759"/>
            <a:ext cx="2935224" cy="497162"/>
          </a:xfrm>
          <a:prstGeom prst="rect">
            <a:avLst/>
          </a:prstGeom>
          <a:noFill/>
        </p:spPr>
        <p:txBody>
          <a:bodyPr wrap="square" lIns="0" rIns="0" tIns="0" bIns="0">
            <a:normAutofit/>
          </a:bodyPr>
          <a:lstStyle/>
          <a:p>
            <a:pPr>
              <a:lnSpc>
                <a:spcPct val="105000"/>
              </a:lnSpc>
            </a:pPr>
            <a:r>
              <a:rPr sz="1400" b="0" i="0">
                <a:solidFill>
                  <a:srgbClr val="CCECF9"/>
                </a:solidFill>
                <a:latin typeface="Baskerville"/>
              </a:rPr>
              <a:t>Serie de video</a:t>
            </a:r>
          </a:p>
        </p:txBody>
      </p:sp>
      <p:sp>
        <p:nvSpPr>
          <p:cNvPr id="19" name="TextBox 18"/>
          <p:cNvSpPr txBox="1"/>
          <p:nvPr/>
        </p:nvSpPr>
        <p:spPr>
          <a:xfrm>
            <a:off x="8247888" y="3222074"/>
            <a:ext cx="2935224"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Los protagonistas en video editorial, distribuido en canales propios y en los del invitado.</a:t>
            </a:r>
          </a:p>
        </p:txBody>
      </p:sp>
      <p:sp>
        <p:nvSpPr>
          <p:cNvPr id="20" name="Rounded Rectangle 19"/>
          <p:cNvSpPr/>
          <p:nvPr/>
        </p:nvSpPr>
        <p:spPr>
          <a:xfrm>
            <a:off x="731520" y="5212079"/>
            <a:ext cx="10728655" cy="932688"/>
          </a:xfrm>
          <a:prstGeom prst="roundRect">
            <a:avLst>
              <a:gd name="adj" fmla="val 18627"/>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1" name="TextBox 20"/>
          <p:cNvSpPr txBox="1"/>
          <p:nvPr/>
        </p:nvSpPr>
        <p:spPr>
          <a:xfrm>
            <a:off x="969264" y="5449823"/>
            <a:ext cx="10253167" cy="201168"/>
          </a:xfrm>
          <a:prstGeom prst="rect">
            <a:avLst/>
          </a:prstGeom>
          <a:noFill/>
        </p:spPr>
        <p:txBody>
          <a:bodyPr wrap="square" lIns="0" rIns="0" tIns="0" bIns="0">
            <a:normAutofit/>
          </a:bodyPr>
          <a:lstStyle/>
          <a:p>
            <a:r>
              <a:rPr sz="700" b="1" i="0" spc="130">
                <a:solidFill>
                  <a:srgbClr val="004C97"/>
                </a:solidFill>
                <a:latin typeface="Avenir Next"/>
              </a:rPr>
              <a:t>LA REGLA QUE PROTEGE EL CRITERIO</a:t>
            </a:r>
          </a:p>
        </p:txBody>
      </p:sp>
      <p:sp>
        <p:nvSpPr>
          <p:cNvPr id="22" name="TextBox 21"/>
          <p:cNvSpPr txBox="1"/>
          <p:nvPr/>
        </p:nvSpPr>
        <p:spPr>
          <a:xfrm>
            <a:off x="969264" y="5687567"/>
            <a:ext cx="10253167" cy="481245"/>
          </a:xfrm>
          <a:prstGeom prst="rect">
            <a:avLst/>
          </a:prstGeom>
          <a:noFill/>
        </p:spPr>
        <p:txBody>
          <a:bodyPr wrap="square" lIns="0" rIns="0" tIns="0" bIns="0">
            <a:normAutofit/>
          </a:bodyPr>
          <a:lstStyle/>
          <a:p>
            <a:pPr>
              <a:lnSpc>
                <a:spcPct val="105000"/>
              </a:lnSpc>
            </a:pPr>
            <a:r>
              <a:rPr sz="1300" b="0" i="0">
                <a:solidFill>
                  <a:srgbClr val="041E42"/>
                </a:solidFill>
                <a:latin typeface="Baskerville"/>
              </a:rPr>
              <a:t>La entrada la define el editor</a:t>
            </a:r>
          </a:p>
        </p:txBody>
      </p:sp>
      <p:sp>
        <p:nvSpPr>
          <p:cNvPr id="23" name="TextBox 22"/>
          <p:cNvSpPr txBox="1"/>
          <p:nvPr/>
        </p:nvSpPr>
        <p:spPr>
          <a:xfrm>
            <a:off x="969264" y="6241965"/>
            <a:ext cx="10253167" cy="155448"/>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Pagar amplía la ficha, no compra el lugar en la selección. Sin esa regla la sección se lee como publirreportaje y se pierde la autoridad editorial, que es lo único que ninguna agencia puede replicar.</a:t>
            </a:r>
          </a:p>
        </p:txBody>
      </p:sp>
      <p:sp>
        <p:nvSpPr>
          <p:cNvPr id="24" name="TextBox 23"/>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A8C4DA"/>
                </a:solidFill>
                <a:latin typeface="Avenir Next"/>
              </a:rPr>
              <a:t>MAPEA SOBRE BESPOKE DINING CONTENT</a:t>
            </a:r>
          </a:p>
        </p:txBody>
      </p:sp>
      <p:sp>
        <p:nvSpPr>
          <p:cNvPr id="25" name="TextBox 24"/>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F5F3C4"/>
                </a:solidFill>
                <a:latin typeface="Avenir Nex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CAPA 3 · EL ESTATUS</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Experiencias </a:t>
            </a:r>
            <a:r>
              <a:rPr sz="2900" b="0" i="1">
                <a:solidFill>
                  <a:srgbClr val="004C97"/>
                </a:solidFill>
                <a:latin typeface="Baskerville"/>
              </a:rPr>
              <a:t>Only By Invitation</a:t>
            </a:r>
          </a:p>
        </p:txBody>
      </p:sp>
      <p:sp>
        <p:nvSpPr>
          <p:cNvPr id="6" name="TextBox 5"/>
          <p:cNvSpPr txBox="1"/>
          <p:nvPr/>
        </p:nvSpPr>
        <p:spPr>
          <a:xfrm>
            <a:off x="731520" y="1517904"/>
            <a:ext cx="694944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Seis experiencias gastronómicas en el año, con cupo limitado y acceso por invitación.</a:t>
            </a:r>
          </a:p>
        </p:txBody>
      </p:sp>
      <p:sp>
        <p:nvSpPr>
          <p:cNvPr id="7" name="Rectangle 6"/>
          <p:cNvSpPr/>
          <p:nvPr/>
        </p:nvSpPr>
        <p:spPr>
          <a:xfrm>
            <a:off x="731520" y="1993391"/>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176272"/>
            <a:ext cx="6858000" cy="1176528"/>
          </a:xfrm>
          <a:prstGeom prst="roundRect">
            <a:avLst>
              <a:gd name="adj" fmla="val 14766"/>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414015"/>
            <a:ext cx="6382512" cy="201168"/>
          </a:xfrm>
          <a:prstGeom prst="rect">
            <a:avLst/>
          </a:prstGeom>
          <a:noFill/>
        </p:spPr>
        <p:txBody>
          <a:bodyPr wrap="square" lIns="0" rIns="0" tIns="0" bIns="0">
            <a:normAutofit/>
          </a:bodyPr>
          <a:lstStyle/>
          <a:p>
            <a:r>
              <a:rPr sz="700" b="1" i="0" spc="130">
                <a:solidFill>
                  <a:srgbClr val="004C97"/>
                </a:solidFill>
                <a:latin typeface="Avenir Next"/>
              </a:rPr>
              <a:t>LA ESCASEZ ES EL PUNTO</a:t>
            </a:r>
          </a:p>
        </p:txBody>
      </p:sp>
      <p:sp>
        <p:nvSpPr>
          <p:cNvPr id="10" name="TextBox 9"/>
          <p:cNvSpPr txBox="1"/>
          <p:nvPr/>
        </p:nvSpPr>
        <p:spPr>
          <a:xfrm>
            <a:off x="969264" y="2651759"/>
            <a:ext cx="6382512" cy="489203"/>
          </a:xfrm>
          <a:prstGeom prst="rect">
            <a:avLst/>
          </a:prstGeom>
          <a:noFill/>
        </p:spPr>
        <p:txBody>
          <a:bodyPr wrap="square" lIns="0" rIns="0" tIns="0" bIns="0">
            <a:normAutofit/>
          </a:bodyPr>
          <a:lstStyle/>
          <a:p>
            <a:pPr>
              <a:lnSpc>
                <a:spcPct val="105000"/>
              </a:lnSpc>
            </a:pPr>
            <a:r>
              <a:rPr sz="1350" b="0" i="0">
                <a:solidFill>
                  <a:srgbClr val="041E42"/>
                </a:solidFill>
                <a:latin typeface="Baskerville"/>
              </a:rPr>
              <a:t>18.400 Black · 150 cupos</a:t>
            </a:r>
          </a:p>
        </p:txBody>
      </p:sp>
      <p:sp>
        <p:nvSpPr>
          <p:cNvPr id="11" name="TextBox 10"/>
          <p:cNvSpPr txBox="1"/>
          <p:nvPr/>
        </p:nvSpPr>
        <p:spPr>
          <a:xfrm>
            <a:off x="969264" y="3214115"/>
            <a:ext cx="6382512" cy="155448"/>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El cupo corto es el beneficio, no una limitación de logística. Lo que se reparte a todos deja de distinguir a alguien.</a:t>
            </a:r>
          </a:p>
        </p:txBody>
      </p:sp>
      <p:sp>
        <p:nvSpPr>
          <p:cNvPr id="12" name="Rounded Rectangle 11"/>
          <p:cNvSpPr/>
          <p:nvPr/>
        </p:nvSpPr>
        <p:spPr>
          <a:xfrm>
            <a:off x="731520" y="3499103"/>
            <a:ext cx="6858000" cy="1176528"/>
          </a:xfrm>
          <a:prstGeom prst="roundRect">
            <a:avLst>
              <a:gd name="adj" fmla="val 14766"/>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3" name="TextBox 12"/>
          <p:cNvSpPr txBox="1"/>
          <p:nvPr/>
        </p:nvSpPr>
        <p:spPr>
          <a:xfrm>
            <a:off x="969264" y="3736847"/>
            <a:ext cx="6382512" cy="201168"/>
          </a:xfrm>
          <a:prstGeom prst="rect">
            <a:avLst/>
          </a:prstGeom>
          <a:noFill/>
        </p:spPr>
        <p:txBody>
          <a:bodyPr wrap="square" lIns="0" rIns="0" tIns="0" bIns="0">
            <a:normAutofit/>
          </a:bodyPr>
          <a:lstStyle/>
          <a:p>
            <a:r>
              <a:rPr sz="700" b="1" i="0" spc="130">
                <a:solidFill>
                  <a:srgbClr val="004C97"/>
                </a:solidFill>
                <a:latin typeface="Avenir Next"/>
              </a:rPr>
              <a:t>RENDIMIENTO TRIPLE</a:t>
            </a:r>
          </a:p>
        </p:txBody>
      </p:sp>
      <p:sp>
        <p:nvSpPr>
          <p:cNvPr id="14" name="TextBox 13"/>
          <p:cNvSpPr txBox="1"/>
          <p:nvPr/>
        </p:nvSpPr>
        <p:spPr>
          <a:xfrm>
            <a:off x="969264" y="3974591"/>
            <a:ext cx="6382512" cy="489203"/>
          </a:xfrm>
          <a:prstGeom prst="rect">
            <a:avLst/>
          </a:prstGeom>
          <a:noFill/>
        </p:spPr>
        <p:txBody>
          <a:bodyPr wrap="square" lIns="0" rIns="0" tIns="0" bIns="0">
            <a:normAutofit/>
          </a:bodyPr>
          <a:lstStyle/>
          <a:p>
            <a:pPr>
              <a:lnSpc>
                <a:spcPct val="105000"/>
              </a:lnSpc>
            </a:pPr>
            <a:r>
              <a:rPr sz="1350" b="0" i="0">
                <a:solidFill>
                  <a:srgbClr val="041E42"/>
                </a:solidFill>
                <a:latin typeface="Baskerville"/>
              </a:rPr>
              <a:t>Se produce una vez, se distribuye tres</a:t>
            </a:r>
          </a:p>
        </p:txBody>
      </p:sp>
      <p:sp>
        <p:nvSpPr>
          <p:cNvPr id="15" name="TextBox 14"/>
          <p:cNvSpPr txBox="1"/>
          <p:nvPr/>
        </p:nvSpPr>
        <p:spPr>
          <a:xfrm>
            <a:off x="969264" y="4536947"/>
            <a:ext cx="6382512" cy="155448"/>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Evento, reel de cubrimiento y artículo permanente. El contenido alcanza a quien no estuvo, incluidos los prospectos.</a:t>
            </a:r>
          </a:p>
        </p:txBody>
      </p:sp>
      <p:sp>
        <p:nvSpPr>
          <p:cNvPr id="16" name="Rounded Rectangle 15"/>
          <p:cNvSpPr/>
          <p:nvPr/>
        </p:nvSpPr>
        <p:spPr>
          <a:xfrm>
            <a:off x="731520" y="4821936"/>
            <a:ext cx="6858000" cy="1176528"/>
          </a:xfrm>
          <a:prstGeom prst="roundRect">
            <a:avLst>
              <a:gd name="adj" fmla="val 14766"/>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7" name="TextBox 16"/>
          <p:cNvSpPr txBox="1"/>
          <p:nvPr/>
        </p:nvSpPr>
        <p:spPr>
          <a:xfrm>
            <a:off x="969264" y="5059680"/>
            <a:ext cx="6382512" cy="201168"/>
          </a:xfrm>
          <a:prstGeom prst="rect">
            <a:avLst/>
          </a:prstGeom>
          <a:noFill/>
        </p:spPr>
        <p:txBody>
          <a:bodyPr wrap="square" lIns="0" rIns="0" tIns="0" bIns="0">
            <a:normAutofit/>
          </a:bodyPr>
          <a:lstStyle/>
          <a:p>
            <a:r>
              <a:rPr sz="700" b="1" i="0" spc="130">
                <a:solidFill>
                  <a:srgbClr val="004C97"/>
                </a:solidFill>
                <a:latin typeface="Avenir Next"/>
              </a:rPr>
              <a:t>PRUEBA SOCIAL</a:t>
            </a:r>
          </a:p>
        </p:txBody>
      </p:sp>
      <p:sp>
        <p:nvSpPr>
          <p:cNvPr id="18" name="TextBox 17"/>
          <p:cNvSpPr txBox="1"/>
          <p:nvPr/>
        </p:nvSpPr>
        <p:spPr>
          <a:xfrm>
            <a:off x="969264" y="5297424"/>
            <a:ext cx="6382512" cy="489203"/>
          </a:xfrm>
          <a:prstGeom prst="rect">
            <a:avLst/>
          </a:prstGeom>
          <a:noFill/>
        </p:spPr>
        <p:txBody>
          <a:bodyPr wrap="square" lIns="0" rIns="0" tIns="0" bIns="0">
            <a:normAutofit/>
          </a:bodyPr>
          <a:lstStyle/>
          <a:p>
            <a:pPr>
              <a:lnSpc>
                <a:spcPct val="105000"/>
              </a:lnSpc>
            </a:pPr>
            <a:r>
              <a:rPr sz="1350" b="0" i="0">
                <a:solidFill>
                  <a:srgbClr val="041E42"/>
                </a:solidFill>
                <a:latin typeface="Baskerville"/>
              </a:rPr>
              <a:t>Testimonios de Clubmembers</a:t>
            </a:r>
          </a:p>
        </p:txBody>
      </p:sp>
      <p:sp>
        <p:nvSpPr>
          <p:cNvPr id="19" name="TextBox 18"/>
          <p:cNvSpPr txBox="1"/>
          <p:nvPr/>
        </p:nvSpPr>
        <p:spPr>
          <a:xfrm>
            <a:off x="969264" y="5859780"/>
            <a:ext cx="6382512" cy="155448"/>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El propio tracker recomienda usar testimonios de Clubmembers para mostrar relevancia a los prospectos. Cada OBI los genera.</a:t>
            </a:r>
          </a:p>
        </p:txBody>
      </p:sp>
      <p:sp>
        <p:nvSpPr>
          <p:cNvPr id="20" name="Rectangle 19"/>
          <p:cNvSpPr/>
          <p:nvPr/>
        </p:nvSpPr>
        <p:spPr>
          <a:xfrm>
            <a:off x="7818120" y="2176272"/>
            <a:ext cx="3642055" cy="3968496"/>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1" name="TextBox 20"/>
          <p:cNvSpPr txBox="1"/>
          <p:nvPr/>
        </p:nvSpPr>
        <p:spPr>
          <a:xfrm>
            <a:off x="8275320" y="3337560"/>
            <a:ext cx="2727655" cy="1645920"/>
          </a:xfrm>
          <a:prstGeom prst="rect">
            <a:avLst/>
          </a:prstGeom>
          <a:noFill/>
        </p:spPr>
        <p:txBody>
          <a:bodyPr wrap="square" lIns="0" rIns="0" tIns="0" bIns="0">
            <a:normAutofit/>
          </a:bodyPr>
          <a:lstStyle/>
          <a:p>
            <a:pPr>
              <a:lnSpc>
                <a:spcPct val="116000"/>
              </a:lnSpc>
            </a:pPr>
            <a:r>
              <a:rPr sz="1600" b="0" i="0">
                <a:solidFill>
                  <a:srgbClr val="CCECF9"/>
                </a:solidFill>
                <a:latin typeface="Baskerville"/>
              </a:rPr>
              <a:t>What everyone gets stops setting
</a:t>
            </a:r>
            <a:r>
              <a:rPr sz="1600" b="0" i="0">
                <a:solidFill>
                  <a:srgbClr val="F5F3C4"/>
                </a:solidFill>
                <a:latin typeface="Baskerville"/>
              </a:rPr>
              <a:t>( anyone ) </a:t>
            </a:r>
            <a:r>
              <a:rPr sz="1600" b="0" i="0">
                <a:solidFill>
                  <a:srgbClr val="CCECF9"/>
                </a:solidFill>
                <a:latin typeface="Baskerville"/>
              </a:rPr>
              <a:t>Club</a:t>
            </a:r>
          </a:p>
        </p:txBody>
      </p:sp>
      <p:pic>
        <p:nvPicPr>
          <p:cNvPr id="22" name="Picture 21" descr="logo_emb-n.png"/>
          <p:cNvPicPr>
            <a:picLocks noChangeAspect="1"/>
          </p:cNvPicPr>
          <p:nvPr/>
        </p:nvPicPr>
        <p:blipFill>
          <a:blip r:embed="rId3"/>
          <a:stretch>
            <a:fillRect/>
          </a:stretch>
        </p:blipFill>
        <p:spPr>
          <a:xfrm>
            <a:off x="8275320" y="5230368"/>
            <a:ext cx="566928" cy="566928"/>
          </a:xfrm>
          <a:prstGeom prst="rect">
            <a:avLst/>
          </a:prstGeom>
        </p:spPr>
      </p:pic>
      <p:sp>
        <p:nvSpPr>
          <p:cNvPr id="23" name="TextBox 22"/>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MAPEA SOBRE DINING EXPERIENCES</a:t>
            </a:r>
          </a:p>
        </p:txBody>
      </p:sp>
      <p:sp>
        <p:nvSpPr>
          <p:cNvPr id="24" name="TextBox 23"/>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LA PIEZA QUE RESUELVE LA ACEPTACIÓN</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Un sello en la </a:t>
            </a:r>
            <a:r>
              <a:rPr sz="2900" b="0" i="1">
                <a:solidFill>
                  <a:srgbClr val="004C97"/>
                </a:solidFill>
                <a:latin typeface="Baskerville"/>
              </a:rPr>
              <a:t>vitrina</a:t>
            </a:r>
          </a:p>
        </p:txBody>
      </p:sp>
      <p:sp>
        <p:nvSpPr>
          <p:cNvPr id="6" name="TextBox 5"/>
          <p:cNvSpPr txBox="1"/>
          <p:nvPr/>
        </p:nvSpPr>
        <p:spPr>
          <a:xfrm>
            <a:off x="731520" y="1517904"/>
            <a:ext cx="768096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Material de punto de venta en la entrada de cada aliado verificado, con el formato que la franquicia ya usa en la región. Es la pieza de menor costo unitario del plan y la de mayor rendimiento.</a:t>
            </a:r>
          </a:p>
        </p:txBody>
      </p:sp>
      <p:sp>
        <p:nvSpPr>
          <p:cNvPr id="7" name="Rectangle 6"/>
          <p:cNvSpPr/>
          <p:nvPr/>
        </p:nvSpPr>
        <p:spPr>
          <a:xfrm>
            <a:off x="731520" y="2176272"/>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359152"/>
            <a:ext cx="3703320" cy="1819655"/>
          </a:xfrm>
          <a:prstGeom prst="roundRect">
            <a:avLst>
              <a:gd name="adj" fmla="val 9547"/>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596896"/>
            <a:ext cx="3227832" cy="201168"/>
          </a:xfrm>
          <a:prstGeom prst="rect">
            <a:avLst/>
          </a:prstGeom>
          <a:noFill/>
        </p:spPr>
        <p:txBody>
          <a:bodyPr wrap="square" lIns="0" rIns="0" tIns="0" bIns="0">
            <a:normAutofit/>
          </a:bodyPr>
          <a:lstStyle/>
          <a:p>
            <a:r>
              <a:rPr sz="700" b="1" i="0" spc="130">
                <a:solidFill>
                  <a:srgbClr val="004C97"/>
                </a:solidFill>
                <a:latin typeface="Avenir Next"/>
              </a:rPr>
              <a:t>RESUELVE 1</a:t>
            </a:r>
          </a:p>
        </p:txBody>
      </p:sp>
      <p:sp>
        <p:nvSpPr>
          <p:cNvPr id="10" name="TextBox 9"/>
          <p:cNvSpPr txBox="1"/>
          <p:nvPr/>
        </p:nvSpPr>
        <p:spPr>
          <a:xfrm>
            <a:off x="969264" y="2834639"/>
            <a:ext cx="3227832" cy="481245"/>
          </a:xfrm>
          <a:prstGeom prst="rect">
            <a:avLst/>
          </a:prstGeom>
          <a:noFill/>
        </p:spPr>
        <p:txBody>
          <a:bodyPr wrap="square" lIns="0" rIns="0" tIns="0" bIns="0">
            <a:normAutofit/>
          </a:bodyPr>
          <a:lstStyle/>
          <a:p>
            <a:pPr>
              <a:lnSpc>
                <a:spcPct val="105000"/>
              </a:lnSpc>
            </a:pPr>
            <a:r>
              <a:rPr sz="1300" b="0" i="0">
                <a:solidFill>
                  <a:srgbClr val="041E42"/>
                </a:solidFill>
                <a:latin typeface="Baskerville"/>
              </a:rPr>
              <a:t>Señala dónde sí funciona</a:t>
            </a:r>
          </a:p>
        </p:txBody>
      </p:sp>
      <p:sp>
        <p:nvSpPr>
          <p:cNvPr id="11" name="TextBox 10"/>
          <p:cNvSpPr txBox="1"/>
          <p:nvPr/>
        </p:nvSpPr>
        <p:spPr>
          <a:xfrm>
            <a:off x="969264" y="3389037"/>
            <a:ext cx="3227832" cy="288036"/>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El Clubmember ve el sello antes de entrar. Es la respuesta física a la barrera de aceptación que el tracker identifica como riesgo de retención.</a:t>
            </a:r>
          </a:p>
        </p:txBody>
      </p:sp>
      <p:sp>
        <p:nvSpPr>
          <p:cNvPr id="12" name="Rounded Rectangle 11"/>
          <p:cNvSpPr/>
          <p:nvPr/>
        </p:nvSpPr>
        <p:spPr>
          <a:xfrm>
            <a:off x="4663440" y="2359152"/>
            <a:ext cx="3703320" cy="1819655"/>
          </a:xfrm>
          <a:prstGeom prst="roundRect">
            <a:avLst>
              <a:gd name="adj" fmla="val 9547"/>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3" name="TextBox 12"/>
          <p:cNvSpPr txBox="1"/>
          <p:nvPr/>
        </p:nvSpPr>
        <p:spPr>
          <a:xfrm>
            <a:off x="4901183" y="2596896"/>
            <a:ext cx="3227832" cy="201168"/>
          </a:xfrm>
          <a:prstGeom prst="rect">
            <a:avLst/>
          </a:prstGeom>
          <a:noFill/>
        </p:spPr>
        <p:txBody>
          <a:bodyPr wrap="square" lIns="0" rIns="0" tIns="0" bIns="0">
            <a:normAutofit/>
          </a:bodyPr>
          <a:lstStyle/>
          <a:p>
            <a:r>
              <a:rPr sz="700" b="1" i="0" spc="130">
                <a:solidFill>
                  <a:srgbClr val="004C97"/>
                </a:solidFill>
                <a:latin typeface="Avenir Next"/>
              </a:rPr>
              <a:t>RESUELVE 2</a:t>
            </a:r>
          </a:p>
        </p:txBody>
      </p:sp>
      <p:sp>
        <p:nvSpPr>
          <p:cNvPr id="14" name="TextBox 13"/>
          <p:cNvSpPr txBox="1"/>
          <p:nvPr/>
        </p:nvSpPr>
        <p:spPr>
          <a:xfrm>
            <a:off x="4901183" y="2834639"/>
            <a:ext cx="3227832" cy="481245"/>
          </a:xfrm>
          <a:prstGeom prst="rect">
            <a:avLst/>
          </a:prstGeom>
          <a:noFill/>
        </p:spPr>
        <p:txBody>
          <a:bodyPr wrap="square" lIns="0" rIns="0" tIns="0" bIns="0">
            <a:normAutofit/>
          </a:bodyPr>
          <a:lstStyle/>
          <a:p>
            <a:pPr>
              <a:lnSpc>
                <a:spcPct val="105000"/>
              </a:lnSpc>
            </a:pPr>
            <a:r>
              <a:rPr sz="1300" b="0" i="0">
                <a:solidFill>
                  <a:srgbClr val="041E42"/>
                </a:solidFill>
                <a:latin typeface="Baskerville"/>
              </a:rPr>
              <a:t>Convierte la selección en estatus</a:t>
            </a:r>
          </a:p>
        </p:txBody>
      </p:sp>
      <p:sp>
        <p:nvSpPr>
          <p:cNvPr id="15" name="TextBox 14"/>
          <p:cNvSpPr txBox="1"/>
          <p:nvPr/>
        </p:nvSpPr>
        <p:spPr>
          <a:xfrm>
            <a:off x="4901183" y="3389037"/>
            <a:ext cx="3227832" cy="288036"/>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Estar en la lista prestigia al restaurante. No es publicidad que se tolera: es un reconocimiento que se exhibe.</a:t>
            </a:r>
          </a:p>
        </p:txBody>
      </p:sp>
      <p:sp>
        <p:nvSpPr>
          <p:cNvPr id="16" name="Rounded Rectangle 15"/>
          <p:cNvSpPr/>
          <p:nvPr/>
        </p:nvSpPr>
        <p:spPr>
          <a:xfrm>
            <a:off x="731520" y="4325112"/>
            <a:ext cx="3703320" cy="1819655"/>
          </a:xfrm>
          <a:prstGeom prst="roundRect">
            <a:avLst>
              <a:gd name="adj" fmla="val 9547"/>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7" name="TextBox 16"/>
          <p:cNvSpPr txBox="1"/>
          <p:nvPr/>
        </p:nvSpPr>
        <p:spPr>
          <a:xfrm>
            <a:off x="969264" y="4562856"/>
            <a:ext cx="3227832" cy="201168"/>
          </a:xfrm>
          <a:prstGeom prst="rect">
            <a:avLst/>
          </a:prstGeom>
          <a:noFill/>
        </p:spPr>
        <p:txBody>
          <a:bodyPr wrap="square" lIns="0" rIns="0" tIns="0" bIns="0">
            <a:normAutofit/>
          </a:bodyPr>
          <a:lstStyle/>
          <a:p>
            <a:r>
              <a:rPr sz="700" b="1" i="0" spc="130">
                <a:solidFill>
                  <a:srgbClr val="004C97"/>
                </a:solidFill>
                <a:latin typeface="Avenir Next"/>
              </a:rPr>
              <a:t>RESUELVE 3</a:t>
            </a:r>
          </a:p>
        </p:txBody>
      </p:sp>
      <p:sp>
        <p:nvSpPr>
          <p:cNvPr id="18" name="TextBox 17"/>
          <p:cNvSpPr txBox="1"/>
          <p:nvPr/>
        </p:nvSpPr>
        <p:spPr>
          <a:xfrm>
            <a:off x="969264" y="4800600"/>
            <a:ext cx="3227832" cy="481245"/>
          </a:xfrm>
          <a:prstGeom prst="rect">
            <a:avLst/>
          </a:prstGeom>
          <a:noFill/>
        </p:spPr>
        <p:txBody>
          <a:bodyPr wrap="square" lIns="0" rIns="0" tIns="0" bIns="0">
            <a:normAutofit/>
          </a:bodyPr>
          <a:lstStyle/>
          <a:p>
            <a:pPr>
              <a:lnSpc>
                <a:spcPct val="105000"/>
              </a:lnSpc>
            </a:pPr>
            <a:r>
              <a:rPr sz="1300" b="0" i="0">
                <a:solidFill>
                  <a:srgbClr val="041E42"/>
                </a:solidFill>
                <a:latin typeface="Baskerville"/>
              </a:rPr>
              <a:t>Sostiene la economía de la red</a:t>
            </a:r>
          </a:p>
        </p:txBody>
      </p:sp>
      <p:sp>
        <p:nvSpPr>
          <p:cNvPr id="19" name="TextBox 18"/>
          <p:cNvSpPr txBox="1"/>
          <p:nvPr/>
        </p:nvSpPr>
        <p:spPr>
          <a:xfrm>
            <a:off x="969264" y="5354997"/>
            <a:ext cx="3227832" cy="288036"/>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Es el argumento de venta para que el aliado entre y pague su visibilidad. Lo que compra es pertenecer a una selección firmada por la Revista Diners.</a:t>
            </a:r>
          </a:p>
        </p:txBody>
      </p:sp>
      <p:sp>
        <p:nvSpPr>
          <p:cNvPr id="20" name="Rounded Rectangle 19"/>
          <p:cNvSpPr/>
          <p:nvPr/>
        </p:nvSpPr>
        <p:spPr>
          <a:xfrm>
            <a:off x="4663440" y="4325112"/>
            <a:ext cx="3703320" cy="1819655"/>
          </a:xfrm>
          <a:prstGeom prst="roundRect">
            <a:avLst>
              <a:gd name="adj" fmla="val 9547"/>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1" name="TextBox 20"/>
          <p:cNvSpPr txBox="1"/>
          <p:nvPr/>
        </p:nvSpPr>
        <p:spPr>
          <a:xfrm>
            <a:off x="4901183" y="4562856"/>
            <a:ext cx="3227832" cy="201168"/>
          </a:xfrm>
          <a:prstGeom prst="rect">
            <a:avLst/>
          </a:prstGeom>
          <a:noFill/>
        </p:spPr>
        <p:txBody>
          <a:bodyPr wrap="square" lIns="0" rIns="0" tIns="0" bIns="0">
            <a:normAutofit/>
          </a:bodyPr>
          <a:lstStyle/>
          <a:p>
            <a:r>
              <a:rPr sz="700" b="1" i="0" spc="130">
                <a:solidFill>
                  <a:srgbClr val="004C97"/>
                </a:solidFill>
                <a:latin typeface="Avenir Next"/>
              </a:rPr>
              <a:t>RESUELVE 4</a:t>
            </a:r>
          </a:p>
        </p:txBody>
      </p:sp>
      <p:sp>
        <p:nvSpPr>
          <p:cNvPr id="22" name="TextBox 21"/>
          <p:cNvSpPr txBox="1"/>
          <p:nvPr/>
        </p:nvSpPr>
        <p:spPr>
          <a:xfrm>
            <a:off x="4901183" y="4800600"/>
            <a:ext cx="3227832" cy="481245"/>
          </a:xfrm>
          <a:prstGeom prst="rect">
            <a:avLst/>
          </a:prstGeom>
          <a:noFill/>
        </p:spPr>
        <p:txBody>
          <a:bodyPr wrap="square" lIns="0" rIns="0" tIns="0" bIns="0">
            <a:normAutofit/>
          </a:bodyPr>
          <a:lstStyle/>
          <a:p>
            <a:pPr>
              <a:lnSpc>
                <a:spcPct val="105000"/>
              </a:lnSpc>
            </a:pPr>
            <a:r>
              <a:rPr sz="1300" b="0" i="0">
                <a:solidFill>
                  <a:srgbClr val="041E42"/>
                </a:solidFill>
                <a:latin typeface="Baskerville"/>
              </a:rPr>
              <a:t>Entre 20 y 40 vitrinas sin costo de pauta</a:t>
            </a:r>
          </a:p>
        </p:txBody>
      </p:sp>
      <p:sp>
        <p:nvSpPr>
          <p:cNvPr id="23" name="TextBox 22"/>
          <p:cNvSpPr txBox="1"/>
          <p:nvPr/>
        </p:nvSpPr>
        <p:spPr>
          <a:xfrm>
            <a:off x="4901183" y="5354997"/>
            <a:ext cx="3227832" cy="288036"/>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En las mejores zonas de Bogotá, visibles todo el año. Con código para llevar al catálogo digital y, desde 2027, a la app.</a:t>
            </a:r>
          </a:p>
        </p:txBody>
      </p:sp>
      <p:sp>
        <p:nvSpPr>
          <p:cNvPr id="24" name="Rectangle 23"/>
          <p:cNvSpPr/>
          <p:nvPr/>
        </p:nvSpPr>
        <p:spPr>
          <a:xfrm>
            <a:off x="8686800" y="2359152"/>
            <a:ext cx="2773375" cy="3785615"/>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5" name="TextBox 24"/>
          <p:cNvSpPr txBox="1"/>
          <p:nvPr/>
        </p:nvSpPr>
        <p:spPr>
          <a:xfrm>
            <a:off x="9144000" y="3429000"/>
            <a:ext cx="1858975" cy="1645920"/>
          </a:xfrm>
          <a:prstGeom prst="rect">
            <a:avLst/>
          </a:prstGeom>
          <a:noFill/>
        </p:spPr>
        <p:txBody>
          <a:bodyPr wrap="square" lIns="0" rIns="0" tIns="0" bIns="0">
            <a:normAutofit/>
          </a:bodyPr>
          <a:lstStyle/>
          <a:p>
            <a:pPr>
              <a:lnSpc>
                <a:spcPct val="116000"/>
              </a:lnSpc>
            </a:pPr>
            <a:r>
              <a:rPr sz="1600" b="0" i="0">
                <a:solidFill>
                  <a:srgbClr val="CCECF9"/>
                </a:solidFill>
                <a:latin typeface="Baskerville"/>
              </a:rPr>
              <a:t>Acceptance is solved at the
</a:t>
            </a:r>
            <a:r>
              <a:rPr sz="1600" b="0" i="0">
                <a:solidFill>
                  <a:srgbClr val="F5F3C4"/>
                </a:solidFill>
                <a:latin typeface="Baskerville"/>
              </a:rPr>
              <a:t>( door ) </a:t>
            </a:r>
            <a:r>
              <a:rPr sz="1600" b="0" i="0">
                <a:solidFill>
                  <a:srgbClr val="CCECF9"/>
                </a:solidFill>
                <a:latin typeface="Baskerville"/>
              </a:rPr>
              <a:t>Club</a:t>
            </a:r>
          </a:p>
        </p:txBody>
      </p:sp>
      <p:pic>
        <p:nvPicPr>
          <p:cNvPr id="26" name="Picture 25" descr="logo_emb-n.png"/>
          <p:cNvPicPr>
            <a:picLocks noChangeAspect="1"/>
          </p:cNvPicPr>
          <p:nvPr/>
        </p:nvPicPr>
        <p:blipFill>
          <a:blip r:embed="rId3"/>
          <a:stretch>
            <a:fillRect/>
          </a:stretch>
        </p:blipFill>
        <p:spPr>
          <a:xfrm>
            <a:off x="9144000" y="5230368"/>
            <a:ext cx="566928" cy="566928"/>
          </a:xfrm>
          <a:prstGeom prst="rect">
            <a:avLst/>
          </a:prstGeom>
        </p:spPr>
      </p:pic>
      <p:sp>
        <p:nvSpPr>
          <p:cNvPr id="27" name="TextBox 26"/>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MAPEA SOBRE DINING MERCHANT ACCEPTANCE PUSH</a:t>
            </a:r>
          </a:p>
        </p:txBody>
      </p:sp>
      <p:sp>
        <p:nvSpPr>
          <p:cNvPr id="28" name="TextBox 27"/>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BENCHMARK DE CATEGORÍA · COLOMBIA</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La competencia está convirtiendo los beneficios
en </a:t>
            </a:r>
            <a:r>
              <a:rPr sz="2900" b="0" i="1">
                <a:solidFill>
                  <a:srgbClr val="004C97"/>
                </a:solidFill>
                <a:latin typeface="Baskerville"/>
              </a:rPr>
              <a:t>experiencias</a:t>
            </a:r>
            <a:r>
              <a:rPr sz="2900" b="0" i="0">
                <a:solidFill>
                  <a:srgbClr val="041E42"/>
                </a:solidFill>
                <a:latin typeface="Baskerville"/>
              </a:rPr>
              <a:t>.</a:t>
            </a:r>
          </a:p>
        </p:txBody>
      </p:sp>
      <p:sp>
        <p:nvSpPr>
          <p:cNvPr id="6" name="TextBox 5"/>
          <p:cNvSpPr txBox="1"/>
          <p:nvPr/>
        </p:nvSpPr>
        <p:spPr>
          <a:xfrm>
            <a:off x="731520" y="1517904"/>
            <a:ext cx="877824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Las tarjetas premium ya no compiten solo por descuentos o aceptación. Compiten por acceso, momentos y espacios que hacen visible la pertenencia.</a:t>
            </a:r>
          </a:p>
        </p:txBody>
      </p:sp>
      <p:sp>
        <p:nvSpPr>
          <p:cNvPr id="7" name="Rectangle 6"/>
          <p:cNvSpPr/>
          <p:nvPr/>
        </p:nvSpPr>
        <p:spPr>
          <a:xfrm>
            <a:off x="731520" y="1993391"/>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TextBox 7"/>
          <p:cNvSpPr txBox="1"/>
          <p:nvPr/>
        </p:nvSpPr>
        <p:spPr>
          <a:xfrm>
            <a:off x="731520" y="2212848"/>
            <a:ext cx="5486400" cy="201168"/>
          </a:xfrm>
          <a:prstGeom prst="rect">
            <a:avLst/>
          </a:prstGeom>
          <a:noFill/>
        </p:spPr>
        <p:txBody>
          <a:bodyPr wrap="square" lIns="0" rIns="0" tIns="0" bIns="0">
            <a:normAutofit/>
          </a:bodyPr>
          <a:lstStyle/>
          <a:p>
            <a:r>
              <a:rPr sz="740" b="1" i="0" spc="140">
                <a:solidFill>
                  <a:srgbClr val="D7BC81"/>
                </a:solidFill>
                <a:latin typeface="Avenir Next"/>
              </a:rPr>
              <a:t>¿QUÉ ESTÁ PASANDO EN COLOMBIA?</a:t>
            </a:r>
          </a:p>
        </p:txBody>
      </p:sp>
      <p:sp>
        <p:nvSpPr>
          <p:cNvPr id="9" name="Rounded Rectangle 8"/>
          <p:cNvSpPr/>
          <p:nvPr/>
        </p:nvSpPr>
        <p:spPr>
          <a:xfrm>
            <a:off x="731520" y="2487168"/>
            <a:ext cx="3417722" cy="1664208"/>
          </a:xfrm>
          <a:prstGeom prst="roundRect">
            <a:avLst>
              <a:gd name="adj" fmla="val 10439"/>
            </a:avLst>
          </a:prstGeom>
          <a:solidFill>
            <a:srgbClr val="F5F3C4"/>
          </a:solidFill>
          <a:ln w="9525">
            <a:solidFill>
              <a:srgbClr val="D7BC8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0" name="TextBox 9"/>
          <p:cNvSpPr txBox="1"/>
          <p:nvPr/>
        </p:nvSpPr>
        <p:spPr>
          <a:xfrm>
            <a:off x="969264" y="2670048"/>
            <a:ext cx="2942234" cy="182880"/>
          </a:xfrm>
          <a:prstGeom prst="rect">
            <a:avLst/>
          </a:prstGeom>
          <a:noFill/>
        </p:spPr>
        <p:txBody>
          <a:bodyPr wrap="square" lIns="0" rIns="0" tIns="0" bIns="0">
            <a:normAutofit/>
          </a:bodyPr>
          <a:lstStyle/>
          <a:p>
            <a:r>
              <a:rPr sz="700" b="1" i="0" spc="130">
                <a:solidFill>
                  <a:srgbClr val="D7BC81"/>
                </a:solidFill>
                <a:latin typeface="Avenir Next"/>
              </a:rPr>
              <a:t>MASTERCARD · PRICELESS</a:t>
            </a:r>
          </a:p>
        </p:txBody>
      </p:sp>
      <p:sp>
        <p:nvSpPr>
          <p:cNvPr id="11" name="TextBox 10"/>
          <p:cNvSpPr txBox="1"/>
          <p:nvPr/>
        </p:nvSpPr>
        <p:spPr>
          <a:xfrm>
            <a:off x="969264" y="2907791"/>
            <a:ext cx="2942234" cy="310896"/>
          </a:xfrm>
          <a:prstGeom prst="rect">
            <a:avLst/>
          </a:prstGeom>
          <a:noFill/>
        </p:spPr>
        <p:txBody>
          <a:bodyPr wrap="square" lIns="0" rIns="0" tIns="0" bIns="0">
            <a:normAutofit/>
          </a:bodyPr>
          <a:lstStyle/>
          <a:p>
            <a:pPr>
              <a:lnSpc>
                <a:spcPct val="105000"/>
              </a:lnSpc>
            </a:pPr>
            <a:r>
              <a:rPr sz="1450" b="1" i="0">
                <a:solidFill>
                  <a:srgbClr val="041E42"/>
                </a:solidFill>
                <a:latin typeface="Baskerville"/>
              </a:rPr>
              <a:t>Acceso que no se compra</a:t>
            </a:r>
          </a:p>
        </p:txBody>
      </p:sp>
      <p:sp>
        <p:nvSpPr>
          <p:cNvPr id="12" name="TextBox 11"/>
          <p:cNvSpPr txBox="1"/>
          <p:nvPr/>
        </p:nvSpPr>
        <p:spPr>
          <a:xfrm>
            <a:off x="969264" y="3291839"/>
            <a:ext cx="2942234" cy="402336"/>
          </a:xfrm>
          <a:prstGeom prst="rect">
            <a:avLst/>
          </a:prstGeom>
          <a:noFill/>
        </p:spPr>
        <p:txBody>
          <a:bodyPr wrap="square" lIns="0" rIns="0" tIns="0" bIns="0">
            <a:normAutofit/>
          </a:bodyPr>
          <a:lstStyle/>
          <a:p>
            <a:pPr>
              <a:lnSpc>
                <a:spcPct val="140000"/>
              </a:lnSpc>
            </a:pPr>
            <a:r>
              <a:rPr sz="840" b="0" i="0">
                <a:solidFill>
                  <a:srgbClr val="041E42"/>
                </a:solidFill>
                <a:latin typeface="Avenir Next"/>
              </a:rPr>
              <a:t>Leo con Leonor Espinosa · Prudencia con Mario Rosero · experiencias de música, gastronomía y cultura · nueva plataforma World Legend.</a:t>
            </a:r>
          </a:p>
        </p:txBody>
      </p:sp>
      <p:sp>
        <p:nvSpPr>
          <p:cNvPr id="13" name="TextBox 12"/>
          <p:cNvSpPr txBox="1"/>
          <p:nvPr/>
        </p:nvSpPr>
        <p:spPr>
          <a:xfrm>
            <a:off x="969264" y="3767328"/>
            <a:ext cx="2942234" cy="292608"/>
          </a:xfrm>
          <a:prstGeom prst="rect">
            <a:avLst/>
          </a:prstGeom>
          <a:noFill/>
        </p:spPr>
        <p:txBody>
          <a:bodyPr wrap="square" lIns="0" rIns="0" tIns="0" bIns="0">
            <a:normAutofit/>
          </a:bodyPr>
          <a:lstStyle/>
          <a:p>
            <a:pPr>
              <a:lnSpc>
                <a:spcPct val="120000"/>
              </a:lnSpc>
            </a:pPr>
            <a:r>
              <a:rPr sz="700" b="1" i="0" spc="110">
                <a:solidFill>
                  <a:srgbClr val="D7BC81"/>
                </a:solidFill>
                <a:latin typeface="Avenir Next"/>
              </a:rPr>
              <a:t>→  EXPERIENCIAS PRIVADAS + TALENTO + RELATO</a:t>
            </a:r>
          </a:p>
        </p:txBody>
      </p:sp>
      <p:sp>
        <p:nvSpPr>
          <p:cNvPr id="14" name="Rounded Rectangle 13"/>
          <p:cNvSpPr/>
          <p:nvPr/>
        </p:nvSpPr>
        <p:spPr>
          <a:xfrm>
            <a:off x="4386986" y="2487168"/>
            <a:ext cx="3417722" cy="1664208"/>
          </a:xfrm>
          <a:prstGeom prst="roundRect">
            <a:avLst>
              <a:gd name="adj" fmla="val 10439"/>
            </a:avLst>
          </a:prstGeom>
          <a:solidFill>
            <a:srgbClr val="F5F3C4"/>
          </a:solidFill>
          <a:ln w="9525">
            <a:solidFill>
              <a:srgbClr val="D7BC8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5" name="TextBox 14"/>
          <p:cNvSpPr txBox="1"/>
          <p:nvPr/>
        </p:nvSpPr>
        <p:spPr>
          <a:xfrm>
            <a:off x="4624730" y="2670048"/>
            <a:ext cx="2942234" cy="182880"/>
          </a:xfrm>
          <a:prstGeom prst="rect">
            <a:avLst/>
          </a:prstGeom>
          <a:noFill/>
        </p:spPr>
        <p:txBody>
          <a:bodyPr wrap="square" lIns="0" rIns="0" tIns="0" bIns="0">
            <a:normAutofit/>
          </a:bodyPr>
          <a:lstStyle/>
          <a:p>
            <a:r>
              <a:rPr sz="700" b="1" i="0" spc="130">
                <a:solidFill>
                  <a:srgbClr val="D7BC81"/>
                </a:solidFill>
                <a:latin typeface="Avenir Next"/>
              </a:rPr>
              <a:t>AMERICAN EXPRESS</a:t>
            </a:r>
          </a:p>
        </p:txBody>
      </p:sp>
      <p:sp>
        <p:nvSpPr>
          <p:cNvPr id="16" name="TextBox 15"/>
          <p:cNvSpPr txBox="1"/>
          <p:nvPr/>
        </p:nvSpPr>
        <p:spPr>
          <a:xfrm>
            <a:off x="4624730" y="2907791"/>
            <a:ext cx="2942234" cy="310896"/>
          </a:xfrm>
          <a:prstGeom prst="rect">
            <a:avLst/>
          </a:prstGeom>
          <a:noFill/>
        </p:spPr>
        <p:txBody>
          <a:bodyPr wrap="square" lIns="0" rIns="0" tIns="0" bIns="0">
            <a:normAutofit/>
          </a:bodyPr>
          <a:lstStyle/>
          <a:p>
            <a:pPr>
              <a:lnSpc>
                <a:spcPct val="105000"/>
              </a:lnSpc>
            </a:pPr>
            <a:r>
              <a:rPr sz="1450" b="1" i="0">
                <a:solidFill>
                  <a:srgbClr val="041E42"/>
                </a:solidFill>
                <a:latin typeface="Baskerville"/>
              </a:rPr>
              <a:t>La marca se vive</a:t>
            </a:r>
          </a:p>
        </p:txBody>
      </p:sp>
      <p:sp>
        <p:nvSpPr>
          <p:cNvPr id="17" name="TextBox 16"/>
          <p:cNvSpPr txBox="1"/>
          <p:nvPr/>
        </p:nvSpPr>
        <p:spPr>
          <a:xfrm>
            <a:off x="4624730" y="3291839"/>
            <a:ext cx="2942234" cy="402336"/>
          </a:xfrm>
          <a:prstGeom prst="rect">
            <a:avLst/>
          </a:prstGeom>
          <a:noFill/>
        </p:spPr>
        <p:txBody>
          <a:bodyPr wrap="square" lIns="0" rIns="0" tIns="0" bIns="0">
            <a:normAutofit/>
          </a:bodyPr>
          <a:lstStyle/>
          <a:p>
            <a:pPr>
              <a:lnSpc>
                <a:spcPct val="140000"/>
              </a:lnSpc>
            </a:pPr>
            <a:r>
              <a:rPr sz="840" b="0" i="0">
                <a:solidFill>
                  <a:srgbClr val="041E42"/>
                </a:solidFill>
                <a:latin typeface="Avenir Next"/>
              </a:rPr>
              <a:t>Lounge Bar en Movistar Arena · Lounge in Lounge en El Dorado · Dining Program en varias ciudades.</a:t>
            </a:r>
          </a:p>
        </p:txBody>
      </p:sp>
      <p:sp>
        <p:nvSpPr>
          <p:cNvPr id="18" name="TextBox 17"/>
          <p:cNvSpPr txBox="1"/>
          <p:nvPr/>
        </p:nvSpPr>
        <p:spPr>
          <a:xfrm>
            <a:off x="4624730" y="3767328"/>
            <a:ext cx="2942234" cy="292608"/>
          </a:xfrm>
          <a:prstGeom prst="rect">
            <a:avLst/>
          </a:prstGeom>
          <a:noFill/>
        </p:spPr>
        <p:txBody>
          <a:bodyPr wrap="square" lIns="0" rIns="0" tIns="0" bIns="0">
            <a:normAutofit/>
          </a:bodyPr>
          <a:lstStyle/>
          <a:p>
            <a:pPr>
              <a:lnSpc>
                <a:spcPct val="120000"/>
              </a:lnSpc>
            </a:pPr>
            <a:r>
              <a:rPr sz="700" b="1" i="0" spc="110">
                <a:solidFill>
                  <a:srgbClr val="D7BC81"/>
                </a:solidFill>
                <a:latin typeface="Avenir Next"/>
              </a:rPr>
              <a:t>→  ESPACIOS FÍSICOS + HOSPITALIDAD</a:t>
            </a:r>
          </a:p>
        </p:txBody>
      </p:sp>
      <p:sp>
        <p:nvSpPr>
          <p:cNvPr id="19" name="Rounded Rectangle 18"/>
          <p:cNvSpPr/>
          <p:nvPr/>
        </p:nvSpPr>
        <p:spPr>
          <a:xfrm>
            <a:off x="8042452" y="2487168"/>
            <a:ext cx="3417722" cy="1664208"/>
          </a:xfrm>
          <a:prstGeom prst="roundRect">
            <a:avLst>
              <a:gd name="adj" fmla="val 10439"/>
            </a:avLst>
          </a:prstGeom>
          <a:solidFill>
            <a:srgbClr val="F5F3C4"/>
          </a:solidFill>
          <a:ln w="9525">
            <a:solidFill>
              <a:srgbClr val="D7BC8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0" name="TextBox 19"/>
          <p:cNvSpPr txBox="1"/>
          <p:nvPr/>
        </p:nvSpPr>
        <p:spPr>
          <a:xfrm>
            <a:off x="8280196" y="2670048"/>
            <a:ext cx="2942234" cy="182880"/>
          </a:xfrm>
          <a:prstGeom prst="rect">
            <a:avLst/>
          </a:prstGeom>
          <a:noFill/>
        </p:spPr>
        <p:txBody>
          <a:bodyPr wrap="square" lIns="0" rIns="0" tIns="0" bIns="0">
            <a:normAutofit/>
          </a:bodyPr>
          <a:lstStyle/>
          <a:p>
            <a:r>
              <a:rPr sz="700" b="1" i="0" spc="130">
                <a:solidFill>
                  <a:srgbClr val="D7BC81"/>
                </a:solidFill>
                <a:latin typeface="Avenir Next"/>
              </a:rPr>
              <a:t>VISA</a:t>
            </a:r>
          </a:p>
        </p:txBody>
      </p:sp>
      <p:sp>
        <p:nvSpPr>
          <p:cNvPr id="21" name="TextBox 20"/>
          <p:cNvSpPr txBox="1"/>
          <p:nvPr/>
        </p:nvSpPr>
        <p:spPr>
          <a:xfrm>
            <a:off x="8280196" y="2907791"/>
            <a:ext cx="2942234" cy="310896"/>
          </a:xfrm>
          <a:prstGeom prst="rect">
            <a:avLst/>
          </a:prstGeom>
          <a:noFill/>
        </p:spPr>
        <p:txBody>
          <a:bodyPr wrap="square" lIns="0" rIns="0" tIns="0" bIns="0">
            <a:normAutofit/>
          </a:bodyPr>
          <a:lstStyle/>
          <a:p>
            <a:pPr>
              <a:lnSpc>
                <a:spcPct val="105000"/>
              </a:lnSpc>
            </a:pPr>
            <a:r>
              <a:rPr sz="1450" b="1" i="0">
                <a:solidFill>
                  <a:srgbClr val="041E42"/>
                </a:solidFill>
                <a:latin typeface="Baskerville"/>
              </a:rPr>
              <a:t>Grandes momentos</a:t>
            </a:r>
          </a:p>
        </p:txBody>
      </p:sp>
      <p:sp>
        <p:nvSpPr>
          <p:cNvPr id="22" name="TextBox 21"/>
          <p:cNvSpPr txBox="1"/>
          <p:nvPr/>
        </p:nvSpPr>
        <p:spPr>
          <a:xfrm>
            <a:off x="8280196" y="3291839"/>
            <a:ext cx="2942234" cy="402336"/>
          </a:xfrm>
          <a:prstGeom prst="rect">
            <a:avLst/>
          </a:prstGeom>
          <a:noFill/>
        </p:spPr>
        <p:txBody>
          <a:bodyPr wrap="square" lIns="0" rIns="0" tIns="0" bIns="0">
            <a:normAutofit/>
          </a:bodyPr>
          <a:lstStyle/>
          <a:p>
            <a:pPr>
              <a:lnSpc>
                <a:spcPct val="140000"/>
              </a:lnSpc>
            </a:pPr>
            <a:r>
              <a:rPr sz="840" b="0" i="0">
                <a:solidFill>
                  <a:srgbClr val="041E42"/>
                </a:solidFill>
                <a:latin typeface="Avenir Next"/>
              </a:rPr>
              <a:t>FIFA · Juegos Olímpicos · plataformas deportivas y culturales. En Colombia, conexión con grandes momentos de consumo y turismo.</a:t>
            </a:r>
          </a:p>
        </p:txBody>
      </p:sp>
      <p:sp>
        <p:nvSpPr>
          <p:cNvPr id="23" name="TextBox 22"/>
          <p:cNvSpPr txBox="1"/>
          <p:nvPr/>
        </p:nvSpPr>
        <p:spPr>
          <a:xfrm>
            <a:off x="8280196" y="3767328"/>
            <a:ext cx="2942234" cy="292608"/>
          </a:xfrm>
          <a:prstGeom prst="rect">
            <a:avLst/>
          </a:prstGeom>
          <a:noFill/>
        </p:spPr>
        <p:txBody>
          <a:bodyPr wrap="square" lIns="0" rIns="0" tIns="0" bIns="0">
            <a:normAutofit/>
          </a:bodyPr>
          <a:lstStyle/>
          <a:p>
            <a:pPr>
              <a:lnSpc>
                <a:spcPct val="120000"/>
              </a:lnSpc>
            </a:pPr>
            <a:r>
              <a:rPr sz="700" b="1" i="0" spc="110">
                <a:solidFill>
                  <a:srgbClr val="D7BC81"/>
                </a:solidFill>
                <a:latin typeface="Avenir Next"/>
              </a:rPr>
              <a:t>→  PATROCINIO + ESCALA CULTURAL</a:t>
            </a:r>
          </a:p>
        </p:txBody>
      </p:sp>
      <p:sp>
        <p:nvSpPr>
          <p:cNvPr id="24" name="Rounded Rectangle 23"/>
          <p:cNvSpPr/>
          <p:nvPr/>
        </p:nvSpPr>
        <p:spPr>
          <a:xfrm>
            <a:off x="731520" y="4407408"/>
            <a:ext cx="3417722" cy="1664208"/>
          </a:xfrm>
          <a:prstGeom prst="roundRect">
            <a:avLst>
              <a:gd name="adj" fmla="val 10439"/>
            </a:avLst>
          </a:prstGeom>
          <a:solidFill>
            <a:srgbClr val="F5F3C4"/>
          </a:solidFill>
          <a:ln w="9525">
            <a:solidFill>
              <a:srgbClr val="D7BC8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5" name="TextBox 24"/>
          <p:cNvSpPr txBox="1"/>
          <p:nvPr/>
        </p:nvSpPr>
        <p:spPr>
          <a:xfrm>
            <a:off x="969264" y="4590288"/>
            <a:ext cx="2942234" cy="182880"/>
          </a:xfrm>
          <a:prstGeom prst="rect">
            <a:avLst/>
          </a:prstGeom>
          <a:noFill/>
        </p:spPr>
        <p:txBody>
          <a:bodyPr wrap="square" lIns="0" rIns="0" tIns="0" bIns="0">
            <a:normAutofit/>
          </a:bodyPr>
          <a:lstStyle/>
          <a:p>
            <a:r>
              <a:rPr sz="700" b="1" i="0" spc="130">
                <a:solidFill>
                  <a:srgbClr val="D7BC81"/>
                </a:solidFill>
                <a:latin typeface="Avenir Next"/>
              </a:rPr>
              <a:t>DAVIBANK / ONE REWARDS</a:t>
            </a:r>
          </a:p>
        </p:txBody>
      </p:sp>
      <p:sp>
        <p:nvSpPr>
          <p:cNvPr id="26" name="TextBox 25"/>
          <p:cNvSpPr txBox="1"/>
          <p:nvPr/>
        </p:nvSpPr>
        <p:spPr>
          <a:xfrm>
            <a:off x="969264" y="4828032"/>
            <a:ext cx="2942234" cy="310896"/>
          </a:xfrm>
          <a:prstGeom prst="rect">
            <a:avLst/>
          </a:prstGeom>
          <a:noFill/>
        </p:spPr>
        <p:txBody>
          <a:bodyPr wrap="square" lIns="0" rIns="0" tIns="0" bIns="0">
            <a:normAutofit/>
          </a:bodyPr>
          <a:lstStyle/>
          <a:p>
            <a:pPr>
              <a:lnSpc>
                <a:spcPct val="105000"/>
              </a:lnSpc>
            </a:pPr>
            <a:r>
              <a:rPr sz="1450" b="1" i="0">
                <a:solidFill>
                  <a:srgbClr val="041E42"/>
                </a:solidFill>
                <a:latin typeface="Baskerville"/>
              </a:rPr>
              <a:t>Beneficio que incentiva uso</a:t>
            </a:r>
          </a:p>
        </p:txBody>
      </p:sp>
      <p:sp>
        <p:nvSpPr>
          <p:cNvPr id="27" name="TextBox 26"/>
          <p:cNvSpPr txBox="1"/>
          <p:nvPr/>
        </p:nvSpPr>
        <p:spPr>
          <a:xfrm>
            <a:off x="969264" y="5212080"/>
            <a:ext cx="2942234" cy="402336"/>
          </a:xfrm>
          <a:prstGeom prst="rect">
            <a:avLst/>
          </a:prstGeom>
          <a:noFill/>
        </p:spPr>
        <p:txBody>
          <a:bodyPr wrap="square" lIns="0" rIns="0" tIns="0" bIns="0">
            <a:normAutofit/>
          </a:bodyPr>
          <a:lstStyle/>
          <a:p>
            <a:pPr>
              <a:lnSpc>
                <a:spcPct val="140000"/>
              </a:lnSpc>
            </a:pPr>
            <a:r>
              <a:rPr sz="840" b="0" i="0">
                <a:solidFill>
                  <a:srgbClr val="041E42"/>
                </a:solidFill>
                <a:latin typeface="Avenir Next"/>
              </a:rPr>
              <a:t>Salas VIP · traslados al aeropuerto · beneficios de viaje y condiciones asociadas al uso de la tarjeta.</a:t>
            </a:r>
          </a:p>
        </p:txBody>
      </p:sp>
      <p:sp>
        <p:nvSpPr>
          <p:cNvPr id="28" name="TextBox 27"/>
          <p:cNvSpPr txBox="1"/>
          <p:nvPr/>
        </p:nvSpPr>
        <p:spPr>
          <a:xfrm>
            <a:off x="969264" y="5687568"/>
            <a:ext cx="2942234" cy="292608"/>
          </a:xfrm>
          <a:prstGeom prst="rect">
            <a:avLst/>
          </a:prstGeom>
          <a:noFill/>
        </p:spPr>
        <p:txBody>
          <a:bodyPr wrap="square" lIns="0" rIns="0" tIns="0" bIns="0">
            <a:normAutofit/>
          </a:bodyPr>
          <a:lstStyle/>
          <a:p>
            <a:pPr>
              <a:lnSpc>
                <a:spcPct val="120000"/>
              </a:lnSpc>
            </a:pPr>
            <a:r>
              <a:rPr sz="700" b="1" i="0" spc="110">
                <a:solidFill>
                  <a:srgbClr val="D7BC81"/>
                </a:solidFill>
                <a:latin typeface="Avenir Next"/>
              </a:rPr>
              <a:t>→  EL BENEFICIO GENERA COMPORTAMIENTO</a:t>
            </a:r>
          </a:p>
        </p:txBody>
      </p:sp>
      <p:sp>
        <p:nvSpPr>
          <p:cNvPr id="29" name="Rounded Rectangle 28"/>
          <p:cNvSpPr/>
          <p:nvPr/>
        </p:nvSpPr>
        <p:spPr>
          <a:xfrm>
            <a:off x="4386986" y="4407408"/>
            <a:ext cx="3417722" cy="1664208"/>
          </a:xfrm>
          <a:prstGeom prst="roundRect">
            <a:avLst>
              <a:gd name="adj" fmla="val 10439"/>
            </a:avLst>
          </a:prstGeom>
          <a:solidFill>
            <a:srgbClr val="F5F3C4"/>
          </a:solidFill>
          <a:ln w="9525">
            <a:solidFill>
              <a:srgbClr val="D7BC8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30" name="TextBox 29"/>
          <p:cNvSpPr txBox="1"/>
          <p:nvPr/>
        </p:nvSpPr>
        <p:spPr>
          <a:xfrm>
            <a:off x="4624730" y="4590288"/>
            <a:ext cx="2942234" cy="182880"/>
          </a:xfrm>
          <a:prstGeom prst="rect">
            <a:avLst/>
          </a:prstGeom>
          <a:noFill/>
        </p:spPr>
        <p:txBody>
          <a:bodyPr wrap="square" lIns="0" rIns="0" tIns="0" bIns="0">
            <a:normAutofit/>
          </a:bodyPr>
          <a:lstStyle/>
          <a:p>
            <a:r>
              <a:rPr sz="700" b="1" i="0" spc="130">
                <a:solidFill>
                  <a:srgbClr val="D7BC81"/>
                </a:solidFill>
                <a:latin typeface="Avenir Next"/>
              </a:rPr>
              <a:t>BANCOLOMBIA</a:t>
            </a:r>
          </a:p>
        </p:txBody>
      </p:sp>
      <p:sp>
        <p:nvSpPr>
          <p:cNvPr id="31" name="TextBox 30"/>
          <p:cNvSpPr txBox="1"/>
          <p:nvPr/>
        </p:nvSpPr>
        <p:spPr>
          <a:xfrm>
            <a:off x="4624730" y="4828032"/>
            <a:ext cx="2942234" cy="310896"/>
          </a:xfrm>
          <a:prstGeom prst="rect">
            <a:avLst/>
          </a:prstGeom>
          <a:noFill/>
        </p:spPr>
        <p:txBody>
          <a:bodyPr wrap="square" lIns="0" rIns="0" tIns="0" bIns="0">
            <a:normAutofit/>
          </a:bodyPr>
          <a:lstStyle/>
          <a:p>
            <a:pPr>
              <a:lnSpc>
                <a:spcPct val="105000"/>
              </a:lnSpc>
            </a:pPr>
            <a:r>
              <a:rPr sz="1450" b="1" i="0">
                <a:solidFill>
                  <a:srgbClr val="041E42"/>
                </a:solidFill>
                <a:latin typeface="Baskerville"/>
              </a:rPr>
              <a:t>Arquitectura premium</a:t>
            </a:r>
          </a:p>
        </p:txBody>
      </p:sp>
      <p:sp>
        <p:nvSpPr>
          <p:cNvPr id="32" name="TextBox 31"/>
          <p:cNvSpPr txBox="1"/>
          <p:nvPr/>
        </p:nvSpPr>
        <p:spPr>
          <a:xfrm>
            <a:off x="4624730" y="5212080"/>
            <a:ext cx="2942234" cy="402336"/>
          </a:xfrm>
          <a:prstGeom prst="rect">
            <a:avLst/>
          </a:prstGeom>
          <a:noFill/>
        </p:spPr>
        <p:txBody>
          <a:bodyPr wrap="square" lIns="0" rIns="0" tIns="0" bIns="0">
            <a:normAutofit/>
          </a:bodyPr>
          <a:lstStyle/>
          <a:p>
            <a:pPr>
              <a:lnSpc>
                <a:spcPct val="140000"/>
              </a:lnSpc>
            </a:pPr>
            <a:r>
              <a:rPr sz="840" b="0" i="0">
                <a:solidFill>
                  <a:srgbClr val="041E42"/>
                </a:solidFill>
                <a:latin typeface="Avenir Next"/>
              </a:rPr>
              <a:t>World Legend Mastercard · Icon American Express · salas VIP · gastronomía · entretenimiento · viajes.</a:t>
            </a:r>
          </a:p>
        </p:txBody>
      </p:sp>
      <p:sp>
        <p:nvSpPr>
          <p:cNvPr id="33" name="TextBox 32"/>
          <p:cNvSpPr txBox="1"/>
          <p:nvPr/>
        </p:nvSpPr>
        <p:spPr>
          <a:xfrm>
            <a:off x="4624730" y="5687568"/>
            <a:ext cx="2942234" cy="292608"/>
          </a:xfrm>
          <a:prstGeom prst="rect">
            <a:avLst/>
          </a:prstGeom>
          <a:noFill/>
        </p:spPr>
        <p:txBody>
          <a:bodyPr wrap="square" lIns="0" rIns="0" tIns="0" bIns="0">
            <a:normAutofit/>
          </a:bodyPr>
          <a:lstStyle/>
          <a:p>
            <a:pPr>
              <a:lnSpc>
                <a:spcPct val="120000"/>
              </a:lnSpc>
            </a:pPr>
            <a:r>
              <a:rPr sz="700" b="1" i="0" spc="110">
                <a:solidFill>
                  <a:srgbClr val="D7BC81"/>
                </a:solidFill>
                <a:latin typeface="Avenir Next"/>
              </a:rPr>
              <a:t>→  EL ECOSISTEMA PREMIUM SE VUELVE ESTÁNDAR</a:t>
            </a:r>
          </a:p>
        </p:txBody>
      </p:sp>
      <p:sp>
        <p:nvSpPr>
          <p:cNvPr id="34" name="Rounded Rectangle 33"/>
          <p:cNvSpPr/>
          <p:nvPr/>
        </p:nvSpPr>
        <p:spPr>
          <a:xfrm>
            <a:off x="8042452" y="4407408"/>
            <a:ext cx="3417722" cy="1664208"/>
          </a:xfrm>
          <a:prstGeom prst="roundRect">
            <a:avLst>
              <a:gd name="adj" fmla="val 10439"/>
            </a:avLst>
          </a:prstGeom>
          <a:solidFill>
            <a:srgbClr val="F5F3C4"/>
          </a:solidFill>
          <a:ln w="9525">
            <a:solidFill>
              <a:srgbClr val="D7BC8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35" name="TextBox 34"/>
          <p:cNvSpPr txBox="1"/>
          <p:nvPr/>
        </p:nvSpPr>
        <p:spPr>
          <a:xfrm>
            <a:off x="8280196" y="4590288"/>
            <a:ext cx="2942234" cy="182880"/>
          </a:xfrm>
          <a:prstGeom prst="rect">
            <a:avLst/>
          </a:prstGeom>
          <a:noFill/>
        </p:spPr>
        <p:txBody>
          <a:bodyPr wrap="square" lIns="0" rIns="0" tIns="0" bIns="0">
            <a:normAutofit/>
          </a:bodyPr>
          <a:lstStyle/>
          <a:p>
            <a:r>
              <a:rPr sz="700" b="1" i="0" spc="130">
                <a:solidFill>
                  <a:srgbClr val="D7BC81"/>
                </a:solidFill>
                <a:latin typeface="Avenir Next"/>
              </a:rPr>
              <a:t>NU COLOMBIA</a:t>
            </a:r>
          </a:p>
        </p:txBody>
      </p:sp>
      <p:sp>
        <p:nvSpPr>
          <p:cNvPr id="36" name="TextBox 35"/>
          <p:cNvSpPr txBox="1"/>
          <p:nvPr/>
        </p:nvSpPr>
        <p:spPr>
          <a:xfrm>
            <a:off x="8280196" y="4828032"/>
            <a:ext cx="2942234" cy="310896"/>
          </a:xfrm>
          <a:prstGeom prst="rect">
            <a:avLst/>
          </a:prstGeom>
          <a:noFill/>
        </p:spPr>
        <p:txBody>
          <a:bodyPr wrap="square" lIns="0" rIns="0" tIns="0" bIns="0">
            <a:normAutofit/>
          </a:bodyPr>
          <a:lstStyle/>
          <a:p>
            <a:pPr>
              <a:lnSpc>
                <a:spcPct val="105000"/>
              </a:lnSpc>
            </a:pPr>
            <a:r>
              <a:rPr sz="1450" b="1" i="0">
                <a:solidFill>
                  <a:srgbClr val="041E42"/>
                </a:solidFill>
                <a:latin typeface="Baskerville"/>
              </a:rPr>
              <a:t>Marca dentro de la cultura</a:t>
            </a:r>
          </a:p>
        </p:txBody>
      </p:sp>
      <p:sp>
        <p:nvSpPr>
          <p:cNvPr id="37" name="TextBox 36"/>
          <p:cNvSpPr txBox="1"/>
          <p:nvPr/>
        </p:nvSpPr>
        <p:spPr>
          <a:xfrm>
            <a:off x="8280196" y="5212080"/>
            <a:ext cx="2942234" cy="402336"/>
          </a:xfrm>
          <a:prstGeom prst="rect">
            <a:avLst/>
          </a:prstGeom>
          <a:noFill/>
        </p:spPr>
        <p:txBody>
          <a:bodyPr wrap="square" lIns="0" rIns="0" tIns="0" bIns="0">
            <a:normAutofit/>
          </a:bodyPr>
          <a:lstStyle/>
          <a:p>
            <a:pPr>
              <a:lnSpc>
                <a:spcPct val="140000"/>
              </a:lnSpc>
            </a:pPr>
            <a:r>
              <a:rPr sz="840" b="0" i="0">
                <a:solidFill>
                  <a:srgbClr val="041E42"/>
                </a:solidFill>
                <a:latin typeface="Avenir Next"/>
              </a:rPr>
              <a:t>Activación alrededor de Inter Miami × Atlético Nacional · arte colombiano en el kit de bienvenida · identidad visual fuerte.</a:t>
            </a:r>
          </a:p>
        </p:txBody>
      </p:sp>
      <p:sp>
        <p:nvSpPr>
          <p:cNvPr id="38" name="TextBox 37"/>
          <p:cNvSpPr txBox="1"/>
          <p:nvPr/>
        </p:nvSpPr>
        <p:spPr>
          <a:xfrm>
            <a:off x="8280196" y="5687568"/>
            <a:ext cx="2942234" cy="292608"/>
          </a:xfrm>
          <a:prstGeom prst="rect">
            <a:avLst/>
          </a:prstGeom>
          <a:noFill/>
        </p:spPr>
        <p:txBody>
          <a:bodyPr wrap="square" lIns="0" rIns="0" tIns="0" bIns="0">
            <a:normAutofit/>
          </a:bodyPr>
          <a:lstStyle/>
          <a:p>
            <a:pPr>
              <a:lnSpc>
                <a:spcPct val="120000"/>
              </a:lnSpc>
            </a:pPr>
            <a:r>
              <a:rPr sz="700" b="1" i="0" spc="110">
                <a:solidFill>
                  <a:srgbClr val="D7BC81"/>
                </a:solidFill>
                <a:latin typeface="Avenir Next"/>
              </a:rPr>
              <a:t>→  LA MARCA SALE DEL PRODUCTO Y ENTRA EN LA CULTURA</a:t>
            </a:r>
          </a:p>
        </p:txBody>
      </p:sp>
      <p:sp>
        <p:nvSpPr>
          <p:cNvPr id="39" name="TextBox 38"/>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FUENTES: PLATAFORMAS OFICIALES DE MASTERCARD PRICELESS, AMERICAN EXPRESS COLOMBIA, VISA, DAVIBANK, BANCOLOMBIA Y NU COLOMBIA · REVISIÓN 2026</a:t>
            </a:r>
          </a:p>
        </p:txBody>
      </p:sp>
      <p:sp>
        <p:nvSpPr>
          <p:cNvPr id="40" name="TextBox 39"/>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LA LECTURA ESTRATÉGICA</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El juego está </a:t>
            </a:r>
            <a:r>
              <a:rPr sz="2900" b="0" i="1">
                <a:solidFill>
                  <a:srgbClr val="004C97"/>
                </a:solidFill>
                <a:latin typeface="Baskerville"/>
              </a:rPr>
              <a:t>cambiando</a:t>
            </a:r>
            <a:r>
              <a:rPr sz="2900" b="0" i="0">
                <a:solidFill>
                  <a:srgbClr val="041E42"/>
                </a:solidFill>
                <a:latin typeface="Baskerville"/>
              </a:rPr>
              <a:t>.</a:t>
            </a:r>
          </a:p>
        </p:txBody>
      </p:sp>
      <p:sp>
        <p:nvSpPr>
          <p:cNvPr id="6" name="TextBox 5"/>
          <p:cNvSpPr txBox="1"/>
          <p:nvPr/>
        </p:nvSpPr>
        <p:spPr>
          <a:xfrm>
            <a:off x="731520" y="1517904"/>
            <a:ext cx="813816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La categoría está pasando de entregar beneficios a construir razones para pertenecer.</a:t>
            </a:r>
          </a:p>
        </p:txBody>
      </p:sp>
      <p:sp>
        <p:nvSpPr>
          <p:cNvPr id="7" name="Rectangle 6"/>
          <p:cNvSpPr/>
          <p:nvPr/>
        </p:nvSpPr>
        <p:spPr>
          <a:xfrm>
            <a:off x="731520" y="1993391"/>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3090672"/>
            <a:ext cx="1970166" cy="1783080"/>
          </a:xfrm>
          <a:prstGeom prst="roundRect">
            <a:avLst>
              <a:gd name="adj" fmla="val 9743"/>
            </a:avLst>
          </a:prstGeom>
          <a:solidFill>
            <a:srgbClr val="F5F3C4"/>
          </a:solidFill>
          <a:ln w="9525">
            <a:solidFill>
              <a:srgbClr val="D7BC8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3328415"/>
            <a:ext cx="1494678" cy="182880"/>
          </a:xfrm>
          <a:prstGeom prst="rect">
            <a:avLst/>
          </a:prstGeom>
          <a:noFill/>
        </p:spPr>
        <p:txBody>
          <a:bodyPr wrap="square" lIns="0" rIns="0" tIns="0" bIns="0">
            <a:normAutofit/>
          </a:bodyPr>
          <a:lstStyle/>
          <a:p>
            <a:r>
              <a:rPr sz="740" b="1" i="0" spc="130">
                <a:solidFill>
                  <a:srgbClr val="D7BC81"/>
                </a:solidFill>
                <a:latin typeface="Avenir Next"/>
              </a:rPr>
              <a:t>01</a:t>
            </a:r>
          </a:p>
        </p:txBody>
      </p:sp>
      <p:sp>
        <p:nvSpPr>
          <p:cNvPr id="10" name="TextBox 9"/>
          <p:cNvSpPr txBox="1"/>
          <p:nvPr/>
        </p:nvSpPr>
        <p:spPr>
          <a:xfrm>
            <a:off x="969264" y="3602736"/>
            <a:ext cx="1494678" cy="365760"/>
          </a:xfrm>
          <a:prstGeom prst="rect">
            <a:avLst/>
          </a:prstGeom>
          <a:noFill/>
        </p:spPr>
        <p:txBody>
          <a:bodyPr wrap="square" lIns="0" rIns="0" tIns="0" bIns="0">
            <a:normAutofit/>
          </a:bodyPr>
          <a:lstStyle/>
          <a:p>
            <a:r>
              <a:rPr sz="1550" b="1" i="0" spc="40">
                <a:solidFill>
                  <a:srgbClr val="041E42"/>
                </a:solidFill>
                <a:latin typeface="Baskerville"/>
              </a:rPr>
              <a:t>DESCUENTO</a:t>
            </a:r>
          </a:p>
        </p:txBody>
      </p:sp>
      <p:sp>
        <p:nvSpPr>
          <p:cNvPr id="11" name="TextBox 10"/>
          <p:cNvSpPr txBox="1"/>
          <p:nvPr/>
        </p:nvSpPr>
        <p:spPr>
          <a:xfrm>
            <a:off x="969264" y="4059935"/>
            <a:ext cx="1494678" cy="457200"/>
          </a:xfrm>
          <a:prstGeom prst="rect">
            <a:avLst/>
          </a:prstGeom>
          <a:noFill/>
        </p:spPr>
        <p:txBody>
          <a:bodyPr wrap="square" lIns="0" rIns="0" tIns="0" bIns="0">
            <a:normAutofit/>
          </a:bodyPr>
          <a:lstStyle/>
          <a:p>
            <a:pPr>
              <a:lnSpc>
                <a:spcPct val="130000"/>
              </a:lnSpc>
            </a:pPr>
            <a:r>
              <a:rPr sz="950" b="0" i="1">
                <a:solidFill>
                  <a:srgbClr val="5A6B85"/>
                </a:solidFill>
                <a:latin typeface="Baskerville"/>
              </a:rPr>
              <a:t>“Ahorra con tu tarjeta”</a:t>
            </a:r>
          </a:p>
        </p:txBody>
      </p:sp>
      <p:sp>
        <p:nvSpPr>
          <p:cNvPr id="12" name="Rounded Rectangle 11"/>
          <p:cNvSpPr/>
          <p:nvPr/>
        </p:nvSpPr>
        <p:spPr>
          <a:xfrm>
            <a:off x="2921142" y="3090672"/>
            <a:ext cx="1970166" cy="1783080"/>
          </a:xfrm>
          <a:prstGeom prst="roundRect">
            <a:avLst>
              <a:gd name="adj" fmla="val 9743"/>
            </a:avLst>
          </a:prstGeom>
          <a:solidFill>
            <a:srgbClr val="F5F3C4"/>
          </a:solidFill>
          <a:ln w="9525">
            <a:solidFill>
              <a:srgbClr val="D7BC8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3" name="TextBox 12"/>
          <p:cNvSpPr txBox="1"/>
          <p:nvPr/>
        </p:nvSpPr>
        <p:spPr>
          <a:xfrm>
            <a:off x="3158886" y="3328415"/>
            <a:ext cx="1494678" cy="182880"/>
          </a:xfrm>
          <a:prstGeom prst="rect">
            <a:avLst/>
          </a:prstGeom>
          <a:noFill/>
        </p:spPr>
        <p:txBody>
          <a:bodyPr wrap="square" lIns="0" rIns="0" tIns="0" bIns="0">
            <a:normAutofit/>
          </a:bodyPr>
          <a:lstStyle/>
          <a:p>
            <a:r>
              <a:rPr sz="740" b="1" i="0" spc="130">
                <a:solidFill>
                  <a:srgbClr val="D7BC81"/>
                </a:solidFill>
                <a:latin typeface="Avenir Next"/>
              </a:rPr>
              <a:t>02</a:t>
            </a:r>
          </a:p>
        </p:txBody>
      </p:sp>
      <p:sp>
        <p:nvSpPr>
          <p:cNvPr id="14" name="TextBox 13"/>
          <p:cNvSpPr txBox="1"/>
          <p:nvPr/>
        </p:nvSpPr>
        <p:spPr>
          <a:xfrm>
            <a:off x="3158886" y="3602736"/>
            <a:ext cx="1494678" cy="365760"/>
          </a:xfrm>
          <a:prstGeom prst="rect">
            <a:avLst/>
          </a:prstGeom>
          <a:noFill/>
        </p:spPr>
        <p:txBody>
          <a:bodyPr wrap="square" lIns="0" rIns="0" tIns="0" bIns="0">
            <a:normAutofit/>
          </a:bodyPr>
          <a:lstStyle/>
          <a:p>
            <a:r>
              <a:rPr sz="1550" b="1" i="0" spc="40">
                <a:solidFill>
                  <a:srgbClr val="041E42"/>
                </a:solidFill>
                <a:latin typeface="Baskerville"/>
              </a:rPr>
              <a:t>BENEFICIO</a:t>
            </a:r>
          </a:p>
        </p:txBody>
      </p:sp>
      <p:sp>
        <p:nvSpPr>
          <p:cNvPr id="15" name="TextBox 14"/>
          <p:cNvSpPr txBox="1"/>
          <p:nvPr/>
        </p:nvSpPr>
        <p:spPr>
          <a:xfrm>
            <a:off x="3158886" y="4059935"/>
            <a:ext cx="1494678" cy="457200"/>
          </a:xfrm>
          <a:prstGeom prst="rect">
            <a:avLst/>
          </a:prstGeom>
          <a:noFill/>
        </p:spPr>
        <p:txBody>
          <a:bodyPr wrap="square" lIns="0" rIns="0" tIns="0" bIns="0">
            <a:normAutofit/>
          </a:bodyPr>
          <a:lstStyle/>
          <a:p>
            <a:pPr>
              <a:lnSpc>
                <a:spcPct val="130000"/>
              </a:lnSpc>
            </a:pPr>
            <a:r>
              <a:rPr sz="950" b="0" i="1">
                <a:solidFill>
                  <a:srgbClr val="5A6B85"/>
                </a:solidFill>
                <a:latin typeface="Baskerville"/>
              </a:rPr>
              <a:t>“Obtén algo extra”</a:t>
            </a:r>
          </a:p>
        </p:txBody>
      </p:sp>
      <p:sp>
        <p:nvSpPr>
          <p:cNvPr id="16" name="Rounded Rectangle 15"/>
          <p:cNvSpPr/>
          <p:nvPr/>
        </p:nvSpPr>
        <p:spPr>
          <a:xfrm>
            <a:off x="5110764" y="3090672"/>
            <a:ext cx="1970166" cy="1783080"/>
          </a:xfrm>
          <a:prstGeom prst="roundRect">
            <a:avLst>
              <a:gd name="adj" fmla="val 9743"/>
            </a:avLst>
          </a:prstGeom>
          <a:solidFill>
            <a:srgbClr val="F5F3C4"/>
          </a:solidFill>
          <a:ln w="9525">
            <a:solidFill>
              <a:srgbClr val="D7BC8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7" name="TextBox 16"/>
          <p:cNvSpPr txBox="1"/>
          <p:nvPr/>
        </p:nvSpPr>
        <p:spPr>
          <a:xfrm>
            <a:off x="5348508" y="3328415"/>
            <a:ext cx="1494678" cy="182880"/>
          </a:xfrm>
          <a:prstGeom prst="rect">
            <a:avLst/>
          </a:prstGeom>
          <a:noFill/>
        </p:spPr>
        <p:txBody>
          <a:bodyPr wrap="square" lIns="0" rIns="0" tIns="0" bIns="0">
            <a:normAutofit/>
          </a:bodyPr>
          <a:lstStyle/>
          <a:p>
            <a:r>
              <a:rPr sz="740" b="1" i="0" spc="130">
                <a:solidFill>
                  <a:srgbClr val="D7BC81"/>
                </a:solidFill>
                <a:latin typeface="Avenir Next"/>
              </a:rPr>
              <a:t>03</a:t>
            </a:r>
          </a:p>
        </p:txBody>
      </p:sp>
      <p:sp>
        <p:nvSpPr>
          <p:cNvPr id="18" name="TextBox 17"/>
          <p:cNvSpPr txBox="1"/>
          <p:nvPr/>
        </p:nvSpPr>
        <p:spPr>
          <a:xfrm>
            <a:off x="5348508" y="3602736"/>
            <a:ext cx="1494678" cy="365760"/>
          </a:xfrm>
          <a:prstGeom prst="rect">
            <a:avLst/>
          </a:prstGeom>
          <a:noFill/>
        </p:spPr>
        <p:txBody>
          <a:bodyPr wrap="square" lIns="0" rIns="0" tIns="0" bIns="0">
            <a:normAutofit/>
          </a:bodyPr>
          <a:lstStyle/>
          <a:p>
            <a:r>
              <a:rPr sz="1550" b="1" i="0" spc="40">
                <a:solidFill>
                  <a:srgbClr val="041E42"/>
                </a:solidFill>
                <a:latin typeface="Baskerville"/>
              </a:rPr>
              <a:t>ACCESO</a:t>
            </a:r>
          </a:p>
        </p:txBody>
      </p:sp>
      <p:sp>
        <p:nvSpPr>
          <p:cNvPr id="19" name="TextBox 18"/>
          <p:cNvSpPr txBox="1"/>
          <p:nvPr/>
        </p:nvSpPr>
        <p:spPr>
          <a:xfrm>
            <a:off x="5348508" y="4059935"/>
            <a:ext cx="1494678" cy="457200"/>
          </a:xfrm>
          <a:prstGeom prst="rect">
            <a:avLst/>
          </a:prstGeom>
          <a:noFill/>
        </p:spPr>
        <p:txBody>
          <a:bodyPr wrap="square" lIns="0" rIns="0" tIns="0" bIns="0">
            <a:normAutofit/>
          </a:bodyPr>
          <a:lstStyle/>
          <a:p>
            <a:pPr>
              <a:lnSpc>
                <a:spcPct val="130000"/>
              </a:lnSpc>
            </a:pPr>
            <a:r>
              <a:rPr sz="950" b="0" i="1">
                <a:solidFill>
                  <a:srgbClr val="5A6B85"/>
                </a:solidFill>
                <a:latin typeface="Baskerville"/>
              </a:rPr>
              <a:t>“Entra donde otros no”</a:t>
            </a:r>
          </a:p>
        </p:txBody>
      </p:sp>
      <p:sp>
        <p:nvSpPr>
          <p:cNvPr id="20" name="Rounded Rectangle 19"/>
          <p:cNvSpPr/>
          <p:nvPr/>
        </p:nvSpPr>
        <p:spPr>
          <a:xfrm>
            <a:off x="7300386" y="3090672"/>
            <a:ext cx="1970166" cy="1783080"/>
          </a:xfrm>
          <a:prstGeom prst="roundRect">
            <a:avLst>
              <a:gd name="adj" fmla="val 9743"/>
            </a:avLst>
          </a:prstGeom>
          <a:solidFill>
            <a:srgbClr val="F5F3C4"/>
          </a:solidFill>
          <a:ln w="9525">
            <a:solidFill>
              <a:srgbClr val="D7BC8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1" name="TextBox 20"/>
          <p:cNvSpPr txBox="1"/>
          <p:nvPr/>
        </p:nvSpPr>
        <p:spPr>
          <a:xfrm>
            <a:off x="7538130" y="3328415"/>
            <a:ext cx="1494678" cy="182880"/>
          </a:xfrm>
          <a:prstGeom prst="rect">
            <a:avLst/>
          </a:prstGeom>
          <a:noFill/>
        </p:spPr>
        <p:txBody>
          <a:bodyPr wrap="square" lIns="0" rIns="0" tIns="0" bIns="0">
            <a:normAutofit/>
          </a:bodyPr>
          <a:lstStyle/>
          <a:p>
            <a:r>
              <a:rPr sz="740" b="1" i="0" spc="130">
                <a:solidFill>
                  <a:srgbClr val="D7BC81"/>
                </a:solidFill>
                <a:latin typeface="Avenir Next"/>
              </a:rPr>
              <a:t>04</a:t>
            </a:r>
          </a:p>
        </p:txBody>
      </p:sp>
      <p:sp>
        <p:nvSpPr>
          <p:cNvPr id="22" name="TextBox 21"/>
          <p:cNvSpPr txBox="1"/>
          <p:nvPr/>
        </p:nvSpPr>
        <p:spPr>
          <a:xfrm>
            <a:off x="7538130" y="3602736"/>
            <a:ext cx="1494678" cy="365760"/>
          </a:xfrm>
          <a:prstGeom prst="rect">
            <a:avLst/>
          </a:prstGeom>
          <a:noFill/>
        </p:spPr>
        <p:txBody>
          <a:bodyPr wrap="square" lIns="0" rIns="0" tIns="0" bIns="0">
            <a:normAutofit/>
          </a:bodyPr>
          <a:lstStyle/>
          <a:p>
            <a:r>
              <a:rPr sz="1550" b="1" i="0" spc="40">
                <a:solidFill>
                  <a:srgbClr val="041E42"/>
                </a:solidFill>
                <a:latin typeface="Baskerville"/>
              </a:rPr>
              <a:t>EXPERIENCIA</a:t>
            </a:r>
          </a:p>
        </p:txBody>
      </p:sp>
      <p:sp>
        <p:nvSpPr>
          <p:cNvPr id="23" name="TextBox 22"/>
          <p:cNvSpPr txBox="1"/>
          <p:nvPr/>
        </p:nvSpPr>
        <p:spPr>
          <a:xfrm>
            <a:off x="7538130" y="4059935"/>
            <a:ext cx="1494678" cy="457200"/>
          </a:xfrm>
          <a:prstGeom prst="rect">
            <a:avLst/>
          </a:prstGeom>
          <a:noFill/>
        </p:spPr>
        <p:txBody>
          <a:bodyPr wrap="square" lIns="0" rIns="0" tIns="0" bIns="0">
            <a:normAutofit/>
          </a:bodyPr>
          <a:lstStyle/>
          <a:p>
            <a:pPr>
              <a:lnSpc>
                <a:spcPct val="130000"/>
              </a:lnSpc>
            </a:pPr>
            <a:r>
              <a:rPr sz="950" b="0" i="1">
                <a:solidFill>
                  <a:srgbClr val="5A6B85"/>
                </a:solidFill>
                <a:latin typeface="Baskerville"/>
              </a:rPr>
              <a:t>“Vive algo que recordarás”</a:t>
            </a:r>
          </a:p>
        </p:txBody>
      </p:sp>
      <p:sp>
        <p:nvSpPr>
          <p:cNvPr id="24" name="Rounded Rectangle 23"/>
          <p:cNvSpPr/>
          <p:nvPr/>
        </p:nvSpPr>
        <p:spPr>
          <a:xfrm>
            <a:off x="9490008" y="3090672"/>
            <a:ext cx="1970166" cy="1783080"/>
          </a:xfrm>
          <a:prstGeom prst="roundRect">
            <a:avLst>
              <a:gd name="adj" fmla="val 9743"/>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5" name="TextBox 24"/>
          <p:cNvSpPr txBox="1"/>
          <p:nvPr/>
        </p:nvSpPr>
        <p:spPr>
          <a:xfrm>
            <a:off x="9727752" y="3328415"/>
            <a:ext cx="1494678" cy="182880"/>
          </a:xfrm>
          <a:prstGeom prst="rect">
            <a:avLst/>
          </a:prstGeom>
          <a:noFill/>
        </p:spPr>
        <p:txBody>
          <a:bodyPr wrap="square" lIns="0" rIns="0" tIns="0" bIns="0">
            <a:normAutofit/>
          </a:bodyPr>
          <a:lstStyle/>
          <a:p>
            <a:r>
              <a:rPr sz="740" b="1" i="0" spc="130">
                <a:solidFill>
                  <a:srgbClr val="D7BC81"/>
                </a:solidFill>
                <a:latin typeface="Avenir Next"/>
              </a:rPr>
              <a:t>05</a:t>
            </a:r>
          </a:p>
        </p:txBody>
      </p:sp>
      <p:sp>
        <p:nvSpPr>
          <p:cNvPr id="26" name="TextBox 25"/>
          <p:cNvSpPr txBox="1"/>
          <p:nvPr/>
        </p:nvSpPr>
        <p:spPr>
          <a:xfrm>
            <a:off x="9727752" y="3602736"/>
            <a:ext cx="1494678" cy="365760"/>
          </a:xfrm>
          <a:prstGeom prst="rect">
            <a:avLst/>
          </a:prstGeom>
          <a:noFill/>
        </p:spPr>
        <p:txBody>
          <a:bodyPr wrap="square" lIns="0" rIns="0" tIns="0" bIns="0">
            <a:normAutofit/>
          </a:bodyPr>
          <a:lstStyle/>
          <a:p>
            <a:r>
              <a:rPr sz="1550" b="1" i="0" spc="40">
                <a:solidFill>
                  <a:srgbClr val="FFFFFF"/>
                </a:solidFill>
                <a:latin typeface="Baskerville"/>
              </a:rPr>
              <a:t>PERTENENCIA</a:t>
            </a:r>
          </a:p>
        </p:txBody>
      </p:sp>
      <p:sp>
        <p:nvSpPr>
          <p:cNvPr id="27" name="TextBox 26"/>
          <p:cNvSpPr txBox="1"/>
          <p:nvPr/>
        </p:nvSpPr>
        <p:spPr>
          <a:xfrm>
            <a:off x="9727752" y="4059935"/>
            <a:ext cx="1494678" cy="457200"/>
          </a:xfrm>
          <a:prstGeom prst="rect">
            <a:avLst/>
          </a:prstGeom>
          <a:noFill/>
        </p:spPr>
        <p:txBody>
          <a:bodyPr wrap="square" lIns="0" rIns="0" tIns="0" bIns="0">
            <a:normAutofit/>
          </a:bodyPr>
          <a:lstStyle/>
          <a:p>
            <a:pPr>
              <a:lnSpc>
                <a:spcPct val="130000"/>
              </a:lnSpc>
            </a:pPr>
            <a:r>
              <a:rPr sz="950" b="0" i="1">
                <a:solidFill>
                  <a:srgbClr val="CCECF9"/>
                </a:solidFill>
                <a:latin typeface="Baskerville"/>
              </a:rPr>
              <a:t>“Esto significa algo de ti”</a:t>
            </a:r>
          </a:p>
        </p:txBody>
      </p:sp>
      <p:sp>
        <p:nvSpPr>
          <p:cNvPr id="28" name="TextBox 27"/>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BENCHMARK DE ACTIVACIONES Y PLATAFORMAS DOCUMENTADAS EN COLOMBIA · 2025-2026</a:t>
            </a:r>
          </a:p>
        </p:txBody>
      </p:sp>
      <p:sp>
        <p:nvSpPr>
          <p:cNvPr id="29" name="TextBox 28"/>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CÓMO CIERRA EL CICLO</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De la revista al dato, y del dato a la </a:t>
            </a:r>
            <a:r>
              <a:rPr sz="2900" b="0" i="1">
                <a:solidFill>
                  <a:srgbClr val="004C97"/>
                </a:solidFill>
                <a:latin typeface="Baskerville"/>
              </a:rPr>
              <a:t>app</a:t>
            </a:r>
          </a:p>
        </p:txBody>
      </p:sp>
      <p:sp>
        <p:nvSpPr>
          <p:cNvPr id="6" name="TextBox 5"/>
          <p:cNvSpPr txBox="1"/>
          <p:nvPr/>
        </p:nvSpPr>
        <p:spPr>
          <a:xfrm>
            <a:off x="731520" y="1517904"/>
            <a:ext cx="1042416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Cada pieza del plan alimenta la siguiente. El año uno construye la base de datos propia que el ecosistema digital de la franquicia podrá explotar desde 2027.</a:t>
            </a:r>
          </a:p>
        </p:txBody>
      </p:sp>
      <p:sp>
        <p:nvSpPr>
          <p:cNvPr id="7" name="Rectangle 6"/>
          <p:cNvSpPr/>
          <p:nvPr/>
        </p:nvSpPr>
        <p:spPr>
          <a:xfrm>
            <a:off x="731520" y="2176272"/>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359152"/>
            <a:ext cx="2517571" cy="2871215"/>
          </a:xfrm>
          <a:prstGeom prst="roundRect">
            <a:avLst>
              <a:gd name="adj" fmla="val 6900"/>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596896"/>
            <a:ext cx="2042083" cy="310896"/>
          </a:xfrm>
          <a:prstGeom prst="rect">
            <a:avLst/>
          </a:prstGeom>
          <a:noFill/>
        </p:spPr>
        <p:txBody>
          <a:bodyPr wrap="square" lIns="0" rIns="0" tIns="0" bIns="0">
            <a:normAutofit/>
          </a:bodyPr>
          <a:lstStyle/>
          <a:p>
            <a:r>
              <a:rPr sz="1900" b="0" i="0">
                <a:solidFill>
                  <a:srgbClr val="F5F3C4"/>
                </a:solidFill>
                <a:latin typeface="Baskerville"/>
              </a:rPr>
              <a:t>01</a:t>
            </a:r>
          </a:p>
        </p:txBody>
      </p:sp>
      <p:sp>
        <p:nvSpPr>
          <p:cNvPr id="10" name="TextBox 9"/>
          <p:cNvSpPr txBox="1"/>
          <p:nvPr/>
        </p:nvSpPr>
        <p:spPr>
          <a:xfrm>
            <a:off x="969264" y="2926079"/>
            <a:ext cx="2042083" cy="201168"/>
          </a:xfrm>
          <a:prstGeom prst="rect">
            <a:avLst/>
          </a:prstGeom>
          <a:noFill/>
        </p:spPr>
        <p:txBody>
          <a:bodyPr wrap="square" lIns="0" rIns="0" tIns="0" bIns="0">
            <a:normAutofit/>
          </a:bodyPr>
          <a:lstStyle/>
          <a:p>
            <a:r>
              <a:rPr sz="700" b="1" i="0" spc="130">
                <a:solidFill>
                  <a:srgbClr val="F5F3C4"/>
                </a:solidFill>
                <a:latin typeface="Avenir Next"/>
              </a:rPr>
              <a:t>ALCANCE</a:t>
            </a:r>
          </a:p>
        </p:txBody>
      </p:sp>
      <p:sp>
        <p:nvSpPr>
          <p:cNvPr id="11" name="TextBox 10"/>
          <p:cNvSpPr txBox="1"/>
          <p:nvPr/>
        </p:nvSpPr>
        <p:spPr>
          <a:xfrm>
            <a:off x="969264" y="3163824"/>
            <a:ext cx="2042083" cy="481245"/>
          </a:xfrm>
          <a:prstGeom prst="rect">
            <a:avLst/>
          </a:prstGeom>
          <a:noFill/>
        </p:spPr>
        <p:txBody>
          <a:bodyPr wrap="square" lIns="0" rIns="0" tIns="0" bIns="0">
            <a:normAutofit/>
          </a:bodyPr>
          <a:lstStyle/>
          <a:p>
            <a:pPr>
              <a:lnSpc>
                <a:spcPct val="105000"/>
              </a:lnSpc>
            </a:pPr>
            <a:r>
              <a:rPr sz="1300" b="0" i="0">
                <a:solidFill>
                  <a:srgbClr val="CCECF9"/>
                </a:solidFill>
                <a:latin typeface="Baskerville"/>
              </a:rPr>
              <a:t>La revista entra al hogar</a:t>
            </a:r>
          </a:p>
        </p:txBody>
      </p:sp>
      <p:sp>
        <p:nvSpPr>
          <p:cNvPr id="12" name="TextBox 11"/>
          <p:cNvSpPr txBox="1"/>
          <p:nvPr/>
        </p:nvSpPr>
        <p:spPr>
          <a:xfrm>
            <a:off x="969264" y="3718221"/>
            <a:ext cx="2042083"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Doce veces al año, a 146.000 hogares del perfil premium. Clubmembers y prospectos.</a:t>
            </a:r>
          </a:p>
        </p:txBody>
      </p:sp>
      <p:sp>
        <p:nvSpPr>
          <p:cNvPr id="13" name="Rounded Rectangle 12"/>
          <p:cNvSpPr/>
          <p:nvPr/>
        </p:nvSpPr>
        <p:spPr>
          <a:xfrm>
            <a:off x="3468547" y="2359152"/>
            <a:ext cx="2517571" cy="2871215"/>
          </a:xfrm>
          <a:prstGeom prst="roundRect">
            <a:avLst>
              <a:gd name="adj" fmla="val 6900"/>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4" name="TextBox 13"/>
          <p:cNvSpPr txBox="1"/>
          <p:nvPr/>
        </p:nvSpPr>
        <p:spPr>
          <a:xfrm>
            <a:off x="3706291" y="2596896"/>
            <a:ext cx="2042083" cy="310896"/>
          </a:xfrm>
          <a:prstGeom prst="rect">
            <a:avLst/>
          </a:prstGeom>
          <a:noFill/>
        </p:spPr>
        <p:txBody>
          <a:bodyPr wrap="square" lIns="0" rIns="0" tIns="0" bIns="0">
            <a:normAutofit/>
          </a:bodyPr>
          <a:lstStyle/>
          <a:p>
            <a:r>
              <a:rPr sz="1900" b="0" i="0">
                <a:solidFill>
                  <a:srgbClr val="F5F3C4"/>
                </a:solidFill>
                <a:latin typeface="Baskerville"/>
              </a:rPr>
              <a:t>02</a:t>
            </a:r>
          </a:p>
        </p:txBody>
      </p:sp>
      <p:sp>
        <p:nvSpPr>
          <p:cNvPr id="15" name="TextBox 14"/>
          <p:cNvSpPr txBox="1"/>
          <p:nvPr/>
        </p:nvSpPr>
        <p:spPr>
          <a:xfrm>
            <a:off x="3706291" y="2926079"/>
            <a:ext cx="2042083" cy="201168"/>
          </a:xfrm>
          <a:prstGeom prst="rect">
            <a:avLst/>
          </a:prstGeom>
          <a:noFill/>
        </p:spPr>
        <p:txBody>
          <a:bodyPr wrap="square" lIns="0" rIns="0" tIns="0" bIns="0">
            <a:normAutofit/>
          </a:bodyPr>
          <a:lstStyle/>
          <a:p>
            <a:r>
              <a:rPr sz="700" b="1" i="0" spc="130">
                <a:solidFill>
                  <a:srgbClr val="F5F3C4"/>
                </a:solidFill>
                <a:latin typeface="Avenir Next"/>
              </a:rPr>
              <a:t>CAPTURA</a:t>
            </a:r>
          </a:p>
        </p:txBody>
      </p:sp>
      <p:sp>
        <p:nvSpPr>
          <p:cNvPr id="16" name="TextBox 15"/>
          <p:cNvSpPr txBox="1"/>
          <p:nvPr/>
        </p:nvSpPr>
        <p:spPr>
          <a:xfrm>
            <a:off x="3706291" y="3163824"/>
            <a:ext cx="2042083" cy="481245"/>
          </a:xfrm>
          <a:prstGeom prst="rect">
            <a:avLst/>
          </a:prstGeom>
          <a:noFill/>
        </p:spPr>
        <p:txBody>
          <a:bodyPr wrap="square" lIns="0" rIns="0" tIns="0" bIns="0">
            <a:normAutofit/>
          </a:bodyPr>
          <a:lstStyle/>
          <a:p>
            <a:pPr>
              <a:lnSpc>
                <a:spcPct val="105000"/>
              </a:lnSpc>
            </a:pPr>
            <a:r>
              <a:rPr sz="1300" b="0" i="0">
                <a:solidFill>
                  <a:srgbClr val="CCECF9"/>
                </a:solidFill>
                <a:latin typeface="Baskerville"/>
              </a:rPr>
              <a:t>Código de activación</a:t>
            </a:r>
          </a:p>
        </p:txBody>
      </p:sp>
      <p:sp>
        <p:nvSpPr>
          <p:cNvPr id="17" name="TextBox 16"/>
          <p:cNvSpPr txBox="1"/>
          <p:nvPr/>
        </p:nvSpPr>
        <p:spPr>
          <a:xfrm>
            <a:off x="3706291" y="3718221"/>
            <a:ext cx="2042083"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Cada ejemplar lleva un código único. Convierte alcance anónimo en registro rastreable por cohorte.</a:t>
            </a:r>
          </a:p>
        </p:txBody>
      </p:sp>
      <p:sp>
        <p:nvSpPr>
          <p:cNvPr id="18" name="Rounded Rectangle 17"/>
          <p:cNvSpPr/>
          <p:nvPr/>
        </p:nvSpPr>
        <p:spPr>
          <a:xfrm>
            <a:off x="6205575" y="2359152"/>
            <a:ext cx="2517571" cy="2871215"/>
          </a:xfrm>
          <a:prstGeom prst="roundRect">
            <a:avLst>
              <a:gd name="adj" fmla="val 6900"/>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9" name="TextBox 18"/>
          <p:cNvSpPr txBox="1"/>
          <p:nvPr/>
        </p:nvSpPr>
        <p:spPr>
          <a:xfrm>
            <a:off x="6443319" y="2596896"/>
            <a:ext cx="2042083" cy="310896"/>
          </a:xfrm>
          <a:prstGeom prst="rect">
            <a:avLst/>
          </a:prstGeom>
          <a:noFill/>
        </p:spPr>
        <p:txBody>
          <a:bodyPr wrap="square" lIns="0" rIns="0" tIns="0" bIns="0">
            <a:normAutofit/>
          </a:bodyPr>
          <a:lstStyle/>
          <a:p>
            <a:r>
              <a:rPr sz="1900" b="0" i="0">
                <a:solidFill>
                  <a:srgbClr val="F5F3C4"/>
                </a:solidFill>
                <a:latin typeface="Baskerville"/>
              </a:rPr>
              <a:t>03</a:t>
            </a:r>
          </a:p>
        </p:txBody>
      </p:sp>
      <p:sp>
        <p:nvSpPr>
          <p:cNvPr id="20" name="TextBox 19"/>
          <p:cNvSpPr txBox="1"/>
          <p:nvPr/>
        </p:nvSpPr>
        <p:spPr>
          <a:xfrm>
            <a:off x="6443319" y="2926079"/>
            <a:ext cx="2042083" cy="201168"/>
          </a:xfrm>
          <a:prstGeom prst="rect">
            <a:avLst/>
          </a:prstGeom>
          <a:noFill/>
        </p:spPr>
        <p:txBody>
          <a:bodyPr wrap="square" lIns="0" rIns="0" tIns="0" bIns="0">
            <a:normAutofit/>
          </a:bodyPr>
          <a:lstStyle/>
          <a:p>
            <a:r>
              <a:rPr sz="700" b="1" i="0" spc="130">
                <a:solidFill>
                  <a:srgbClr val="F5F3C4"/>
                </a:solidFill>
                <a:latin typeface="Avenir Next"/>
              </a:rPr>
              <a:t>USO</a:t>
            </a:r>
          </a:p>
        </p:txBody>
      </p:sp>
      <p:sp>
        <p:nvSpPr>
          <p:cNvPr id="21" name="TextBox 20"/>
          <p:cNvSpPr txBox="1"/>
          <p:nvPr/>
        </p:nvSpPr>
        <p:spPr>
          <a:xfrm>
            <a:off x="6443319" y="3163824"/>
            <a:ext cx="2042083" cy="481245"/>
          </a:xfrm>
          <a:prstGeom prst="rect">
            <a:avLst/>
          </a:prstGeom>
          <a:noFill/>
        </p:spPr>
        <p:txBody>
          <a:bodyPr wrap="square" lIns="0" rIns="0" tIns="0" bIns="0">
            <a:normAutofit/>
          </a:bodyPr>
          <a:lstStyle/>
          <a:p>
            <a:pPr>
              <a:lnSpc>
                <a:spcPct val="105000"/>
              </a:lnSpc>
            </a:pPr>
            <a:r>
              <a:rPr sz="1300" b="0" i="0">
                <a:solidFill>
                  <a:srgbClr val="CCECF9"/>
                </a:solidFill>
                <a:latin typeface="Baskerville"/>
              </a:rPr>
              <a:t>Redención verificada</a:t>
            </a:r>
          </a:p>
        </p:txBody>
      </p:sp>
      <p:sp>
        <p:nvSpPr>
          <p:cNvPr id="22" name="TextBox 21"/>
          <p:cNvSpPr txBox="1"/>
          <p:nvPr/>
        </p:nvSpPr>
        <p:spPr>
          <a:xfrm>
            <a:off x="6443319" y="3718221"/>
            <a:ext cx="2042083"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El beneficio se redime en aliados con aceptación confirmada. Genera dato de categoría, zona y frecuencia.</a:t>
            </a:r>
          </a:p>
        </p:txBody>
      </p:sp>
      <p:sp>
        <p:nvSpPr>
          <p:cNvPr id="23" name="Rounded Rectangle 22"/>
          <p:cNvSpPr/>
          <p:nvPr/>
        </p:nvSpPr>
        <p:spPr>
          <a:xfrm>
            <a:off x="8942603" y="2359152"/>
            <a:ext cx="2517571" cy="2871215"/>
          </a:xfrm>
          <a:prstGeom prst="roundRect">
            <a:avLst>
              <a:gd name="adj" fmla="val 6900"/>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4" name="TextBox 23"/>
          <p:cNvSpPr txBox="1"/>
          <p:nvPr/>
        </p:nvSpPr>
        <p:spPr>
          <a:xfrm>
            <a:off x="9180347" y="2596896"/>
            <a:ext cx="2042083" cy="310896"/>
          </a:xfrm>
          <a:prstGeom prst="rect">
            <a:avLst/>
          </a:prstGeom>
          <a:noFill/>
        </p:spPr>
        <p:txBody>
          <a:bodyPr wrap="square" lIns="0" rIns="0" tIns="0" bIns="0">
            <a:normAutofit/>
          </a:bodyPr>
          <a:lstStyle/>
          <a:p>
            <a:r>
              <a:rPr sz="1900" b="0" i="0">
                <a:solidFill>
                  <a:srgbClr val="004C97"/>
                </a:solidFill>
                <a:latin typeface="Baskerville"/>
              </a:rPr>
              <a:t>04</a:t>
            </a:r>
          </a:p>
        </p:txBody>
      </p:sp>
      <p:sp>
        <p:nvSpPr>
          <p:cNvPr id="25" name="TextBox 24"/>
          <p:cNvSpPr txBox="1"/>
          <p:nvPr/>
        </p:nvSpPr>
        <p:spPr>
          <a:xfrm>
            <a:off x="9180347" y="2926079"/>
            <a:ext cx="2042083" cy="201168"/>
          </a:xfrm>
          <a:prstGeom prst="rect">
            <a:avLst/>
          </a:prstGeom>
          <a:noFill/>
        </p:spPr>
        <p:txBody>
          <a:bodyPr wrap="square" lIns="0" rIns="0" tIns="0" bIns="0">
            <a:normAutofit/>
          </a:bodyPr>
          <a:lstStyle/>
          <a:p>
            <a:r>
              <a:rPr sz="700" b="1" i="0" spc="130">
                <a:solidFill>
                  <a:srgbClr val="004C97"/>
                </a:solidFill>
                <a:latin typeface="Avenir Next"/>
              </a:rPr>
              <a:t>ESCALA · DESDE 2027</a:t>
            </a:r>
          </a:p>
        </p:txBody>
      </p:sp>
      <p:sp>
        <p:nvSpPr>
          <p:cNvPr id="26" name="TextBox 25"/>
          <p:cNvSpPr txBox="1"/>
          <p:nvPr/>
        </p:nvSpPr>
        <p:spPr>
          <a:xfrm>
            <a:off x="9180347" y="3163824"/>
            <a:ext cx="2042083" cy="481245"/>
          </a:xfrm>
          <a:prstGeom prst="rect">
            <a:avLst/>
          </a:prstGeom>
          <a:noFill/>
        </p:spPr>
        <p:txBody>
          <a:bodyPr wrap="square" lIns="0" rIns="0" tIns="0" bIns="0">
            <a:normAutofit/>
          </a:bodyPr>
          <a:lstStyle/>
          <a:p>
            <a:pPr>
              <a:lnSpc>
                <a:spcPct val="105000"/>
              </a:lnSpc>
            </a:pPr>
            <a:r>
              <a:rPr sz="1300" b="0" i="0">
                <a:solidFill>
                  <a:srgbClr val="041E42"/>
                </a:solidFill>
                <a:latin typeface="Baskerville"/>
              </a:rPr>
              <a:t>La app carga la selección</a:t>
            </a:r>
          </a:p>
        </p:txBody>
      </p:sp>
      <p:sp>
        <p:nvSpPr>
          <p:cNvPr id="27" name="TextBox 26"/>
          <p:cNvSpPr txBox="1"/>
          <p:nvPr/>
        </p:nvSpPr>
        <p:spPr>
          <a:xfrm>
            <a:off x="9180347" y="3718221"/>
            <a:ext cx="2042083" cy="420623"/>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El hub habilita que el emisor cargue sus ofertas locales por ubicación. La lista de aliados verificados es ese contenido.</a:t>
            </a:r>
          </a:p>
        </p:txBody>
      </p:sp>
      <p:sp>
        <p:nvSpPr>
          <p:cNvPr id="28" name="Rounded Rectangle 27"/>
          <p:cNvSpPr/>
          <p:nvPr/>
        </p:nvSpPr>
        <p:spPr>
          <a:xfrm>
            <a:off x="731520" y="5413248"/>
            <a:ext cx="10728655" cy="731520"/>
          </a:xfrm>
          <a:prstGeom prst="roundRect">
            <a:avLst>
              <a:gd name="adj" fmla="val 23750"/>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9" name="TextBox 28"/>
          <p:cNvSpPr txBox="1"/>
          <p:nvPr/>
        </p:nvSpPr>
        <p:spPr>
          <a:xfrm>
            <a:off x="969264" y="5650992"/>
            <a:ext cx="10253167" cy="201168"/>
          </a:xfrm>
          <a:prstGeom prst="rect">
            <a:avLst/>
          </a:prstGeom>
          <a:noFill/>
        </p:spPr>
        <p:txBody>
          <a:bodyPr wrap="square" lIns="0" rIns="0" tIns="0" bIns="0">
            <a:normAutofit/>
          </a:bodyPr>
          <a:lstStyle/>
          <a:p>
            <a:r>
              <a:rPr sz="700" b="1" i="0" spc="130">
                <a:solidFill>
                  <a:srgbClr val="004C97"/>
                </a:solidFill>
                <a:latin typeface="Avenir Next"/>
              </a:rPr>
              <a:t>POR QUÉ IMPORTA EL ORDEN</a:t>
            </a:r>
          </a:p>
        </p:txBody>
      </p:sp>
      <p:sp>
        <p:nvSpPr>
          <p:cNvPr id="30" name="TextBox 29"/>
          <p:cNvSpPr txBox="1"/>
          <p:nvPr/>
        </p:nvSpPr>
        <p:spPr>
          <a:xfrm>
            <a:off x="969264" y="5888736"/>
            <a:ext cx="10253167" cy="155448"/>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La app necesita contenido curado y aliados verificados para ser útil el día que se encienda. El año uno produce las dos cosas. Sin esa base, la funcionalidad llega vacía.</a:t>
            </a:r>
          </a:p>
        </p:txBody>
      </p:sp>
      <p:sp>
        <p:nvSpPr>
          <p:cNvPr id="31" name="TextBox 30"/>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COINCIDE CON EL CHS BENEFITS HUB</a:t>
            </a:r>
          </a:p>
        </p:txBody>
      </p:sp>
      <p:sp>
        <p:nvSpPr>
          <p:cNvPr id="32" name="TextBox 31"/>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EFICIENCIA DEL MODELO</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Multiplicadores de la </a:t>
            </a:r>
            <a:r>
              <a:rPr sz="2900" b="0" i="1">
                <a:solidFill>
                  <a:srgbClr val="004C97"/>
                </a:solidFill>
                <a:latin typeface="Baskerville"/>
              </a:rPr>
              <a:t>inversión</a:t>
            </a:r>
          </a:p>
        </p:txBody>
      </p:sp>
      <p:sp>
        <p:nvSpPr>
          <p:cNvPr id="6" name="TextBox 5"/>
          <p:cNvSpPr txBox="1"/>
          <p:nvPr/>
        </p:nvSpPr>
        <p:spPr>
          <a:xfrm>
            <a:off x="731520" y="1517904"/>
            <a:ext cx="1042416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Seis mecanismos que hacen que una misma inversión produzca resultado en más de un frente. Están incorporados en las tres opciones.</a:t>
            </a:r>
          </a:p>
        </p:txBody>
      </p:sp>
      <p:sp>
        <p:nvSpPr>
          <p:cNvPr id="7" name="Rectangle 6"/>
          <p:cNvSpPr/>
          <p:nvPr/>
        </p:nvSpPr>
        <p:spPr>
          <a:xfrm>
            <a:off x="731520" y="1993391"/>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176272"/>
            <a:ext cx="3429914" cy="1892807"/>
          </a:xfrm>
          <a:prstGeom prst="roundRect">
            <a:avLst>
              <a:gd name="adj" fmla="val 9178"/>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414015"/>
            <a:ext cx="2954426" cy="310896"/>
          </a:xfrm>
          <a:prstGeom prst="rect">
            <a:avLst/>
          </a:prstGeom>
          <a:noFill/>
        </p:spPr>
        <p:txBody>
          <a:bodyPr wrap="square" lIns="0" rIns="0" tIns="0" bIns="0">
            <a:normAutofit/>
          </a:bodyPr>
          <a:lstStyle/>
          <a:p>
            <a:r>
              <a:rPr sz="1900" b="0" i="0">
                <a:solidFill>
                  <a:srgbClr val="F5F3C4"/>
                </a:solidFill>
                <a:latin typeface="Baskerville"/>
              </a:rPr>
              <a:t>01</a:t>
            </a:r>
          </a:p>
        </p:txBody>
      </p:sp>
      <p:sp>
        <p:nvSpPr>
          <p:cNvPr id="10" name="TextBox 9"/>
          <p:cNvSpPr txBox="1"/>
          <p:nvPr/>
        </p:nvSpPr>
        <p:spPr>
          <a:xfrm>
            <a:off x="969264" y="2743199"/>
            <a:ext cx="2954426" cy="201168"/>
          </a:xfrm>
          <a:prstGeom prst="rect">
            <a:avLst/>
          </a:prstGeom>
          <a:noFill/>
        </p:spPr>
        <p:txBody>
          <a:bodyPr wrap="square" lIns="0" rIns="0" tIns="0" bIns="0">
            <a:normAutofit/>
          </a:bodyPr>
          <a:lstStyle/>
          <a:p>
            <a:r>
              <a:rPr sz="700" b="1" i="0" spc="130">
                <a:solidFill>
                  <a:srgbClr val="F5F3C4"/>
                </a:solidFill>
                <a:latin typeface="Avenir Next"/>
              </a:rPr>
              <a:t>RENDIMIENTO POR PIEZA</a:t>
            </a:r>
          </a:p>
        </p:txBody>
      </p:sp>
      <p:sp>
        <p:nvSpPr>
          <p:cNvPr id="11" name="TextBox 10"/>
          <p:cNvSpPr txBox="1"/>
          <p:nvPr/>
        </p:nvSpPr>
        <p:spPr>
          <a:xfrm>
            <a:off x="969264" y="2980944"/>
            <a:ext cx="2954426" cy="481245"/>
          </a:xfrm>
          <a:prstGeom prst="rect">
            <a:avLst/>
          </a:prstGeom>
          <a:noFill/>
        </p:spPr>
        <p:txBody>
          <a:bodyPr wrap="square" lIns="0" rIns="0" tIns="0" bIns="0">
            <a:normAutofit/>
          </a:bodyPr>
          <a:lstStyle/>
          <a:p>
            <a:pPr>
              <a:lnSpc>
                <a:spcPct val="105000"/>
              </a:lnSpc>
            </a:pPr>
            <a:r>
              <a:rPr sz="1300" b="0" i="0">
                <a:solidFill>
                  <a:srgbClr val="CCECF9"/>
                </a:solidFill>
                <a:latin typeface="Baskerville"/>
              </a:rPr>
              <a:t>Una experiencia, cinco salidas</a:t>
            </a:r>
          </a:p>
        </p:txBody>
      </p:sp>
      <p:sp>
        <p:nvSpPr>
          <p:cNvPr id="12" name="TextBox 11"/>
          <p:cNvSpPr txBox="1"/>
          <p:nvPr/>
        </p:nvSpPr>
        <p:spPr>
          <a:xfrm>
            <a:off x="969264" y="3535341"/>
            <a:ext cx="2954426"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Un costo de producción y cinco superficies: evento, reel, artículo, La Mesa Diners y newsletter.</a:t>
            </a:r>
          </a:p>
        </p:txBody>
      </p:sp>
      <p:sp>
        <p:nvSpPr>
          <p:cNvPr id="13" name="Rounded Rectangle 12"/>
          <p:cNvSpPr/>
          <p:nvPr/>
        </p:nvSpPr>
        <p:spPr>
          <a:xfrm>
            <a:off x="4380890" y="2176272"/>
            <a:ext cx="3429914" cy="1892807"/>
          </a:xfrm>
          <a:prstGeom prst="roundRect">
            <a:avLst>
              <a:gd name="adj" fmla="val 9178"/>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4" name="TextBox 13"/>
          <p:cNvSpPr txBox="1"/>
          <p:nvPr/>
        </p:nvSpPr>
        <p:spPr>
          <a:xfrm>
            <a:off x="4618634" y="2414015"/>
            <a:ext cx="2954426" cy="310896"/>
          </a:xfrm>
          <a:prstGeom prst="rect">
            <a:avLst/>
          </a:prstGeom>
          <a:noFill/>
        </p:spPr>
        <p:txBody>
          <a:bodyPr wrap="square" lIns="0" rIns="0" tIns="0" bIns="0">
            <a:normAutofit/>
          </a:bodyPr>
          <a:lstStyle/>
          <a:p>
            <a:r>
              <a:rPr sz="1900" b="0" i="0">
                <a:solidFill>
                  <a:srgbClr val="F5F3C4"/>
                </a:solidFill>
                <a:latin typeface="Baskerville"/>
              </a:rPr>
              <a:t>02</a:t>
            </a:r>
          </a:p>
        </p:txBody>
      </p:sp>
      <p:sp>
        <p:nvSpPr>
          <p:cNvPr id="15" name="TextBox 14"/>
          <p:cNvSpPr txBox="1"/>
          <p:nvPr/>
        </p:nvSpPr>
        <p:spPr>
          <a:xfrm>
            <a:off x="4618634" y="2743199"/>
            <a:ext cx="2954426" cy="201168"/>
          </a:xfrm>
          <a:prstGeom prst="rect">
            <a:avLst/>
          </a:prstGeom>
          <a:noFill/>
        </p:spPr>
        <p:txBody>
          <a:bodyPr wrap="square" lIns="0" rIns="0" tIns="0" bIns="0">
            <a:normAutofit/>
          </a:bodyPr>
          <a:lstStyle/>
          <a:p>
            <a:r>
              <a:rPr sz="700" b="1" i="0" spc="130">
                <a:solidFill>
                  <a:srgbClr val="F5F3C4"/>
                </a:solidFill>
                <a:latin typeface="Avenir Next"/>
              </a:rPr>
              <a:t>TRASLADO DE COSTO</a:t>
            </a:r>
          </a:p>
        </p:txBody>
      </p:sp>
      <p:sp>
        <p:nvSpPr>
          <p:cNvPr id="16" name="TextBox 15"/>
          <p:cNvSpPr txBox="1"/>
          <p:nvPr/>
        </p:nvSpPr>
        <p:spPr>
          <a:xfrm>
            <a:off x="4618634" y="2980944"/>
            <a:ext cx="2954426" cy="481245"/>
          </a:xfrm>
          <a:prstGeom prst="rect">
            <a:avLst/>
          </a:prstGeom>
          <a:noFill/>
        </p:spPr>
        <p:txBody>
          <a:bodyPr wrap="square" lIns="0" rIns="0" tIns="0" bIns="0">
            <a:normAutofit/>
          </a:bodyPr>
          <a:lstStyle/>
          <a:p>
            <a:pPr>
              <a:lnSpc>
                <a:spcPct val="105000"/>
              </a:lnSpc>
            </a:pPr>
            <a:r>
              <a:rPr sz="1300" b="0" i="0">
                <a:solidFill>
                  <a:srgbClr val="CCECF9"/>
                </a:solidFill>
                <a:latin typeface="Baskerville"/>
              </a:rPr>
              <a:t>El aliado produce la experiencia</a:t>
            </a:r>
          </a:p>
        </p:txBody>
      </p:sp>
      <p:sp>
        <p:nvSpPr>
          <p:cNvPr id="17" name="TextBox 16"/>
          <p:cNvSpPr txBox="1"/>
          <p:nvPr/>
        </p:nvSpPr>
        <p:spPr>
          <a:xfrm>
            <a:off x="4618634" y="3535341"/>
            <a:ext cx="2954426"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Aporta cocina, espacio y equipo a cambio del cubrimiento. La línea de mayor costo se reduce a coordinación.</a:t>
            </a:r>
          </a:p>
        </p:txBody>
      </p:sp>
      <p:sp>
        <p:nvSpPr>
          <p:cNvPr id="18" name="Rounded Rectangle 17"/>
          <p:cNvSpPr/>
          <p:nvPr/>
        </p:nvSpPr>
        <p:spPr>
          <a:xfrm>
            <a:off x="8030260" y="2176272"/>
            <a:ext cx="3429914" cy="1892807"/>
          </a:xfrm>
          <a:prstGeom prst="roundRect">
            <a:avLst>
              <a:gd name="adj" fmla="val 9178"/>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9" name="TextBox 18"/>
          <p:cNvSpPr txBox="1"/>
          <p:nvPr/>
        </p:nvSpPr>
        <p:spPr>
          <a:xfrm>
            <a:off x="8268004" y="2414015"/>
            <a:ext cx="2954426" cy="310896"/>
          </a:xfrm>
          <a:prstGeom prst="rect">
            <a:avLst/>
          </a:prstGeom>
          <a:noFill/>
        </p:spPr>
        <p:txBody>
          <a:bodyPr wrap="square" lIns="0" rIns="0" tIns="0" bIns="0">
            <a:normAutofit/>
          </a:bodyPr>
          <a:lstStyle/>
          <a:p>
            <a:r>
              <a:rPr sz="1900" b="0" i="0">
                <a:solidFill>
                  <a:srgbClr val="F5F3C4"/>
                </a:solidFill>
                <a:latin typeface="Baskerville"/>
              </a:rPr>
              <a:t>03</a:t>
            </a:r>
          </a:p>
        </p:txBody>
      </p:sp>
      <p:sp>
        <p:nvSpPr>
          <p:cNvPr id="20" name="TextBox 19"/>
          <p:cNvSpPr txBox="1"/>
          <p:nvPr/>
        </p:nvSpPr>
        <p:spPr>
          <a:xfrm>
            <a:off x="8268004" y="2743199"/>
            <a:ext cx="2954426" cy="201168"/>
          </a:xfrm>
          <a:prstGeom prst="rect">
            <a:avLst/>
          </a:prstGeom>
          <a:noFill/>
        </p:spPr>
        <p:txBody>
          <a:bodyPr wrap="square" lIns="0" rIns="0" tIns="0" bIns="0">
            <a:normAutofit/>
          </a:bodyPr>
          <a:lstStyle/>
          <a:p>
            <a:r>
              <a:rPr sz="700" b="1" i="0" spc="130">
                <a:solidFill>
                  <a:srgbClr val="F5F3C4"/>
                </a:solidFill>
                <a:latin typeface="Avenir Next"/>
              </a:rPr>
              <a:t>ACTIVO EXISTENTE</a:t>
            </a:r>
          </a:p>
        </p:txBody>
      </p:sp>
      <p:sp>
        <p:nvSpPr>
          <p:cNvPr id="21" name="TextBox 20"/>
          <p:cNvSpPr txBox="1"/>
          <p:nvPr/>
        </p:nvSpPr>
        <p:spPr>
          <a:xfrm>
            <a:off x="8268004" y="2980944"/>
            <a:ext cx="2954426" cy="481245"/>
          </a:xfrm>
          <a:prstGeom prst="rect">
            <a:avLst/>
          </a:prstGeom>
          <a:noFill/>
        </p:spPr>
        <p:txBody>
          <a:bodyPr wrap="square" lIns="0" rIns="0" tIns="0" bIns="0">
            <a:normAutofit/>
          </a:bodyPr>
          <a:lstStyle/>
          <a:p>
            <a:pPr>
              <a:lnSpc>
                <a:spcPct val="105000"/>
              </a:lnSpc>
            </a:pPr>
            <a:r>
              <a:rPr sz="1300" b="0" i="0">
                <a:solidFill>
                  <a:srgbClr val="CCECF9"/>
                </a:solidFill>
                <a:latin typeface="Baskerville"/>
              </a:rPr>
              <a:t>Archivo editorial propio</a:t>
            </a:r>
          </a:p>
        </p:txBody>
      </p:sp>
      <p:sp>
        <p:nvSpPr>
          <p:cNvPr id="22" name="TextBox 21"/>
          <p:cNvSpPr txBox="1"/>
          <p:nvPr/>
        </p:nvSpPr>
        <p:spPr>
          <a:xfrm>
            <a:off x="8268004" y="3535341"/>
            <a:ext cx="2954426" cy="288036"/>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El archivo de la revista y los datos del programa se convierten en una publicación anual.</a:t>
            </a:r>
          </a:p>
        </p:txBody>
      </p:sp>
      <p:sp>
        <p:nvSpPr>
          <p:cNvPr id="23" name="Rounded Rectangle 22"/>
          <p:cNvSpPr/>
          <p:nvPr/>
        </p:nvSpPr>
        <p:spPr>
          <a:xfrm>
            <a:off x="731520" y="4251960"/>
            <a:ext cx="3429914" cy="1892807"/>
          </a:xfrm>
          <a:prstGeom prst="roundRect">
            <a:avLst>
              <a:gd name="adj" fmla="val 9178"/>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4" name="TextBox 23"/>
          <p:cNvSpPr txBox="1"/>
          <p:nvPr/>
        </p:nvSpPr>
        <p:spPr>
          <a:xfrm>
            <a:off x="969264" y="4489704"/>
            <a:ext cx="2954426" cy="310896"/>
          </a:xfrm>
          <a:prstGeom prst="rect">
            <a:avLst/>
          </a:prstGeom>
          <a:noFill/>
        </p:spPr>
        <p:txBody>
          <a:bodyPr wrap="square" lIns="0" rIns="0" tIns="0" bIns="0">
            <a:normAutofit/>
          </a:bodyPr>
          <a:lstStyle/>
          <a:p>
            <a:r>
              <a:rPr sz="1900" b="0" i="0">
                <a:solidFill>
                  <a:srgbClr val="004C97"/>
                </a:solidFill>
                <a:latin typeface="Baskerville"/>
              </a:rPr>
              <a:t>04</a:t>
            </a:r>
          </a:p>
        </p:txBody>
      </p:sp>
      <p:sp>
        <p:nvSpPr>
          <p:cNvPr id="25" name="TextBox 24"/>
          <p:cNvSpPr txBox="1"/>
          <p:nvPr/>
        </p:nvSpPr>
        <p:spPr>
          <a:xfrm>
            <a:off x="969264" y="4818888"/>
            <a:ext cx="2954426" cy="201168"/>
          </a:xfrm>
          <a:prstGeom prst="rect">
            <a:avLst/>
          </a:prstGeom>
          <a:noFill/>
        </p:spPr>
        <p:txBody>
          <a:bodyPr wrap="square" lIns="0" rIns="0" tIns="0" bIns="0">
            <a:normAutofit/>
          </a:bodyPr>
          <a:lstStyle/>
          <a:p>
            <a:r>
              <a:rPr sz="700" b="1" i="0" spc="130">
                <a:solidFill>
                  <a:srgbClr val="004C97"/>
                </a:solidFill>
                <a:latin typeface="Avenir Next"/>
              </a:rPr>
              <a:t>RED COMO CANAL</a:t>
            </a:r>
          </a:p>
        </p:txBody>
      </p:sp>
      <p:sp>
        <p:nvSpPr>
          <p:cNvPr id="26" name="TextBox 25"/>
          <p:cNvSpPr txBox="1"/>
          <p:nvPr/>
        </p:nvSpPr>
        <p:spPr>
          <a:xfrm>
            <a:off x="969264" y="5056632"/>
            <a:ext cx="2954426" cy="481245"/>
          </a:xfrm>
          <a:prstGeom prst="rect">
            <a:avLst/>
          </a:prstGeom>
          <a:noFill/>
        </p:spPr>
        <p:txBody>
          <a:bodyPr wrap="square" lIns="0" rIns="0" tIns="0" bIns="0">
            <a:normAutofit/>
          </a:bodyPr>
          <a:lstStyle/>
          <a:p>
            <a:pPr>
              <a:lnSpc>
                <a:spcPct val="105000"/>
              </a:lnSpc>
            </a:pPr>
            <a:r>
              <a:rPr sz="1300" b="0" i="0">
                <a:solidFill>
                  <a:srgbClr val="041E42"/>
                </a:solidFill>
                <a:latin typeface="Baskerville"/>
              </a:rPr>
              <a:t>Cuentas de aliados publicando</a:t>
            </a:r>
          </a:p>
        </p:txBody>
      </p:sp>
      <p:sp>
        <p:nvSpPr>
          <p:cNvPr id="27" name="TextBox 26"/>
          <p:cNvSpPr txBox="1"/>
          <p:nvPr/>
        </p:nvSpPr>
        <p:spPr>
          <a:xfrm>
            <a:off x="969264" y="5611029"/>
            <a:ext cx="2954426" cy="288036"/>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Cada aliado promueve el beneficio porque le genera tráfico de alto ticket. Distribución sin inversión en medios.</a:t>
            </a:r>
          </a:p>
        </p:txBody>
      </p:sp>
      <p:sp>
        <p:nvSpPr>
          <p:cNvPr id="28" name="Rounded Rectangle 27"/>
          <p:cNvSpPr/>
          <p:nvPr/>
        </p:nvSpPr>
        <p:spPr>
          <a:xfrm>
            <a:off x="4380890" y="4251960"/>
            <a:ext cx="3429914" cy="1892807"/>
          </a:xfrm>
          <a:prstGeom prst="roundRect">
            <a:avLst>
              <a:gd name="adj" fmla="val 9178"/>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9" name="TextBox 28"/>
          <p:cNvSpPr txBox="1"/>
          <p:nvPr/>
        </p:nvSpPr>
        <p:spPr>
          <a:xfrm>
            <a:off x="4618634" y="4489704"/>
            <a:ext cx="2954426" cy="310896"/>
          </a:xfrm>
          <a:prstGeom prst="rect">
            <a:avLst/>
          </a:prstGeom>
          <a:noFill/>
        </p:spPr>
        <p:txBody>
          <a:bodyPr wrap="square" lIns="0" rIns="0" tIns="0" bIns="0">
            <a:normAutofit/>
          </a:bodyPr>
          <a:lstStyle/>
          <a:p>
            <a:r>
              <a:rPr sz="1900" b="0" i="0">
                <a:solidFill>
                  <a:srgbClr val="004C97"/>
                </a:solidFill>
                <a:latin typeface="Baskerville"/>
              </a:rPr>
              <a:t>05</a:t>
            </a:r>
          </a:p>
        </p:txBody>
      </p:sp>
      <p:sp>
        <p:nvSpPr>
          <p:cNvPr id="30" name="TextBox 29"/>
          <p:cNvSpPr txBox="1"/>
          <p:nvPr/>
        </p:nvSpPr>
        <p:spPr>
          <a:xfrm>
            <a:off x="4618634" y="4818888"/>
            <a:ext cx="2954426" cy="201168"/>
          </a:xfrm>
          <a:prstGeom prst="rect">
            <a:avLst/>
          </a:prstGeom>
          <a:noFill/>
        </p:spPr>
        <p:txBody>
          <a:bodyPr wrap="square" lIns="0" rIns="0" tIns="0" bIns="0">
            <a:normAutofit/>
          </a:bodyPr>
          <a:lstStyle/>
          <a:p>
            <a:r>
              <a:rPr sz="700" b="1" i="0" spc="130">
                <a:solidFill>
                  <a:srgbClr val="004C97"/>
                </a:solidFill>
                <a:latin typeface="Avenir Next"/>
              </a:rPr>
              <a:t>AJUSTE SIN DESCUENTO</a:t>
            </a:r>
          </a:p>
        </p:txBody>
      </p:sp>
      <p:sp>
        <p:nvSpPr>
          <p:cNvPr id="31" name="TextBox 30"/>
          <p:cNvSpPr txBox="1"/>
          <p:nvPr/>
        </p:nvSpPr>
        <p:spPr>
          <a:xfrm>
            <a:off x="4618634" y="5056632"/>
            <a:ext cx="2954426" cy="481245"/>
          </a:xfrm>
          <a:prstGeom prst="rect">
            <a:avLst/>
          </a:prstGeom>
          <a:noFill/>
        </p:spPr>
        <p:txBody>
          <a:bodyPr wrap="square" lIns="0" rIns="0" tIns="0" bIns="0">
            <a:normAutofit/>
          </a:bodyPr>
          <a:lstStyle/>
          <a:p>
            <a:pPr>
              <a:lnSpc>
                <a:spcPct val="105000"/>
              </a:lnSpc>
            </a:pPr>
            <a:r>
              <a:rPr sz="1300" b="0" i="0">
                <a:solidFill>
                  <a:srgbClr val="041E42"/>
                </a:solidFill>
                <a:latin typeface="Baskerville"/>
              </a:rPr>
              <a:t>AXXIS como variable</a:t>
            </a:r>
          </a:p>
        </p:txBody>
      </p:sp>
      <p:sp>
        <p:nvSpPr>
          <p:cNvPr id="32" name="TextBox 31"/>
          <p:cNvSpPr txBox="1"/>
          <p:nvPr/>
        </p:nvSpPr>
        <p:spPr>
          <a:xfrm>
            <a:off x="4618634" y="5611029"/>
            <a:ext cx="2954426" cy="288036"/>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Ficha técnica idéntica con tarifa menor. Amplía cobertura sin afectar el valor del plan.</a:t>
            </a:r>
          </a:p>
        </p:txBody>
      </p:sp>
      <p:sp>
        <p:nvSpPr>
          <p:cNvPr id="33" name="Rounded Rectangle 32"/>
          <p:cNvSpPr/>
          <p:nvPr/>
        </p:nvSpPr>
        <p:spPr>
          <a:xfrm>
            <a:off x="8030260" y="4251960"/>
            <a:ext cx="3429914" cy="1892807"/>
          </a:xfrm>
          <a:prstGeom prst="roundRect">
            <a:avLst>
              <a:gd name="adj" fmla="val 9178"/>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34" name="TextBox 33"/>
          <p:cNvSpPr txBox="1"/>
          <p:nvPr/>
        </p:nvSpPr>
        <p:spPr>
          <a:xfrm>
            <a:off x="8268004" y="4489704"/>
            <a:ext cx="2954426" cy="310896"/>
          </a:xfrm>
          <a:prstGeom prst="rect">
            <a:avLst/>
          </a:prstGeom>
          <a:noFill/>
        </p:spPr>
        <p:txBody>
          <a:bodyPr wrap="square" lIns="0" rIns="0" tIns="0" bIns="0">
            <a:normAutofit/>
          </a:bodyPr>
          <a:lstStyle/>
          <a:p>
            <a:r>
              <a:rPr sz="1900" b="0" i="0">
                <a:solidFill>
                  <a:srgbClr val="004C97"/>
                </a:solidFill>
                <a:latin typeface="Baskerville"/>
              </a:rPr>
              <a:t>06</a:t>
            </a:r>
          </a:p>
        </p:txBody>
      </p:sp>
      <p:sp>
        <p:nvSpPr>
          <p:cNvPr id="35" name="TextBox 34"/>
          <p:cNvSpPr txBox="1"/>
          <p:nvPr/>
        </p:nvSpPr>
        <p:spPr>
          <a:xfrm>
            <a:off x="8268004" y="4818888"/>
            <a:ext cx="2954426" cy="201168"/>
          </a:xfrm>
          <a:prstGeom prst="rect">
            <a:avLst/>
          </a:prstGeom>
          <a:noFill/>
        </p:spPr>
        <p:txBody>
          <a:bodyPr wrap="square" lIns="0" rIns="0" tIns="0" bIns="0">
            <a:normAutofit/>
          </a:bodyPr>
          <a:lstStyle/>
          <a:p>
            <a:r>
              <a:rPr sz="700" b="1" i="0" spc="130">
                <a:solidFill>
                  <a:srgbClr val="004C97"/>
                </a:solidFill>
                <a:latin typeface="Avenir Next"/>
              </a:rPr>
              <a:t>CONTENIDO DEL SOCIO</a:t>
            </a:r>
          </a:p>
        </p:txBody>
      </p:sp>
      <p:sp>
        <p:nvSpPr>
          <p:cNvPr id="36" name="TextBox 35"/>
          <p:cNvSpPr txBox="1"/>
          <p:nvPr/>
        </p:nvSpPr>
        <p:spPr>
          <a:xfrm>
            <a:off x="8268004" y="5056632"/>
            <a:ext cx="2954426" cy="481245"/>
          </a:xfrm>
          <a:prstGeom prst="rect">
            <a:avLst/>
          </a:prstGeom>
          <a:noFill/>
        </p:spPr>
        <p:txBody>
          <a:bodyPr wrap="square" lIns="0" rIns="0" tIns="0" bIns="0">
            <a:normAutofit/>
          </a:bodyPr>
          <a:lstStyle/>
          <a:p>
            <a:pPr>
              <a:lnSpc>
                <a:spcPct val="105000"/>
              </a:lnSpc>
            </a:pPr>
            <a:r>
              <a:rPr sz="1300" b="0" i="0">
                <a:solidFill>
                  <a:srgbClr val="041E42"/>
                </a:solidFill>
                <a:latin typeface="Baskerville"/>
              </a:rPr>
              <a:t>La selección la nominan ellos</a:t>
            </a:r>
          </a:p>
        </p:txBody>
      </p:sp>
      <p:sp>
        <p:nvSpPr>
          <p:cNvPr id="37" name="TextBox 36"/>
          <p:cNvSpPr txBox="1"/>
          <p:nvPr/>
        </p:nvSpPr>
        <p:spPr>
          <a:xfrm>
            <a:off x="8268004" y="5611029"/>
            <a:ext cx="2954426" cy="288036"/>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Contenido sin costo y datos de preferencia, con los Clubmembers nominando lugares.</a:t>
            </a:r>
          </a:p>
        </p:txBody>
      </p:sp>
      <p:sp>
        <p:nvSpPr>
          <p:cNvPr id="38" name="TextBox 37"/>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LAS SEIS OPERAN EN LAS TRES OPCIONES</a:t>
            </a:r>
          </a:p>
        </p:txBody>
      </p:sp>
      <p:sp>
        <p:nvSpPr>
          <p:cNvPr id="39" name="TextBox 38"/>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n.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F5F3C4"/>
                </a:solidFill>
                <a:latin typeface="Avenir Next"/>
              </a:rPr>
              <a:t>EL PLAN</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CCECF9"/>
                </a:solidFill>
                <a:latin typeface="Baskerville"/>
              </a:rPr>
              <a:t>Doce semanas, cuatro </a:t>
            </a:r>
            <a:r>
              <a:rPr sz="2900" b="0" i="1">
                <a:solidFill>
                  <a:srgbClr val="F5F3C4"/>
                </a:solidFill>
                <a:latin typeface="Baskerville"/>
              </a:rPr>
              <a:t>bloques</a:t>
            </a:r>
          </a:p>
        </p:txBody>
      </p:sp>
      <p:sp>
        <p:nvSpPr>
          <p:cNvPr id="6" name="TextBox 5"/>
          <p:cNvSpPr txBox="1"/>
          <p:nvPr/>
        </p:nvSpPr>
        <p:spPr>
          <a:xfrm>
            <a:off x="731520" y="1517904"/>
            <a:ext cx="10424160" cy="457200"/>
          </a:xfrm>
          <a:prstGeom prst="rect">
            <a:avLst/>
          </a:prstGeom>
          <a:noFill/>
        </p:spPr>
        <p:txBody>
          <a:bodyPr wrap="square" lIns="0" rIns="0" tIns="0" bIns="0">
            <a:normAutofit/>
          </a:bodyPr>
          <a:lstStyle/>
          <a:p>
            <a:pPr>
              <a:lnSpc>
                <a:spcPct val="140000"/>
              </a:lnSpc>
            </a:pPr>
            <a:r>
              <a:rPr sz="960" b="0" i="0">
                <a:solidFill>
                  <a:srgbClr val="A8C4DA"/>
                </a:solidFill>
                <a:latin typeface="Avenir Next"/>
              </a:rPr>
              <a:t>Arrancan con la firma, sin depender del mes del calendario. Línea de campaña propuesta: Saber dónde, sujeta a aprobación de DCI.</a:t>
            </a:r>
          </a:p>
        </p:txBody>
      </p:sp>
      <p:sp>
        <p:nvSpPr>
          <p:cNvPr id="7" name="Rectangle 6"/>
          <p:cNvSpPr/>
          <p:nvPr/>
        </p:nvSpPr>
        <p:spPr>
          <a:xfrm>
            <a:off x="731520" y="1993391"/>
            <a:ext cx="10728655" cy="10972"/>
          </a:xfrm>
          <a:prstGeom prst="rect">
            <a:avLst/>
          </a:prstGeom>
          <a:solidFill>
            <a:srgbClr val="A8C4D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176272"/>
            <a:ext cx="2517571" cy="2889504"/>
          </a:xfrm>
          <a:prstGeom prst="roundRect">
            <a:avLst>
              <a:gd name="adj" fmla="val 6900"/>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414015"/>
            <a:ext cx="2042083" cy="201168"/>
          </a:xfrm>
          <a:prstGeom prst="rect">
            <a:avLst/>
          </a:prstGeom>
          <a:noFill/>
        </p:spPr>
        <p:txBody>
          <a:bodyPr wrap="square" lIns="0" rIns="0" tIns="0" bIns="0">
            <a:normAutofit/>
          </a:bodyPr>
          <a:lstStyle/>
          <a:p>
            <a:r>
              <a:rPr sz="700" b="1" i="0" spc="130">
                <a:solidFill>
                  <a:srgbClr val="F5F3C4"/>
                </a:solidFill>
                <a:latin typeface="Avenir Next"/>
              </a:rPr>
              <a:t>SEMANAS 1 A 3</a:t>
            </a:r>
          </a:p>
        </p:txBody>
      </p:sp>
      <p:sp>
        <p:nvSpPr>
          <p:cNvPr id="10" name="TextBox 9"/>
          <p:cNvSpPr txBox="1"/>
          <p:nvPr/>
        </p:nvSpPr>
        <p:spPr>
          <a:xfrm>
            <a:off x="969264" y="2651759"/>
            <a:ext cx="2042083" cy="513080"/>
          </a:xfrm>
          <a:prstGeom prst="rect">
            <a:avLst/>
          </a:prstGeom>
          <a:noFill/>
        </p:spPr>
        <p:txBody>
          <a:bodyPr wrap="square" lIns="0" rIns="0" tIns="0" bIns="0">
            <a:normAutofit/>
          </a:bodyPr>
          <a:lstStyle/>
          <a:p>
            <a:pPr>
              <a:lnSpc>
                <a:spcPct val="105000"/>
              </a:lnSpc>
            </a:pPr>
            <a:r>
              <a:rPr sz="1500" b="0" i="0">
                <a:solidFill>
                  <a:srgbClr val="CCECF9"/>
                </a:solidFill>
                <a:latin typeface="Baskerville"/>
              </a:rPr>
              <a:t>Instalación</a:t>
            </a:r>
          </a:p>
        </p:txBody>
      </p:sp>
      <p:sp>
        <p:nvSpPr>
          <p:cNvPr id="11" name="TextBox 10"/>
          <p:cNvSpPr txBox="1"/>
          <p:nvPr/>
        </p:nvSpPr>
        <p:spPr>
          <a:xfrm>
            <a:off x="969264" y="3237991"/>
            <a:ext cx="2042083" cy="534924"/>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Que la marca vuelva a existir en la conversación.</a:t>
            </a:r>
          </a:p>
          <a:p>
            <a:pPr>
              <a:lnSpc>
                <a:spcPct val="140000"/>
              </a:lnSpc>
              <a:spcAft>
                <a:spcPts val="500"/>
              </a:spcAft>
            </a:pPr>
            <a:r>
              <a:rPr sz="919" b="0" i="0">
                <a:solidFill>
                  <a:srgbClr val="CCECF9"/>
                </a:solidFill>
                <a:latin typeface="Avenir Next"/>
              </a:rPr>
              <a:t>Se mide: alcance sobre perfil premium y recordación asistida</a:t>
            </a:r>
          </a:p>
        </p:txBody>
      </p:sp>
      <p:sp>
        <p:nvSpPr>
          <p:cNvPr id="12" name="Rounded Rectangle 11"/>
          <p:cNvSpPr/>
          <p:nvPr/>
        </p:nvSpPr>
        <p:spPr>
          <a:xfrm>
            <a:off x="3468547" y="2176272"/>
            <a:ext cx="2517571" cy="2889504"/>
          </a:xfrm>
          <a:prstGeom prst="roundRect">
            <a:avLst>
              <a:gd name="adj" fmla="val 6900"/>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3" name="TextBox 12"/>
          <p:cNvSpPr txBox="1"/>
          <p:nvPr/>
        </p:nvSpPr>
        <p:spPr>
          <a:xfrm>
            <a:off x="3706291" y="2414015"/>
            <a:ext cx="2042083" cy="201168"/>
          </a:xfrm>
          <a:prstGeom prst="rect">
            <a:avLst/>
          </a:prstGeom>
          <a:noFill/>
        </p:spPr>
        <p:txBody>
          <a:bodyPr wrap="square" lIns="0" rIns="0" tIns="0" bIns="0">
            <a:normAutofit/>
          </a:bodyPr>
          <a:lstStyle/>
          <a:p>
            <a:r>
              <a:rPr sz="700" b="1" i="0" spc="130">
                <a:solidFill>
                  <a:srgbClr val="F5F3C4"/>
                </a:solidFill>
                <a:latin typeface="Avenir Next"/>
              </a:rPr>
              <a:t>SEMANAS 4 A 6</a:t>
            </a:r>
          </a:p>
        </p:txBody>
      </p:sp>
      <p:sp>
        <p:nvSpPr>
          <p:cNvPr id="14" name="TextBox 13"/>
          <p:cNvSpPr txBox="1"/>
          <p:nvPr/>
        </p:nvSpPr>
        <p:spPr>
          <a:xfrm>
            <a:off x="3706291" y="2651759"/>
            <a:ext cx="2042083" cy="513080"/>
          </a:xfrm>
          <a:prstGeom prst="rect">
            <a:avLst/>
          </a:prstGeom>
          <a:noFill/>
        </p:spPr>
        <p:txBody>
          <a:bodyPr wrap="square" lIns="0" rIns="0" tIns="0" bIns="0">
            <a:normAutofit/>
          </a:bodyPr>
          <a:lstStyle/>
          <a:p>
            <a:pPr>
              <a:lnSpc>
                <a:spcPct val="105000"/>
              </a:lnSpc>
            </a:pPr>
            <a:r>
              <a:rPr sz="1500" b="0" i="0">
                <a:solidFill>
                  <a:srgbClr val="CCECF9"/>
                </a:solidFill>
                <a:latin typeface="Baskerville"/>
              </a:rPr>
              <a:t>Demostración</a:t>
            </a:r>
          </a:p>
        </p:txBody>
      </p:sp>
      <p:sp>
        <p:nvSpPr>
          <p:cNvPr id="15" name="TextBox 14"/>
          <p:cNvSpPr txBox="1"/>
          <p:nvPr/>
        </p:nvSpPr>
        <p:spPr>
          <a:xfrm>
            <a:off x="3706291" y="3237991"/>
            <a:ext cx="2042083" cy="534924"/>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Que el criterio se vea, no se declare.</a:t>
            </a:r>
          </a:p>
          <a:p>
            <a:pPr>
              <a:lnSpc>
                <a:spcPct val="140000"/>
              </a:lnSpc>
              <a:spcAft>
                <a:spcPts val="500"/>
              </a:spcAft>
            </a:pPr>
            <a:r>
              <a:rPr sz="919" b="0" i="0">
                <a:solidFill>
                  <a:srgbClr val="CCECF9"/>
                </a:solidFill>
                <a:latin typeface="Avenir Next"/>
              </a:rPr>
              <a:t>Se mide: tiempo de lectura de la sección y reproducciones completas de video</a:t>
            </a:r>
          </a:p>
        </p:txBody>
      </p:sp>
      <p:sp>
        <p:nvSpPr>
          <p:cNvPr id="16" name="Rounded Rectangle 15"/>
          <p:cNvSpPr/>
          <p:nvPr/>
        </p:nvSpPr>
        <p:spPr>
          <a:xfrm>
            <a:off x="6205575" y="2176272"/>
            <a:ext cx="2517571" cy="2889504"/>
          </a:xfrm>
          <a:prstGeom prst="roundRect">
            <a:avLst>
              <a:gd name="adj" fmla="val 6900"/>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7" name="TextBox 16"/>
          <p:cNvSpPr txBox="1"/>
          <p:nvPr/>
        </p:nvSpPr>
        <p:spPr>
          <a:xfrm>
            <a:off x="6443319" y="2414015"/>
            <a:ext cx="2042083" cy="201168"/>
          </a:xfrm>
          <a:prstGeom prst="rect">
            <a:avLst/>
          </a:prstGeom>
          <a:noFill/>
        </p:spPr>
        <p:txBody>
          <a:bodyPr wrap="square" lIns="0" rIns="0" tIns="0" bIns="0">
            <a:normAutofit/>
          </a:bodyPr>
          <a:lstStyle/>
          <a:p>
            <a:r>
              <a:rPr sz="700" b="1" i="0" spc="130">
                <a:solidFill>
                  <a:srgbClr val="F5F3C4"/>
                </a:solidFill>
                <a:latin typeface="Avenir Next"/>
              </a:rPr>
              <a:t>SEMANAS 7 A 9</a:t>
            </a:r>
          </a:p>
        </p:txBody>
      </p:sp>
      <p:sp>
        <p:nvSpPr>
          <p:cNvPr id="18" name="TextBox 17"/>
          <p:cNvSpPr txBox="1"/>
          <p:nvPr/>
        </p:nvSpPr>
        <p:spPr>
          <a:xfrm>
            <a:off x="6443319" y="2651759"/>
            <a:ext cx="2042083" cy="513080"/>
          </a:xfrm>
          <a:prstGeom prst="rect">
            <a:avLst/>
          </a:prstGeom>
          <a:noFill/>
        </p:spPr>
        <p:txBody>
          <a:bodyPr wrap="square" lIns="0" rIns="0" tIns="0" bIns="0">
            <a:normAutofit/>
          </a:bodyPr>
          <a:lstStyle/>
          <a:p>
            <a:pPr>
              <a:lnSpc>
                <a:spcPct val="105000"/>
              </a:lnSpc>
            </a:pPr>
            <a:r>
              <a:rPr sz="1500" b="0" i="0">
                <a:solidFill>
                  <a:srgbClr val="CCECF9"/>
                </a:solidFill>
                <a:latin typeface="Baskerville"/>
              </a:rPr>
              <a:t>Prueba</a:t>
            </a:r>
          </a:p>
        </p:txBody>
      </p:sp>
      <p:sp>
        <p:nvSpPr>
          <p:cNvPr id="19" name="TextBox 18"/>
          <p:cNvSpPr txBox="1"/>
          <p:nvPr/>
        </p:nvSpPr>
        <p:spPr>
          <a:xfrm>
            <a:off x="6443319" y="3237991"/>
            <a:ext cx="2042083" cy="534924"/>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Que haya evidencia de terceros.</a:t>
            </a:r>
          </a:p>
          <a:p>
            <a:pPr>
              <a:lnSpc>
                <a:spcPct val="140000"/>
              </a:lnSpc>
              <a:spcAft>
                <a:spcPts val="500"/>
              </a:spcAft>
            </a:pPr>
            <a:r>
              <a:rPr sz="919" b="0" i="0">
                <a:solidFill>
                  <a:srgbClr val="CCECF9"/>
                </a:solidFill>
                <a:latin typeface="Avenir Next"/>
              </a:rPr>
              <a:t>Se mide: menciones ganadas y asistencia a la experiencia sobre invitados</a:t>
            </a:r>
          </a:p>
        </p:txBody>
      </p:sp>
      <p:sp>
        <p:nvSpPr>
          <p:cNvPr id="20" name="Rounded Rectangle 19"/>
          <p:cNvSpPr/>
          <p:nvPr/>
        </p:nvSpPr>
        <p:spPr>
          <a:xfrm>
            <a:off x="8942603" y="2176272"/>
            <a:ext cx="2517571" cy="2889504"/>
          </a:xfrm>
          <a:prstGeom prst="roundRect">
            <a:avLst>
              <a:gd name="adj" fmla="val 6900"/>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1" name="TextBox 20"/>
          <p:cNvSpPr txBox="1"/>
          <p:nvPr/>
        </p:nvSpPr>
        <p:spPr>
          <a:xfrm>
            <a:off x="9180347" y="2414015"/>
            <a:ext cx="2042083" cy="201168"/>
          </a:xfrm>
          <a:prstGeom prst="rect">
            <a:avLst/>
          </a:prstGeom>
          <a:noFill/>
        </p:spPr>
        <p:txBody>
          <a:bodyPr wrap="square" lIns="0" rIns="0" tIns="0" bIns="0">
            <a:normAutofit/>
          </a:bodyPr>
          <a:lstStyle/>
          <a:p>
            <a:r>
              <a:rPr sz="700" b="1" i="0" spc="130">
                <a:solidFill>
                  <a:srgbClr val="F5F3C4"/>
                </a:solidFill>
                <a:latin typeface="Avenir Next"/>
              </a:rPr>
              <a:t>SEMANAS 10 A 12</a:t>
            </a:r>
          </a:p>
        </p:txBody>
      </p:sp>
      <p:sp>
        <p:nvSpPr>
          <p:cNvPr id="22" name="TextBox 21"/>
          <p:cNvSpPr txBox="1"/>
          <p:nvPr/>
        </p:nvSpPr>
        <p:spPr>
          <a:xfrm>
            <a:off x="9180347" y="2651759"/>
            <a:ext cx="2042083" cy="513080"/>
          </a:xfrm>
          <a:prstGeom prst="rect">
            <a:avLst/>
          </a:prstGeom>
          <a:noFill/>
        </p:spPr>
        <p:txBody>
          <a:bodyPr wrap="square" lIns="0" rIns="0" tIns="0" bIns="0">
            <a:normAutofit/>
          </a:bodyPr>
          <a:lstStyle/>
          <a:p>
            <a:pPr>
              <a:lnSpc>
                <a:spcPct val="105000"/>
              </a:lnSpc>
            </a:pPr>
            <a:r>
              <a:rPr sz="1500" b="0" i="0">
                <a:solidFill>
                  <a:srgbClr val="CCECF9"/>
                </a:solidFill>
                <a:latin typeface="Baskerville"/>
              </a:rPr>
              <a:t>Conversión</a:t>
            </a:r>
          </a:p>
        </p:txBody>
      </p:sp>
      <p:sp>
        <p:nvSpPr>
          <p:cNvPr id="23" name="TextBox 22"/>
          <p:cNvSpPr txBox="1"/>
          <p:nvPr/>
        </p:nvSpPr>
        <p:spPr>
          <a:xfrm>
            <a:off x="9180347" y="3237991"/>
            <a:ext cx="2042083" cy="534924"/>
          </a:xfrm>
          <a:prstGeom prst="rect">
            <a:avLst/>
          </a:prstGeom>
          <a:noFill/>
        </p:spPr>
        <p:txBody>
          <a:bodyPr wrap="square" lIns="0" rIns="0" tIns="0" bIns="0">
            <a:normAutofit/>
          </a:bodyPr>
          <a:lstStyle/>
          <a:p>
            <a:pPr>
              <a:lnSpc>
                <a:spcPct val="140000"/>
              </a:lnSpc>
              <a:spcAft>
                <a:spcPts val="500"/>
              </a:spcAft>
            </a:pPr>
            <a:r>
              <a:rPr sz="919" b="0" i="0">
                <a:solidFill>
                  <a:srgbClr val="CCECF9"/>
                </a:solidFill>
                <a:latin typeface="Avenir Next"/>
              </a:rPr>
              <a:t>Que haya una ruta clara a pedir la tarjeta.</a:t>
            </a:r>
          </a:p>
          <a:p>
            <a:pPr>
              <a:lnSpc>
                <a:spcPct val="140000"/>
              </a:lnSpc>
              <a:spcAft>
                <a:spcPts val="500"/>
              </a:spcAft>
            </a:pPr>
            <a:r>
              <a:rPr sz="919" b="0" i="0">
                <a:solidFill>
                  <a:srgbClr val="CCECF9"/>
                </a:solidFill>
                <a:latin typeface="Avenir Next"/>
              </a:rPr>
              <a:t>Se mide: solicitudes de apertura digital atribuibles a nuestros medios</a:t>
            </a:r>
          </a:p>
        </p:txBody>
      </p:sp>
      <p:sp>
        <p:nvSpPr>
          <p:cNvPr id="24" name="Rounded Rectangle 23"/>
          <p:cNvSpPr/>
          <p:nvPr/>
        </p:nvSpPr>
        <p:spPr>
          <a:xfrm>
            <a:off x="731520" y="5230368"/>
            <a:ext cx="3410712" cy="896112"/>
          </a:xfrm>
          <a:prstGeom prst="roundRect">
            <a:avLst>
              <a:gd name="adj" fmla="val 19387"/>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5" name="TextBox 24"/>
          <p:cNvSpPr txBox="1"/>
          <p:nvPr/>
        </p:nvSpPr>
        <p:spPr>
          <a:xfrm>
            <a:off x="969264" y="5468112"/>
            <a:ext cx="2935224" cy="201168"/>
          </a:xfrm>
          <a:prstGeom prst="rect">
            <a:avLst/>
          </a:prstGeom>
          <a:noFill/>
        </p:spPr>
        <p:txBody>
          <a:bodyPr wrap="square" lIns="0" rIns="0" tIns="0" bIns="0">
            <a:normAutofit/>
          </a:bodyPr>
          <a:lstStyle/>
          <a:p>
            <a:r>
              <a:rPr sz="700" b="1" i="0" spc="130">
                <a:solidFill>
                  <a:srgbClr val="004C97"/>
                </a:solidFill>
                <a:latin typeface="Avenir Next"/>
              </a:rPr>
              <a:t>QUEDA CONSTRUIDO</a:t>
            </a:r>
          </a:p>
        </p:txBody>
      </p:sp>
      <p:sp>
        <p:nvSpPr>
          <p:cNvPr id="26" name="TextBox 25"/>
          <p:cNvSpPr txBox="1"/>
          <p:nvPr/>
        </p:nvSpPr>
        <p:spPr>
          <a:xfrm>
            <a:off x="969264" y="5705855"/>
            <a:ext cx="2935224" cy="288036"/>
          </a:xfrm>
          <a:prstGeom prst="rect">
            <a:avLst/>
          </a:prstGeom>
          <a:noFill/>
        </p:spPr>
        <p:txBody>
          <a:bodyPr wrap="square" lIns="0" rIns="0" tIns="0" bIns="0">
            <a:normAutofit/>
          </a:bodyPr>
          <a:lstStyle/>
          <a:p>
            <a:pPr>
              <a:lnSpc>
                <a:spcPct val="140000"/>
              </a:lnSpc>
              <a:spcAft>
                <a:spcPts val="500"/>
              </a:spcAft>
            </a:pPr>
            <a:r>
              <a:rPr sz="840" b="0" i="0">
                <a:solidFill>
                  <a:srgbClr val="041E42"/>
                </a:solidFill>
                <a:latin typeface="Avenir Next"/>
              </a:rPr>
              <a:t>El posicionamiento instalado y medido: el año entra con línea base de recordación.</a:t>
            </a:r>
          </a:p>
        </p:txBody>
      </p:sp>
      <p:sp>
        <p:nvSpPr>
          <p:cNvPr id="27" name="Rounded Rectangle 26"/>
          <p:cNvSpPr/>
          <p:nvPr/>
        </p:nvSpPr>
        <p:spPr>
          <a:xfrm>
            <a:off x="4370832" y="5230368"/>
            <a:ext cx="3410712" cy="896112"/>
          </a:xfrm>
          <a:prstGeom prst="roundRect">
            <a:avLst>
              <a:gd name="adj" fmla="val 19387"/>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8" name="TextBox 27"/>
          <p:cNvSpPr txBox="1"/>
          <p:nvPr/>
        </p:nvSpPr>
        <p:spPr>
          <a:xfrm>
            <a:off x="4608576" y="5468112"/>
            <a:ext cx="2935224" cy="201168"/>
          </a:xfrm>
          <a:prstGeom prst="rect">
            <a:avLst/>
          </a:prstGeom>
          <a:noFill/>
        </p:spPr>
        <p:txBody>
          <a:bodyPr wrap="square" lIns="0" rIns="0" tIns="0" bIns="0">
            <a:normAutofit/>
          </a:bodyPr>
          <a:lstStyle/>
          <a:p>
            <a:r>
              <a:rPr sz="700" b="1" i="0" spc="130">
                <a:solidFill>
                  <a:srgbClr val="004C97"/>
                </a:solidFill>
                <a:latin typeface="Avenir Next"/>
              </a:rPr>
              <a:t>QUEDA CONSTRUIDO</a:t>
            </a:r>
          </a:p>
        </p:txBody>
      </p:sp>
      <p:sp>
        <p:nvSpPr>
          <p:cNvPr id="29" name="TextBox 28"/>
          <p:cNvSpPr txBox="1"/>
          <p:nvPr/>
        </p:nvSpPr>
        <p:spPr>
          <a:xfrm>
            <a:off x="4608576" y="5705855"/>
            <a:ext cx="2935224" cy="288036"/>
          </a:xfrm>
          <a:prstGeom prst="rect">
            <a:avLst/>
          </a:prstGeom>
          <a:noFill/>
        </p:spPr>
        <p:txBody>
          <a:bodyPr wrap="square" lIns="0" rIns="0" tIns="0" bIns="0">
            <a:normAutofit/>
          </a:bodyPr>
          <a:lstStyle/>
          <a:p>
            <a:pPr>
              <a:lnSpc>
                <a:spcPct val="140000"/>
              </a:lnSpc>
              <a:spcAft>
                <a:spcPts val="500"/>
              </a:spcAft>
            </a:pPr>
            <a:r>
              <a:rPr sz="840" b="0" i="0">
                <a:solidFill>
                  <a:srgbClr val="041E42"/>
                </a:solidFill>
                <a:latin typeface="Avenir Next"/>
              </a:rPr>
              <a:t>La red de aliados verificados, que es el catálogo que el programa de beneficios necesita.</a:t>
            </a:r>
          </a:p>
        </p:txBody>
      </p:sp>
      <p:sp>
        <p:nvSpPr>
          <p:cNvPr id="30" name="Rounded Rectangle 29"/>
          <p:cNvSpPr/>
          <p:nvPr/>
        </p:nvSpPr>
        <p:spPr>
          <a:xfrm>
            <a:off x="8010144" y="5230368"/>
            <a:ext cx="3410712" cy="896112"/>
          </a:xfrm>
          <a:prstGeom prst="roundRect">
            <a:avLst>
              <a:gd name="adj" fmla="val 19387"/>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31" name="TextBox 30"/>
          <p:cNvSpPr txBox="1"/>
          <p:nvPr/>
        </p:nvSpPr>
        <p:spPr>
          <a:xfrm>
            <a:off x="8247888" y="5468112"/>
            <a:ext cx="2935224" cy="201168"/>
          </a:xfrm>
          <a:prstGeom prst="rect">
            <a:avLst/>
          </a:prstGeom>
          <a:noFill/>
        </p:spPr>
        <p:txBody>
          <a:bodyPr wrap="square" lIns="0" rIns="0" tIns="0" bIns="0">
            <a:normAutofit/>
          </a:bodyPr>
          <a:lstStyle/>
          <a:p>
            <a:r>
              <a:rPr sz="700" b="1" i="0" spc="130">
                <a:solidFill>
                  <a:srgbClr val="004C97"/>
                </a:solidFill>
                <a:latin typeface="Avenir Next"/>
              </a:rPr>
              <a:t>QUEDA CONSTRUIDO</a:t>
            </a:r>
          </a:p>
        </p:txBody>
      </p:sp>
      <p:sp>
        <p:nvSpPr>
          <p:cNvPr id="32" name="TextBox 31"/>
          <p:cNvSpPr txBox="1"/>
          <p:nvPr/>
        </p:nvSpPr>
        <p:spPr>
          <a:xfrm>
            <a:off x="8247888" y="5705855"/>
            <a:ext cx="2935224" cy="288036"/>
          </a:xfrm>
          <a:prstGeom prst="rect">
            <a:avLst/>
          </a:prstGeom>
          <a:noFill/>
        </p:spPr>
        <p:txBody>
          <a:bodyPr wrap="square" lIns="0" rIns="0" tIns="0" bIns="0">
            <a:normAutofit/>
          </a:bodyPr>
          <a:lstStyle/>
          <a:p>
            <a:pPr>
              <a:lnSpc>
                <a:spcPct val="140000"/>
              </a:lnSpc>
              <a:spcAft>
                <a:spcPts val="500"/>
              </a:spcAft>
            </a:pPr>
            <a:r>
              <a:rPr sz="840" b="0" i="0">
                <a:solidFill>
                  <a:srgbClr val="041E42"/>
                </a:solidFill>
                <a:latin typeface="Avenir Next"/>
              </a:rPr>
              <a:t>El primer dato propio de conversión, para dimensionar el año con un costo por solicitud real.</a:t>
            </a:r>
          </a:p>
        </p:txBody>
      </p:sp>
      <p:sp>
        <p:nvSpPr>
          <p:cNvPr id="33" name="TextBox 32"/>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A8C4DA"/>
                </a:solidFill>
                <a:latin typeface="Avenir Next"/>
              </a:rPr>
              <a:t>LA DECISIÓN DEL AÑO SE TOMA CON DATO PROPIO</a:t>
            </a:r>
          </a:p>
        </p:txBody>
      </p:sp>
      <p:sp>
        <p:nvSpPr>
          <p:cNvPr id="34" name="TextBox 33"/>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F5F3C4"/>
                </a:solidFill>
                <a:latin typeface="Avenir Nex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LAS OPCIONES</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Tres alcances para el </a:t>
            </a:r>
            <a:r>
              <a:rPr sz="2900" b="0" i="1">
                <a:solidFill>
                  <a:srgbClr val="004C97"/>
                </a:solidFill>
                <a:latin typeface="Baskerville"/>
              </a:rPr>
              <a:t>trimestre</a:t>
            </a:r>
          </a:p>
        </p:txBody>
      </p:sp>
      <p:sp>
        <p:nvSpPr>
          <p:cNvPr id="6" name="TextBox 5"/>
          <p:cNvSpPr txBox="1"/>
          <p:nvPr/>
        </p:nvSpPr>
        <p:spPr>
          <a:xfrm>
            <a:off x="731520" y="1517904"/>
            <a:ext cx="10424160" cy="457200"/>
          </a:xfrm>
          <a:prstGeom prst="rect">
            <a:avLst/>
          </a:prstGeom>
          <a:noFill/>
        </p:spPr>
        <p:txBody>
          <a:bodyPr wrap="square" lIns="0" rIns="0" tIns="0" bIns="0">
            <a:normAutofit/>
          </a:bodyPr>
          <a:lstStyle/>
          <a:p>
            <a:pPr>
              <a:lnSpc>
                <a:spcPct val="140000"/>
              </a:lnSpc>
            </a:pPr>
            <a:r>
              <a:rPr sz="960" b="0" i="0">
                <a:solidFill>
                  <a:srgbClr val="5A6B85"/>
                </a:solidFill>
                <a:latin typeface="Avenir Next"/>
              </a:rPr>
              <a:t>La misma estrategia, en tres alcances. Las tres corren doce semanas desde la firma y las tres dejan medición de conversión a solicitud digital.</a:t>
            </a:r>
          </a:p>
        </p:txBody>
      </p:sp>
      <p:sp>
        <p:nvSpPr>
          <p:cNvPr id="7" name="Rectangle 6"/>
          <p:cNvSpPr/>
          <p:nvPr/>
        </p:nvSpPr>
        <p:spPr>
          <a:xfrm>
            <a:off x="731520" y="1993391"/>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176272"/>
            <a:ext cx="3410712" cy="3968496"/>
          </a:xfrm>
          <a:prstGeom prst="roundRect">
            <a:avLst>
              <a:gd name="adj" fmla="val 5093"/>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2414015"/>
            <a:ext cx="2935224" cy="201168"/>
          </a:xfrm>
          <a:prstGeom prst="rect">
            <a:avLst/>
          </a:prstGeom>
          <a:noFill/>
        </p:spPr>
        <p:txBody>
          <a:bodyPr wrap="square" lIns="0" rIns="0" tIns="0" bIns="0">
            <a:normAutofit/>
          </a:bodyPr>
          <a:lstStyle/>
          <a:p>
            <a:r>
              <a:rPr sz="700" b="1" i="0" spc="130">
                <a:solidFill>
                  <a:srgbClr val="004C97"/>
                </a:solidFill>
                <a:latin typeface="Avenir Next"/>
              </a:rPr>
              <a:t>OPCIÓN A</a:t>
            </a:r>
          </a:p>
        </p:txBody>
      </p:sp>
      <p:sp>
        <p:nvSpPr>
          <p:cNvPr id="10" name="TextBox 9"/>
          <p:cNvSpPr txBox="1"/>
          <p:nvPr/>
        </p:nvSpPr>
        <p:spPr>
          <a:xfrm>
            <a:off x="969264" y="2651759"/>
            <a:ext cx="2935224" cy="513080"/>
          </a:xfrm>
          <a:prstGeom prst="rect">
            <a:avLst/>
          </a:prstGeom>
          <a:noFill/>
        </p:spPr>
        <p:txBody>
          <a:bodyPr wrap="square" lIns="0" rIns="0" tIns="0" bIns="0">
            <a:normAutofit/>
          </a:bodyPr>
          <a:lstStyle/>
          <a:p>
            <a:pPr>
              <a:lnSpc>
                <a:spcPct val="105000"/>
              </a:lnSpc>
            </a:pPr>
            <a:r>
              <a:rPr sz="1500" b="0" i="0">
                <a:solidFill>
                  <a:srgbClr val="041E42"/>
                </a:solidFill>
                <a:latin typeface="Baskerville"/>
              </a:rPr>
              <a:t>Instalación</a:t>
            </a:r>
          </a:p>
        </p:txBody>
      </p:sp>
      <p:sp>
        <p:nvSpPr>
          <p:cNvPr id="11" name="TextBox 10"/>
          <p:cNvSpPr txBox="1"/>
          <p:nvPr/>
        </p:nvSpPr>
        <p:spPr>
          <a:xfrm>
            <a:off x="969264" y="3237991"/>
            <a:ext cx="2935224" cy="288036"/>
          </a:xfrm>
          <a:prstGeom prst="rect">
            <a:avLst/>
          </a:prstGeom>
          <a:noFill/>
        </p:spPr>
        <p:txBody>
          <a:bodyPr wrap="square" lIns="0" rIns="0" tIns="0" bIns="0">
            <a:normAutofit/>
          </a:bodyPr>
          <a:lstStyle/>
          <a:p>
            <a:pPr>
              <a:lnSpc>
                <a:spcPct val="140000"/>
              </a:lnSpc>
              <a:spcAft>
                <a:spcPts val="500"/>
              </a:spcAft>
            </a:pPr>
            <a:r>
              <a:rPr sz="860" b="0" i="0">
                <a:solidFill>
                  <a:srgbClr val="041E42"/>
                </a:solidFill>
                <a:latin typeface="Avenir Next"/>
              </a:rPr>
              <a:t>Solo el primer objetivo. Instalar la marca ante quien no la tiene, sin montar todavía la red de aliados.</a:t>
            </a:r>
          </a:p>
        </p:txBody>
      </p:sp>
      <p:sp>
        <p:nvSpPr>
          <p:cNvPr id="12" name="TextBox 11"/>
          <p:cNvSpPr txBox="1"/>
          <p:nvPr/>
        </p:nvSpPr>
        <p:spPr>
          <a:xfrm>
            <a:off x="969264" y="3580891"/>
            <a:ext cx="2935224" cy="1005840"/>
          </a:xfrm>
          <a:prstGeom prst="rect">
            <a:avLst/>
          </a:prstGeom>
          <a:noFill/>
        </p:spPr>
        <p:txBody>
          <a:bodyPr wrap="square" lIns="0" rIns="0" tIns="0" bIns="0">
            <a:normAutofit/>
          </a:bodyPr>
          <a:lstStyle/>
          <a:p>
            <a:pPr>
              <a:lnSpc>
                <a:spcPct val="118000"/>
              </a:lnSpc>
              <a:spcAft>
                <a:spcPts val="350"/>
              </a:spcAft>
            </a:pPr>
            <a:r>
              <a:rPr sz="840" b="1">
                <a:solidFill>
                  <a:srgbClr val="004C97"/>
                </a:solidFill>
                <a:latin typeface="Avenir Next"/>
              </a:rPr>
              <a:t>•  </a:t>
            </a:r>
            <a:r>
              <a:rPr sz="840">
                <a:solidFill>
                  <a:srgbClr val="041E42"/>
                </a:solidFill>
                <a:latin typeface="Avenir Next"/>
              </a:rPr>
              <a:t>Pauta dinámica los 3 meses</a:t>
            </a:r>
          </a:p>
          <a:p>
            <a:pPr>
              <a:lnSpc>
                <a:spcPct val="118000"/>
              </a:lnSpc>
              <a:spcAft>
                <a:spcPts val="350"/>
              </a:spcAft>
            </a:pPr>
            <a:r>
              <a:rPr sz="840" b="1">
                <a:solidFill>
                  <a:srgbClr val="004C97"/>
                </a:solidFill>
                <a:latin typeface="Avenir Next"/>
              </a:rPr>
              <a:t>•  </a:t>
            </a:r>
            <a:r>
              <a:rPr sz="840">
                <a:solidFill>
                  <a:srgbClr val="041E42"/>
                </a:solidFill>
                <a:latin typeface="Avenir Next"/>
              </a:rPr>
              <a:t>Una pieza de alto impacto de apertura</a:t>
            </a:r>
          </a:p>
          <a:p>
            <a:pPr>
              <a:lnSpc>
                <a:spcPct val="118000"/>
              </a:lnSpc>
              <a:spcAft>
                <a:spcPts val="350"/>
              </a:spcAft>
            </a:pPr>
            <a:r>
              <a:rPr sz="840" b="1">
                <a:solidFill>
                  <a:srgbClr val="004C97"/>
                </a:solidFill>
                <a:latin typeface="Avenir Next"/>
              </a:rPr>
              <a:t>•  </a:t>
            </a:r>
            <a:r>
              <a:rPr sz="840">
                <a:solidFill>
                  <a:srgbClr val="041E42"/>
                </a:solidFill>
                <a:latin typeface="Avenir Next"/>
              </a:rPr>
              <a:t>Video manifiesto y su amplificación</a:t>
            </a:r>
          </a:p>
          <a:p>
            <a:pPr>
              <a:lnSpc>
                <a:spcPct val="118000"/>
              </a:lnSpc>
              <a:spcAft>
                <a:spcPts val="350"/>
              </a:spcAft>
            </a:pPr>
            <a:r>
              <a:rPr sz="840" b="1">
                <a:solidFill>
                  <a:srgbClr val="004C97"/>
                </a:solidFill>
                <a:latin typeface="Avenir Next"/>
              </a:rPr>
              <a:t>•  </a:t>
            </a:r>
            <a:r>
              <a:rPr sz="840">
                <a:solidFill>
                  <a:srgbClr val="041E42"/>
                </a:solidFill>
                <a:latin typeface="Avenir Next"/>
              </a:rPr>
              <a:t>Sección editorial en la revista</a:t>
            </a:r>
          </a:p>
          <a:p>
            <a:pPr>
              <a:lnSpc>
                <a:spcPct val="118000"/>
              </a:lnSpc>
              <a:spcAft>
                <a:spcPts val="350"/>
              </a:spcAft>
            </a:pPr>
            <a:r>
              <a:rPr sz="840" b="1">
                <a:solidFill>
                  <a:srgbClr val="004C97"/>
                </a:solidFill>
                <a:latin typeface="Avenir Next"/>
              </a:rPr>
              <a:t>•  </a:t>
            </a:r>
            <a:r>
              <a:rPr sz="840">
                <a:solidFill>
                  <a:srgbClr val="041E42"/>
                </a:solidFill>
                <a:latin typeface="Avenir Next"/>
              </a:rPr>
              <a:t>Solo Revista Diners</a:t>
            </a:r>
          </a:p>
        </p:txBody>
      </p:sp>
      <p:sp>
        <p:nvSpPr>
          <p:cNvPr id="13" name="Rounded Rectangle 12"/>
          <p:cNvSpPr/>
          <p:nvPr/>
        </p:nvSpPr>
        <p:spPr>
          <a:xfrm>
            <a:off x="4370832" y="2176272"/>
            <a:ext cx="3410712" cy="3968496"/>
          </a:xfrm>
          <a:prstGeom prst="roundRect">
            <a:avLst>
              <a:gd name="adj" fmla="val 5093"/>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4" name="TextBox 13"/>
          <p:cNvSpPr txBox="1"/>
          <p:nvPr/>
        </p:nvSpPr>
        <p:spPr>
          <a:xfrm>
            <a:off x="4608576" y="2414015"/>
            <a:ext cx="2935224" cy="201168"/>
          </a:xfrm>
          <a:prstGeom prst="rect">
            <a:avLst/>
          </a:prstGeom>
          <a:noFill/>
        </p:spPr>
        <p:txBody>
          <a:bodyPr wrap="square" lIns="0" rIns="0" tIns="0" bIns="0">
            <a:normAutofit/>
          </a:bodyPr>
          <a:lstStyle/>
          <a:p>
            <a:r>
              <a:rPr sz="700" b="1" i="0" spc="130">
                <a:solidFill>
                  <a:srgbClr val="004C97"/>
                </a:solidFill>
                <a:latin typeface="Avenir Next"/>
              </a:rPr>
              <a:t>OPCIÓN B · RECOMENDADO</a:t>
            </a:r>
          </a:p>
        </p:txBody>
      </p:sp>
      <p:sp>
        <p:nvSpPr>
          <p:cNvPr id="15" name="TextBox 14"/>
          <p:cNvSpPr txBox="1"/>
          <p:nvPr/>
        </p:nvSpPr>
        <p:spPr>
          <a:xfrm>
            <a:off x="4608576" y="2651759"/>
            <a:ext cx="2935224" cy="513080"/>
          </a:xfrm>
          <a:prstGeom prst="rect">
            <a:avLst/>
          </a:prstGeom>
          <a:noFill/>
        </p:spPr>
        <p:txBody>
          <a:bodyPr wrap="square" lIns="0" rIns="0" tIns="0" bIns="0">
            <a:normAutofit/>
          </a:bodyPr>
          <a:lstStyle/>
          <a:p>
            <a:pPr>
              <a:lnSpc>
                <a:spcPct val="105000"/>
              </a:lnSpc>
            </a:pPr>
            <a:r>
              <a:rPr sz="1500" b="0" i="0">
                <a:solidFill>
                  <a:srgbClr val="041E42"/>
                </a:solidFill>
                <a:latin typeface="Baskerville"/>
              </a:rPr>
              <a:t>Las doce semanas</a:t>
            </a:r>
          </a:p>
        </p:txBody>
      </p:sp>
      <p:sp>
        <p:nvSpPr>
          <p:cNvPr id="16" name="TextBox 15"/>
          <p:cNvSpPr txBox="1"/>
          <p:nvPr/>
        </p:nvSpPr>
        <p:spPr>
          <a:xfrm>
            <a:off x="4608576" y="3237991"/>
            <a:ext cx="2935224" cy="155448"/>
          </a:xfrm>
          <a:prstGeom prst="rect">
            <a:avLst/>
          </a:prstGeom>
          <a:noFill/>
        </p:spPr>
        <p:txBody>
          <a:bodyPr wrap="square" lIns="0" rIns="0" tIns="0" bIns="0">
            <a:normAutofit/>
          </a:bodyPr>
          <a:lstStyle/>
          <a:p>
            <a:pPr>
              <a:lnSpc>
                <a:spcPct val="140000"/>
              </a:lnSpc>
              <a:spcAft>
                <a:spcPts val="500"/>
              </a:spcAft>
            </a:pPr>
            <a:r>
              <a:rPr sz="860" b="0" i="0">
                <a:solidFill>
                  <a:srgbClr val="041E42"/>
                </a:solidFill>
                <a:latin typeface="Avenir Next"/>
              </a:rPr>
              <a:t>Los dos objetivos operando y el primer dato propio de conversión.</a:t>
            </a:r>
          </a:p>
        </p:txBody>
      </p:sp>
      <p:sp>
        <p:nvSpPr>
          <p:cNvPr id="17" name="TextBox 16"/>
          <p:cNvSpPr txBox="1"/>
          <p:nvPr/>
        </p:nvSpPr>
        <p:spPr>
          <a:xfrm>
            <a:off x="4608576" y="3448303"/>
            <a:ext cx="2935224" cy="1408176"/>
          </a:xfrm>
          <a:prstGeom prst="rect">
            <a:avLst/>
          </a:prstGeom>
          <a:noFill/>
        </p:spPr>
        <p:txBody>
          <a:bodyPr wrap="square" lIns="0" rIns="0" tIns="0" bIns="0">
            <a:normAutofit/>
          </a:bodyPr>
          <a:lstStyle/>
          <a:p>
            <a:pPr>
              <a:lnSpc>
                <a:spcPct val="118000"/>
              </a:lnSpc>
              <a:spcAft>
                <a:spcPts val="350"/>
              </a:spcAft>
            </a:pPr>
            <a:r>
              <a:rPr sz="840" b="1">
                <a:solidFill>
                  <a:srgbClr val="004C97"/>
                </a:solidFill>
                <a:latin typeface="Avenir Next"/>
              </a:rPr>
              <a:t>•  </a:t>
            </a:r>
            <a:r>
              <a:rPr sz="840">
                <a:solidFill>
                  <a:srgbClr val="041E42"/>
                </a:solidFill>
                <a:latin typeface="Avenir Next"/>
              </a:rPr>
              <a:t>Todo lo de la opción A</a:t>
            </a:r>
          </a:p>
          <a:p>
            <a:pPr>
              <a:lnSpc>
                <a:spcPct val="118000"/>
              </a:lnSpc>
              <a:spcAft>
                <a:spcPts val="350"/>
              </a:spcAft>
            </a:pPr>
            <a:r>
              <a:rPr sz="840" b="1">
                <a:solidFill>
                  <a:srgbClr val="004C97"/>
                </a:solidFill>
                <a:latin typeface="Avenir Next"/>
              </a:rPr>
              <a:t>•  </a:t>
            </a:r>
            <a:r>
              <a:rPr sz="840">
                <a:solidFill>
                  <a:srgbClr val="041E42"/>
                </a:solidFill>
                <a:latin typeface="Avenir Next"/>
              </a:rPr>
              <a:t>20 aliados con aceptación verificada</a:t>
            </a:r>
          </a:p>
          <a:p>
            <a:pPr>
              <a:lnSpc>
                <a:spcPct val="118000"/>
              </a:lnSpc>
              <a:spcAft>
                <a:spcPts val="350"/>
              </a:spcAft>
            </a:pPr>
            <a:r>
              <a:rPr sz="840" b="1">
                <a:solidFill>
                  <a:srgbClr val="004C97"/>
                </a:solidFill>
                <a:latin typeface="Avenir Next"/>
              </a:rPr>
              <a:t>•  </a:t>
            </a:r>
            <a:r>
              <a:rPr sz="840">
                <a:solidFill>
                  <a:srgbClr val="041E42"/>
                </a:solidFill>
                <a:latin typeface="Avenir Next"/>
              </a:rPr>
              <a:t>Sello en punto de venta con código</a:t>
            </a:r>
          </a:p>
          <a:p>
            <a:pPr>
              <a:lnSpc>
                <a:spcPct val="118000"/>
              </a:lnSpc>
              <a:spcAft>
                <a:spcPts val="350"/>
              </a:spcAft>
            </a:pPr>
            <a:r>
              <a:rPr sz="840" b="1">
                <a:solidFill>
                  <a:srgbClr val="004C97"/>
                </a:solidFill>
                <a:latin typeface="Avenir Next"/>
              </a:rPr>
              <a:t>•  </a:t>
            </a:r>
            <a:r>
              <a:rPr sz="840">
                <a:solidFill>
                  <a:srgbClr val="041E42"/>
                </a:solidFill>
                <a:latin typeface="Avenir Next"/>
              </a:rPr>
              <a:t>Una experiencia por invitación</a:t>
            </a:r>
          </a:p>
          <a:p>
            <a:pPr>
              <a:lnSpc>
                <a:spcPct val="118000"/>
              </a:lnSpc>
              <a:spcAft>
                <a:spcPts val="350"/>
              </a:spcAft>
            </a:pPr>
            <a:r>
              <a:rPr sz="840" b="1">
                <a:solidFill>
                  <a:srgbClr val="004C97"/>
                </a:solidFill>
                <a:latin typeface="Avenir Next"/>
              </a:rPr>
              <a:t>•  </a:t>
            </a:r>
            <a:r>
              <a:rPr sz="840">
                <a:solidFill>
                  <a:srgbClr val="041E42"/>
                </a:solidFill>
                <a:latin typeface="Avenir Next"/>
              </a:rPr>
              <a:t>Pauta digital en 4 canales</a:t>
            </a:r>
          </a:p>
          <a:p>
            <a:pPr>
              <a:lnSpc>
                <a:spcPct val="118000"/>
              </a:lnSpc>
              <a:spcAft>
                <a:spcPts val="350"/>
              </a:spcAft>
            </a:pPr>
            <a:r>
              <a:rPr sz="840" b="1">
                <a:solidFill>
                  <a:srgbClr val="004C97"/>
                </a:solidFill>
                <a:latin typeface="Avenir Next"/>
              </a:rPr>
              <a:t>•  </a:t>
            </a:r>
            <a:r>
              <a:rPr sz="840">
                <a:solidFill>
                  <a:srgbClr val="041E42"/>
                </a:solidFill>
                <a:latin typeface="Avenir Next"/>
              </a:rPr>
              <a:t>Serie de video con cocineros</a:t>
            </a:r>
          </a:p>
          <a:p>
            <a:pPr>
              <a:lnSpc>
                <a:spcPct val="118000"/>
              </a:lnSpc>
              <a:spcAft>
                <a:spcPts val="350"/>
              </a:spcAft>
            </a:pPr>
            <a:r>
              <a:rPr sz="840" b="1">
                <a:solidFill>
                  <a:srgbClr val="004C97"/>
                </a:solidFill>
                <a:latin typeface="Avenir Next"/>
              </a:rPr>
              <a:t>•  </a:t>
            </a:r>
            <a:r>
              <a:rPr sz="840">
                <a:solidFill>
                  <a:srgbClr val="041E42"/>
                </a:solidFill>
                <a:latin typeface="Avenir Next"/>
              </a:rPr>
              <a:t>Tablero de conversión</a:t>
            </a:r>
          </a:p>
        </p:txBody>
      </p:sp>
      <p:sp>
        <p:nvSpPr>
          <p:cNvPr id="18" name="Rounded Rectangle 17"/>
          <p:cNvSpPr/>
          <p:nvPr/>
        </p:nvSpPr>
        <p:spPr>
          <a:xfrm>
            <a:off x="8010144" y="2176272"/>
            <a:ext cx="3410712" cy="3968496"/>
          </a:xfrm>
          <a:prstGeom prst="roundRect">
            <a:avLst>
              <a:gd name="adj" fmla="val 5093"/>
            </a:avLst>
          </a:prstGeom>
          <a:solidFill>
            <a:srgbClr val="F3FAFA"/>
          </a:solidFill>
          <a:ln w="9525">
            <a:solidFill>
              <a:srgbClr val="D3D8E1"/>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9" name="TextBox 18"/>
          <p:cNvSpPr txBox="1"/>
          <p:nvPr/>
        </p:nvSpPr>
        <p:spPr>
          <a:xfrm>
            <a:off x="8247888" y="2414015"/>
            <a:ext cx="2935224" cy="201168"/>
          </a:xfrm>
          <a:prstGeom prst="rect">
            <a:avLst/>
          </a:prstGeom>
          <a:noFill/>
        </p:spPr>
        <p:txBody>
          <a:bodyPr wrap="square" lIns="0" rIns="0" tIns="0" bIns="0">
            <a:normAutofit/>
          </a:bodyPr>
          <a:lstStyle/>
          <a:p>
            <a:r>
              <a:rPr sz="700" b="1" i="0" spc="130">
                <a:solidFill>
                  <a:srgbClr val="004C97"/>
                </a:solidFill>
                <a:latin typeface="Avenir Next"/>
              </a:rPr>
              <a:t>OPCIÓN C</a:t>
            </a:r>
          </a:p>
        </p:txBody>
      </p:sp>
      <p:sp>
        <p:nvSpPr>
          <p:cNvPr id="20" name="TextBox 19"/>
          <p:cNvSpPr txBox="1"/>
          <p:nvPr/>
        </p:nvSpPr>
        <p:spPr>
          <a:xfrm>
            <a:off x="8247888" y="2651759"/>
            <a:ext cx="2935224" cy="513080"/>
          </a:xfrm>
          <a:prstGeom prst="rect">
            <a:avLst/>
          </a:prstGeom>
          <a:noFill/>
        </p:spPr>
        <p:txBody>
          <a:bodyPr wrap="square" lIns="0" rIns="0" tIns="0" bIns="0">
            <a:normAutofit/>
          </a:bodyPr>
          <a:lstStyle/>
          <a:p>
            <a:pPr>
              <a:lnSpc>
                <a:spcPct val="105000"/>
              </a:lnSpc>
            </a:pPr>
            <a:r>
              <a:rPr sz="1500" b="0" i="0">
                <a:solidFill>
                  <a:srgbClr val="041E42"/>
                </a:solidFill>
                <a:latin typeface="Baskerville"/>
              </a:rPr>
              <a:t>Ampliada</a:t>
            </a:r>
          </a:p>
        </p:txBody>
      </p:sp>
      <p:sp>
        <p:nvSpPr>
          <p:cNvPr id="21" name="TextBox 20"/>
          <p:cNvSpPr txBox="1"/>
          <p:nvPr/>
        </p:nvSpPr>
        <p:spPr>
          <a:xfrm>
            <a:off x="8247888" y="3237991"/>
            <a:ext cx="2935224" cy="155448"/>
          </a:xfrm>
          <a:prstGeom prst="rect">
            <a:avLst/>
          </a:prstGeom>
          <a:noFill/>
        </p:spPr>
        <p:txBody>
          <a:bodyPr wrap="square" lIns="0" rIns="0" tIns="0" bIns="0">
            <a:normAutofit/>
          </a:bodyPr>
          <a:lstStyle/>
          <a:p>
            <a:pPr>
              <a:lnSpc>
                <a:spcPct val="140000"/>
              </a:lnSpc>
              <a:spcAft>
                <a:spcPts val="500"/>
              </a:spcAft>
            </a:pPr>
            <a:r>
              <a:rPr sz="860" b="0" i="0">
                <a:solidFill>
                  <a:srgbClr val="041E42"/>
                </a:solidFill>
                <a:latin typeface="Avenir Next"/>
              </a:rPr>
              <a:t>Las doce semanas con mayor cobertura de audiencia y de red.</a:t>
            </a:r>
          </a:p>
        </p:txBody>
      </p:sp>
      <p:sp>
        <p:nvSpPr>
          <p:cNvPr id="22" name="TextBox 21"/>
          <p:cNvSpPr txBox="1"/>
          <p:nvPr/>
        </p:nvSpPr>
        <p:spPr>
          <a:xfrm>
            <a:off x="8247888" y="3448303"/>
            <a:ext cx="2935224" cy="1207008"/>
          </a:xfrm>
          <a:prstGeom prst="rect">
            <a:avLst/>
          </a:prstGeom>
          <a:noFill/>
        </p:spPr>
        <p:txBody>
          <a:bodyPr wrap="square" lIns="0" rIns="0" tIns="0" bIns="0">
            <a:normAutofit/>
          </a:bodyPr>
          <a:lstStyle/>
          <a:p>
            <a:pPr>
              <a:lnSpc>
                <a:spcPct val="118000"/>
              </a:lnSpc>
              <a:spcAft>
                <a:spcPts val="350"/>
              </a:spcAft>
            </a:pPr>
            <a:r>
              <a:rPr sz="840" b="1">
                <a:solidFill>
                  <a:srgbClr val="004C97"/>
                </a:solidFill>
                <a:latin typeface="Avenir Next"/>
              </a:rPr>
              <a:t>•  </a:t>
            </a:r>
            <a:r>
              <a:rPr sz="840">
                <a:solidFill>
                  <a:srgbClr val="041E42"/>
                </a:solidFill>
                <a:latin typeface="Avenir Next"/>
              </a:rPr>
              <a:t>Todo lo de la opción B</a:t>
            </a:r>
          </a:p>
          <a:p>
            <a:pPr>
              <a:lnSpc>
                <a:spcPct val="118000"/>
              </a:lnSpc>
              <a:spcAft>
                <a:spcPts val="350"/>
              </a:spcAft>
            </a:pPr>
            <a:r>
              <a:rPr sz="840" b="1">
                <a:solidFill>
                  <a:srgbClr val="004C97"/>
                </a:solidFill>
                <a:latin typeface="Avenir Next"/>
              </a:rPr>
              <a:t>•  </a:t>
            </a:r>
            <a:r>
              <a:rPr sz="840">
                <a:solidFill>
                  <a:srgbClr val="041E42"/>
                </a:solidFill>
                <a:latin typeface="Avenir Next"/>
              </a:rPr>
              <a:t>AXXIS sumado al ecosistema</a:t>
            </a:r>
          </a:p>
          <a:p>
            <a:pPr>
              <a:lnSpc>
                <a:spcPct val="118000"/>
              </a:lnSpc>
              <a:spcAft>
                <a:spcPts val="350"/>
              </a:spcAft>
            </a:pPr>
            <a:r>
              <a:rPr sz="840" b="1">
                <a:solidFill>
                  <a:srgbClr val="004C97"/>
                </a:solidFill>
                <a:latin typeface="Avenir Next"/>
              </a:rPr>
              <a:t>•  </a:t>
            </a:r>
            <a:r>
              <a:rPr sz="840">
                <a:solidFill>
                  <a:srgbClr val="041E42"/>
                </a:solidFill>
                <a:latin typeface="Avenir Next"/>
              </a:rPr>
              <a:t>40 aliados verificados</a:t>
            </a:r>
          </a:p>
          <a:p>
            <a:pPr>
              <a:lnSpc>
                <a:spcPct val="118000"/>
              </a:lnSpc>
              <a:spcAft>
                <a:spcPts val="350"/>
              </a:spcAft>
            </a:pPr>
            <a:r>
              <a:rPr sz="840" b="1">
                <a:solidFill>
                  <a:srgbClr val="004C97"/>
                </a:solidFill>
                <a:latin typeface="Avenir Next"/>
              </a:rPr>
              <a:t>•  </a:t>
            </a:r>
            <a:r>
              <a:rPr sz="840">
                <a:solidFill>
                  <a:srgbClr val="041E42"/>
                </a:solidFill>
                <a:latin typeface="Avenir Next"/>
              </a:rPr>
              <a:t>Dos experiencias por invitación</a:t>
            </a:r>
          </a:p>
          <a:p>
            <a:pPr>
              <a:lnSpc>
                <a:spcPct val="118000"/>
              </a:lnSpc>
              <a:spcAft>
                <a:spcPts val="350"/>
              </a:spcAft>
            </a:pPr>
            <a:r>
              <a:rPr sz="840" b="1">
                <a:solidFill>
                  <a:srgbClr val="004C97"/>
                </a:solidFill>
                <a:latin typeface="Avenir Next"/>
              </a:rPr>
              <a:t>•  </a:t>
            </a:r>
            <a:r>
              <a:rPr sz="840">
                <a:solidFill>
                  <a:srgbClr val="041E42"/>
                </a:solidFill>
                <a:latin typeface="Avenir Next"/>
              </a:rPr>
              <a:t>Línea de video con personaje invitado</a:t>
            </a:r>
          </a:p>
          <a:p>
            <a:pPr>
              <a:lnSpc>
                <a:spcPct val="118000"/>
              </a:lnSpc>
              <a:spcAft>
                <a:spcPts val="350"/>
              </a:spcAft>
            </a:pPr>
            <a:r>
              <a:rPr sz="840" b="1">
                <a:solidFill>
                  <a:srgbClr val="004C97"/>
                </a:solidFill>
                <a:latin typeface="Avenir Next"/>
              </a:rPr>
              <a:t>•  </a:t>
            </a:r>
            <a:r>
              <a:rPr sz="840">
                <a:solidFill>
                  <a:srgbClr val="041E42"/>
                </a:solidFill>
                <a:latin typeface="Avenir Next"/>
              </a:rPr>
              <a:t>LinkedIn y programática</a:t>
            </a:r>
          </a:p>
        </p:txBody>
      </p:sp>
      <p:sp>
        <p:nvSpPr>
          <p:cNvPr id="23" name="TextBox 22"/>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TARIFAS 2026 SUJETAS A IVA</a:t>
            </a:r>
          </a:p>
        </p:txBody>
      </p:sp>
      <p:sp>
        <p:nvSpPr>
          <p:cNvPr id="24" name="TextBox 23"/>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AF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l.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004C97"/>
                </a:solidFill>
                <a:latin typeface="Avenir Next"/>
              </a:rPr>
              <a:t>COMPARATIVO</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041E42"/>
                </a:solidFill>
                <a:latin typeface="Baskerville"/>
              </a:rPr>
              <a:t>Qué incluye cada </a:t>
            </a:r>
            <a:r>
              <a:rPr sz="2900" b="0" i="1">
                <a:solidFill>
                  <a:srgbClr val="004C97"/>
                </a:solidFill>
                <a:latin typeface="Baskerville"/>
              </a:rPr>
              <a:t>opción</a:t>
            </a:r>
          </a:p>
        </p:txBody>
      </p:sp>
      <p:sp>
        <p:nvSpPr>
          <p:cNvPr id="6" name="Rectangle 5"/>
          <p:cNvSpPr/>
          <p:nvPr/>
        </p:nvSpPr>
        <p:spPr>
          <a:xfrm>
            <a:off x="731520" y="1517904"/>
            <a:ext cx="10728655" cy="10972"/>
          </a:xfrm>
          <a:prstGeom prst="rect">
            <a:avLst/>
          </a:prstGeom>
          <a:solidFill>
            <a:srgbClr val="D3D8E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graphicFrame>
        <p:nvGraphicFramePr>
          <p:cNvPr id="7" name="Table 6"/>
          <p:cNvGraphicFramePr>
            <a:graphicFrameLocks noGrp="1"/>
          </p:cNvGraphicFramePr>
          <p:nvPr/>
        </p:nvGraphicFramePr>
        <p:xfrm>
          <a:off x="731520" y="1700784"/>
          <a:ext cx="10728654" cy="3319272"/>
        </p:xfrm>
        <a:graphic>
          <a:graphicData uri="http://schemas.openxmlformats.org/drawingml/2006/table">
            <a:tbl>
              <a:tblPr>
                <a:tableStyleId>{5C22544A-7EE6-4342-B048-85BDC9FD1C3A}</a:tableStyleId>
              </a:tblPr>
              <a:tblGrid>
                <a:gridCol w="3081635"/>
                <a:gridCol w="2396827"/>
                <a:gridCol w="2739231"/>
                <a:gridCol w="2510961"/>
              </a:tblGrid>
              <a:tr h="274320">
                <a:tc>
                  <a:txBody>
                    <a:bodyPr/>
                    <a:lstStyle/>
                    <a:p>
                      <a:pPr>
                        <a:lnSpc>
                          <a:spcPct val="120000"/>
                        </a:lnSpc>
                      </a:pPr>
                      <a:r>
                        <a:rPr sz="720" b="1" spc="110">
                          <a:solidFill>
                            <a:srgbClr val="F3FAFA"/>
                          </a:solidFill>
                          <a:latin typeface="Avenir Next"/>
                        </a:rPr>
                        <a:t>Componente</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A · Esencial</a:t>
                      </a:r>
                    </a:p>
                  </a:txBody>
                  <a:tcPr marL="82296" marR="82296" marT="22860" marB="22860" anchor="ctr">
                    <a:solidFill>
                      <a:srgbClr val="041E42"/>
                    </a:solidFill>
                  </a:tcPr>
                </a:tc>
                <a:tc>
                  <a:txBody>
                    <a:bodyPr/>
                    <a:lstStyle/>
                    <a:p>
                      <a:pPr>
                        <a:lnSpc>
                          <a:spcPct val="120000"/>
                        </a:lnSpc>
                      </a:pPr>
                      <a:r>
                        <a:rPr sz="720" b="1" spc="110">
                          <a:solidFill>
                            <a:srgbClr val="F3FAFA"/>
                          </a:solidFill>
                          <a:latin typeface="Avenir Next"/>
                        </a:rPr>
                        <a:t>B · Completo</a:t>
                      </a:r>
                    </a:p>
                  </a:txBody>
                  <a:tcPr marL="82296" marR="82296" marT="22860" marB="22860" anchor="ctr">
                    <a:solidFill>
                      <a:srgbClr val="004C97"/>
                    </a:solidFill>
                  </a:tcPr>
                </a:tc>
                <a:tc>
                  <a:txBody>
                    <a:bodyPr/>
                    <a:lstStyle/>
                    <a:p>
                      <a:pPr>
                        <a:lnSpc>
                          <a:spcPct val="120000"/>
                        </a:lnSpc>
                      </a:pPr>
                      <a:r>
                        <a:rPr sz="720" b="1" spc="110">
                          <a:solidFill>
                            <a:srgbClr val="F3FAFA"/>
                          </a:solidFill>
                          <a:latin typeface="Avenir Next"/>
                        </a:rPr>
                        <a:t>C · Insignia</a:t>
                      </a:r>
                    </a:p>
                  </a:txBody>
                  <a:tcPr marL="82296" marR="82296" marT="22860" marB="22860" anchor="ctr">
                    <a:solidFill>
                      <a:srgbClr val="041E42"/>
                    </a:solidFill>
                  </a:tcPr>
                </a:tc>
              </a:tr>
              <a:tr h="338328">
                <a:tc>
                  <a:txBody>
                    <a:bodyPr/>
                    <a:lstStyle/>
                    <a:p>
                      <a:pPr>
                        <a:lnSpc>
                          <a:spcPct val="120000"/>
                        </a:lnSpc>
                      </a:pPr>
                      <a:r>
                        <a:rPr sz="840" b="1">
                          <a:solidFill>
                            <a:srgbClr val="041E42"/>
                          </a:solidFill>
                          <a:latin typeface="Baskerville"/>
                        </a:rPr>
                        <a:t>Duración</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12 semanas</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12 semanas</a:t>
                      </a:r>
                    </a:p>
                  </a:txBody>
                  <a:tcPr marL="82296" marR="82296" marT="22860" marB="22860" anchor="ctr">
                    <a:solidFill>
                      <a:srgbClr val="F5F3C4"/>
                    </a:solidFill>
                  </a:tcPr>
                </a:tc>
                <a:tc>
                  <a:txBody>
                    <a:bodyPr/>
                    <a:lstStyle/>
                    <a:p>
                      <a:pPr>
                        <a:lnSpc>
                          <a:spcPct val="120000"/>
                        </a:lnSpc>
                      </a:pPr>
                      <a:r>
                        <a:rPr sz="840" b="0">
                          <a:solidFill>
                            <a:srgbClr val="041E42"/>
                          </a:solidFill>
                          <a:latin typeface="Avenir Next"/>
                        </a:rPr>
                        <a:t>12 semanas</a:t>
                      </a:r>
                    </a:p>
                  </a:txBody>
                  <a:tcPr marL="82296" marR="82296" marT="22860" marB="22860" anchor="ctr">
                    <a:solidFill>
                      <a:srgbClr val="F3FAFA"/>
                    </a:solidFill>
                  </a:tcPr>
                </a:tc>
              </a:tr>
              <a:tr h="338328">
                <a:tc>
                  <a:txBody>
                    <a:bodyPr/>
                    <a:lstStyle/>
                    <a:p>
                      <a:pPr>
                        <a:lnSpc>
                          <a:spcPct val="120000"/>
                        </a:lnSpc>
                      </a:pPr>
                      <a:r>
                        <a:rPr sz="840" b="1">
                          <a:solidFill>
                            <a:srgbClr val="041E42"/>
                          </a:solidFill>
                          <a:latin typeface="Baskerville"/>
                        </a:rPr>
                        <a:t>Marcas</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Solo Diners</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Solo Diners</a:t>
                      </a:r>
                    </a:p>
                  </a:txBody>
                  <a:tcPr marL="82296" marR="82296" marT="22860" marB="22860" anchor="ctr">
                    <a:solidFill>
                      <a:srgbClr val="F5F3C4"/>
                    </a:solidFill>
                  </a:tcPr>
                </a:tc>
                <a:tc>
                  <a:txBody>
                    <a:bodyPr/>
                    <a:lstStyle/>
                    <a:p>
                      <a:pPr>
                        <a:lnSpc>
                          <a:spcPct val="120000"/>
                        </a:lnSpc>
                      </a:pPr>
                      <a:r>
                        <a:rPr sz="840" b="0">
                          <a:solidFill>
                            <a:srgbClr val="041E42"/>
                          </a:solidFill>
                          <a:latin typeface="Avenir Next"/>
                        </a:rPr>
                        <a:t>Diners + AXXIS</a:t>
                      </a:r>
                    </a:p>
                  </a:txBody>
                  <a:tcPr marL="82296" marR="82296" marT="22860" marB="22860" anchor="ctr">
                    <a:solidFill>
                      <a:srgbClr val="F3FAFA"/>
                    </a:solidFill>
                  </a:tcPr>
                </a:tc>
              </a:tr>
              <a:tr h="338328">
                <a:tc>
                  <a:txBody>
                    <a:bodyPr/>
                    <a:lstStyle/>
                    <a:p>
                      <a:pPr>
                        <a:lnSpc>
                          <a:spcPct val="120000"/>
                        </a:lnSpc>
                      </a:pPr>
                      <a:r>
                        <a:rPr sz="840" b="1">
                          <a:solidFill>
                            <a:srgbClr val="041E42"/>
                          </a:solidFill>
                          <a:latin typeface="Baskerville"/>
                        </a:rPr>
                        <a:t>Alto impacto impreso</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1 pieza</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1 pieza</a:t>
                      </a:r>
                    </a:p>
                  </a:txBody>
                  <a:tcPr marL="82296" marR="82296" marT="22860" marB="22860" anchor="ctr">
                    <a:solidFill>
                      <a:srgbClr val="F5F3C4"/>
                    </a:solidFill>
                  </a:tcPr>
                </a:tc>
                <a:tc>
                  <a:txBody>
                    <a:bodyPr/>
                    <a:lstStyle/>
                    <a:p>
                      <a:pPr>
                        <a:lnSpc>
                          <a:spcPct val="120000"/>
                        </a:lnSpc>
                      </a:pPr>
                      <a:r>
                        <a:rPr sz="840" b="0">
                          <a:solidFill>
                            <a:srgbClr val="041E42"/>
                          </a:solidFill>
                          <a:latin typeface="Avenir Next"/>
                        </a:rPr>
                        <a:t>2 piezas</a:t>
                      </a:r>
                    </a:p>
                  </a:txBody>
                  <a:tcPr marL="82296" marR="82296" marT="22860" marB="22860" anchor="ctr">
                    <a:solidFill>
                      <a:srgbClr val="F3FAFA"/>
                    </a:solidFill>
                  </a:tcPr>
                </a:tc>
              </a:tr>
              <a:tr h="338328">
                <a:tc>
                  <a:txBody>
                    <a:bodyPr/>
                    <a:lstStyle/>
                    <a:p>
                      <a:pPr>
                        <a:lnSpc>
                          <a:spcPct val="120000"/>
                        </a:lnSpc>
                      </a:pPr>
                      <a:r>
                        <a:rPr sz="840" b="1">
                          <a:solidFill>
                            <a:srgbClr val="041E42"/>
                          </a:solidFill>
                          <a:latin typeface="Baskerville"/>
                        </a:rPr>
                        <a:t>Pauta digital</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No incluye</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4 canales</a:t>
                      </a:r>
                    </a:p>
                  </a:txBody>
                  <a:tcPr marL="82296" marR="82296" marT="22860" marB="22860" anchor="ctr">
                    <a:solidFill>
                      <a:srgbClr val="F5F3C4"/>
                    </a:solidFill>
                  </a:tcPr>
                </a:tc>
                <a:tc>
                  <a:txBody>
                    <a:bodyPr/>
                    <a:lstStyle/>
                    <a:p>
                      <a:pPr>
                        <a:lnSpc>
                          <a:spcPct val="120000"/>
                        </a:lnSpc>
                      </a:pPr>
                      <a:r>
                        <a:rPr sz="840" b="0">
                          <a:solidFill>
                            <a:srgbClr val="041E42"/>
                          </a:solidFill>
                          <a:latin typeface="Avenir Next"/>
                        </a:rPr>
                        <a:t>6 canales</a:t>
                      </a:r>
                    </a:p>
                  </a:txBody>
                  <a:tcPr marL="82296" marR="82296" marT="22860" marB="22860" anchor="ctr">
                    <a:solidFill>
                      <a:srgbClr val="F3FAFA"/>
                    </a:solidFill>
                  </a:tcPr>
                </a:tc>
              </a:tr>
              <a:tr h="338328">
                <a:tc>
                  <a:txBody>
                    <a:bodyPr/>
                    <a:lstStyle/>
                    <a:p>
                      <a:pPr>
                        <a:lnSpc>
                          <a:spcPct val="120000"/>
                        </a:lnSpc>
                      </a:pPr>
                      <a:r>
                        <a:rPr sz="840" b="1">
                          <a:solidFill>
                            <a:srgbClr val="041E42"/>
                          </a:solidFill>
                          <a:latin typeface="Baskerville"/>
                        </a:rPr>
                        <a:t>Aliados verificados</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No incluye</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20</a:t>
                      </a:r>
                    </a:p>
                  </a:txBody>
                  <a:tcPr marL="82296" marR="82296" marT="22860" marB="22860" anchor="ctr">
                    <a:solidFill>
                      <a:srgbClr val="F5F3C4"/>
                    </a:solidFill>
                  </a:tcPr>
                </a:tc>
                <a:tc>
                  <a:txBody>
                    <a:bodyPr/>
                    <a:lstStyle/>
                    <a:p>
                      <a:pPr>
                        <a:lnSpc>
                          <a:spcPct val="120000"/>
                        </a:lnSpc>
                      </a:pPr>
                      <a:r>
                        <a:rPr sz="840" b="0">
                          <a:solidFill>
                            <a:srgbClr val="041E42"/>
                          </a:solidFill>
                          <a:latin typeface="Avenir Next"/>
                        </a:rPr>
                        <a:t>40</a:t>
                      </a:r>
                    </a:p>
                  </a:txBody>
                  <a:tcPr marL="82296" marR="82296" marT="22860" marB="22860" anchor="ctr">
                    <a:solidFill>
                      <a:srgbClr val="F3FAFA"/>
                    </a:solidFill>
                  </a:tcPr>
                </a:tc>
              </a:tr>
              <a:tr h="338328">
                <a:tc>
                  <a:txBody>
                    <a:bodyPr/>
                    <a:lstStyle/>
                    <a:p>
                      <a:pPr>
                        <a:lnSpc>
                          <a:spcPct val="120000"/>
                        </a:lnSpc>
                      </a:pPr>
                      <a:r>
                        <a:rPr sz="840" b="1">
                          <a:solidFill>
                            <a:srgbClr val="041E42"/>
                          </a:solidFill>
                          <a:latin typeface="Baskerville"/>
                        </a:rPr>
                        <a:t>Sello en punto de venta</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No incluye</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Sí</a:t>
                      </a:r>
                    </a:p>
                  </a:txBody>
                  <a:tcPr marL="82296" marR="82296" marT="22860" marB="22860" anchor="ctr">
                    <a:solidFill>
                      <a:srgbClr val="F5F3C4"/>
                    </a:solidFill>
                  </a:tcPr>
                </a:tc>
                <a:tc>
                  <a:txBody>
                    <a:bodyPr/>
                    <a:lstStyle/>
                    <a:p>
                      <a:pPr>
                        <a:lnSpc>
                          <a:spcPct val="120000"/>
                        </a:lnSpc>
                      </a:pPr>
                      <a:r>
                        <a:rPr sz="840" b="0">
                          <a:solidFill>
                            <a:srgbClr val="041E42"/>
                          </a:solidFill>
                          <a:latin typeface="Avenir Next"/>
                        </a:rPr>
                        <a:t>Sí</a:t>
                      </a:r>
                    </a:p>
                  </a:txBody>
                  <a:tcPr marL="82296" marR="82296" marT="22860" marB="22860" anchor="ctr">
                    <a:solidFill>
                      <a:srgbClr val="F3FAFA"/>
                    </a:solidFill>
                  </a:tcPr>
                </a:tc>
              </a:tr>
              <a:tr h="338328">
                <a:tc>
                  <a:txBody>
                    <a:bodyPr/>
                    <a:lstStyle/>
                    <a:p>
                      <a:pPr>
                        <a:lnSpc>
                          <a:spcPct val="120000"/>
                        </a:lnSpc>
                      </a:pPr>
                      <a:r>
                        <a:rPr sz="840" b="1">
                          <a:solidFill>
                            <a:srgbClr val="041E42"/>
                          </a:solidFill>
                          <a:latin typeface="Baskerville"/>
                        </a:rPr>
                        <a:t>Experiencias por invitación</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No incluye</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1</a:t>
                      </a:r>
                    </a:p>
                  </a:txBody>
                  <a:tcPr marL="82296" marR="82296" marT="22860" marB="22860" anchor="ctr">
                    <a:solidFill>
                      <a:srgbClr val="F5F3C4"/>
                    </a:solidFill>
                  </a:tcPr>
                </a:tc>
                <a:tc>
                  <a:txBody>
                    <a:bodyPr/>
                    <a:lstStyle/>
                    <a:p>
                      <a:pPr>
                        <a:lnSpc>
                          <a:spcPct val="120000"/>
                        </a:lnSpc>
                      </a:pPr>
                      <a:r>
                        <a:rPr sz="840" b="0">
                          <a:solidFill>
                            <a:srgbClr val="041E42"/>
                          </a:solidFill>
                          <a:latin typeface="Avenir Next"/>
                        </a:rPr>
                        <a:t>2</a:t>
                      </a:r>
                    </a:p>
                  </a:txBody>
                  <a:tcPr marL="82296" marR="82296" marT="22860" marB="22860" anchor="ctr">
                    <a:solidFill>
                      <a:srgbClr val="F3FAFA"/>
                    </a:solidFill>
                  </a:tcPr>
                </a:tc>
              </a:tr>
              <a:tr h="338328">
                <a:tc>
                  <a:txBody>
                    <a:bodyPr/>
                    <a:lstStyle/>
                    <a:p>
                      <a:pPr>
                        <a:lnSpc>
                          <a:spcPct val="120000"/>
                        </a:lnSpc>
                      </a:pPr>
                      <a:r>
                        <a:rPr sz="840" b="1">
                          <a:solidFill>
                            <a:srgbClr val="041E42"/>
                          </a:solidFill>
                          <a:latin typeface="Baskerville"/>
                        </a:rPr>
                        <a:t>Video</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Manifiesto</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Manifiesto + cocineros</a:t>
                      </a:r>
                    </a:p>
                  </a:txBody>
                  <a:tcPr marL="82296" marR="82296" marT="22860" marB="22860" anchor="ctr">
                    <a:solidFill>
                      <a:srgbClr val="F5F3C4"/>
                    </a:solidFill>
                  </a:tcPr>
                </a:tc>
                <a:tc>
                  <a:txBody>
                    <a:bodyPr/>
                    <a:lstStyle/>
                    <a:p>
                      <a:pPr>
                        <a:lnSpc>
                          <a:spcPct val="120000"/>
                        </a:lnSpc>
                      </a:pPr>
                      <a:r>
                        <a:rPr sz="840" b="0">
                          <a:solidFill>
                            <a:srgbClr val="041E42"/>
                          </a:solidFill>
                          <a:latin typeface="Avenir Next"/>
                        </a:rPr>
                        <a:t>+ personaje invitado</a:t>
                      </a:r>
                    </a:p>
                  </a:txBody>
                  <a:tcPr marL="82296" marR="82296" marT="22860" marB="22860" anchor="ctr">
                    <a:solidFill>
                      <a:srgbClr val="F3FAFA"/>
                    </a:solidFill>
                  </a:tcPr>
                </a:tc>
              </a:tr>
              <a:tr h="338328">
                <a:tc>
                  <a:txBody>
                    <a:bodyPr/>
                    <a:lstStyle/>
                    <a:p>
                      <a:pPr>
                        <a:lnSpc>
                          <a:spcPct val="120000"/>
                        </a:lnSpc>
                      </a:pPr>
                      <a:r>
                        <a:rPr sz="840" b="1">
                          <a:solidFill>
                            <a:srgbClr val="041E42"/>
                          </a:solidFill>
                          <a:latin typeface="Baskerville"/>
                        </a:rPr>
                        <a:t>Medición de solicitudes</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Parcial</a:t>
                      </a:r>
                    </a:p>
                  </a:txBody>
                  <a:tcPr marL="82296" marR="82296" marT="22860" marB="22860" anchor="ctr">
                    <a:solidFill>
                      <a:srgbClr val="F3FAFA"/>
                    </a:solidFill>
                  </a:tcPr>
                </a:tc>
                <a:tc>
                  <a:txBody>
                    <a:bodyPr/>
                    <a:lstStyle/>
                    <a:p>
                      <a:pPr>
                        <a:lnSpc>
                          <a:spcPct val="120000"/>
                        </a:lnSpc>
                      </a:pPr>
                      <a:r>
                        <a:rPr sz="840" b="0">
                          <a:solidFill>
                            <a:srgbClr val="041E42"/>
                          </a:solidFill>
                          <a:latin typeface="Avenir Next"/>
                        </a:rPr>
                        <a:t>Completa</a:t>
                      </a:r>
                    </a:p>
                  </a:txBody>
                  <a:tcPr marL="82296" marR="82296" marT="22860" marB="22860" anchor="ctr">
                    <a:solidFill>
                      <a:srgbClr val="F5F3C4"/>
                    </a:solidFill>
                  </a:tcPr>
                </a:tc>
                <a:tc>
                  <a:txBody>
                    <a:bodyPr/>
                    <a:lstStyle/>
                    <a:p>
                      <a:pPr>
                        <a:lnSpc>
                          <a:spcPct val="120000"/>
                        </a:lnSpc>
                      </a:pPr>
                      <a:r>
                        <a:rPr sz="840" b="0">
                          <a:solidFill>
                            <a:srgbClr val="041E42"/>
                          </a:solidFill>
                          <a:latin typeface="Avenir Next"/>
                        </a:rPr>
                        <a:t>Completa</a:t>
                      </a:r>
                    </a:p>
                  </a:txBody>
                  <a:tcPr marL="82296" marR="82296" marT="22860" marB="22860" anchor="ctr">
                    <a:solidFill>
                      <a:srgbClr val="F3FAFA"/>
                    </a:solidFill>
                  </a:tcPr>
                </a:tc>
              </a:tr>
            </a:tbl>
          </a:graphicData>
        </a:graphic>
      </p:graphicFrame>
      <p:sp>
        <p:nvSpPr>
          <p:cNvPr id="8" name="Rounded Rectangle 7"/>
          <p:cNvSpPr/>
          <p:nvPr/>
        </p:nvSpPr>
        <p:spPr>
          <a:xfrm>
            <a:off x="731520" y="5431536"/>
            <a:ext cx="10728655" cy="713232"/>
          </a:xfrm>
          <a:prstGeom prst="roundRect">
            <a:avLst>
              <a:gd name="adj" fmla="val 24358"/>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69264" y="5669279"/>
            <a:ext cx="10253167" cy="201168"/>
          </a:xfrm>
          <a:prstGeom prst="rect">
            <a:avLst/>
          </a:prstGeom>
          <a:noFill/>
        </p:spPr>
        <p:txBody>
          <a:bodyPr wrap="square" lIns="0" rIns="0" tIns="0" bIns="0">
            <a:normAutofit/>
          </a:bodyPr>
          <a:lstStyle/>
          <a:p>
            <a:r>
              <a:rPr sz="700" b="1" i="0" spc="130">
                <a:solidFill>
                  <a:srgbClr val="004C97"/>
                </a:solidFill>
                <a:latin typeface="Avenir Next"/>
              </a:rPr>
              <a:t>POR QUÉ RECOMENDAMOS LA OPCIÓN B</a:t>
            </a:r>
          </a:p>
        </p:txBody>
      </p:sp>
      <p:sp>
        <p:nvSpPr>
          <p:cNvPr id="10" name="TextBox 9"/>
          <p:cNvSpPr txBox="1"/>
          <p:nvPr/>
        </p:nvSpPr>
        <p:spPr>
          <a:xfrm>
            <a:off x="969264" y="5907023"/>
            <a:ext cx="10253167" cy="155448"/>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Es el alcance mínimo que activa los dos objetivos y deja medición de punta a punta. La opción A instala marca sin construir la red. La C amplía cobertura cuando el presupuesto lo permita.</a:t>
            </a:r>
          </a:p>
        </p:txBody>
      </p:sp>
      <p:sp>
        <p:nvSpPr>
          <p:cNvPr id="11" name="TextBox 10"/>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5A6B85"/>
                </a:solidFill>
                <a:latin typeface="Avenir Next"/>
              </a:rPr>
              <a:t>TARIFAS 2026 SUJETAS A IVA</a:t>
            </a:r>
          </a:p>
        </p:txBody>
      </p:sp>
      <p:sp>
        <p:nvSpPr>
          <p:cNvPr id="12" name="TextBox 11"/>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004C97"/>
                </a:solidFill>
                <a:latin typeface="Avenir Nex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pic>
        <p:nvPicPr>
          <p:cNvPr id="3" name="Picture 2" descr="logo_lg-n.png"/>
          <p:cNvPicPr>
            <a:picLocks noChangeAspect="1"/>
          </p:cNvPicPr>
          <p:nvPr/>
        </p:nvPicPr>
        <p:blipFill>
          <a:blip r:embed="rId2"/>
          <a:stretch>
            <a:fillRect/>
          </a:stretch>
        </p:blipFill>
        <p:spPr>
          <a:xfrm>
            <a:off x="10436047" y="475488"/>
            <a:ext cx="1024128" cy="269997"/>
          </a:xfrm>
          <a:prstGeom prst="rect">
            <a:avLst/>
          </a:prstGeom>
        </p:spPr>
      </p:pic>
      <p:sp>
        <p:nvSpPr>
          <p:cNvPr id="4" name="TextBox 3"/>
          <p:cNvSpPr txBox="1"/>
          <p:nvPr/>
        </p:nvSpPr>
        <p:spPr>
          <a:xfrm>
            <a:off x="731520" y="566928"/>
            <a:ext cx="9448495" cy="219456"/>
          </a:xfrm>
          <a:prstGeom prst="rect">
            <a:avLst/>
          </a:prstGeom>
          <a:noFill/>
        </p:spPr>
        <p:txBody>
          <a:bodyPr wrap="square" lIns="0" rIns="0" tIns="0" bIns="0">
            <a:normAutofit/>
          </a:bodyPr>
          <a:lstStyle/>
          <a:p>
            <a:r>
              <a:rPr sz="800" b="1" i="0" spc="180">
                <a:solidFill>
                  <a:srgbClr val="F5F3C4"/>
                </a:solidFill>
                <a:latin typeface="Avenir Next"/>
              </a:rPr>
              <a:t>CASO DE REFERENCIA EN LA REGIÓN</a:t>
            </a:r>
          </a:p>
        </p:txBody>
      </p:sp>
      <p:sp>
        <p:nvSpPr>
          <p:cNvPr id="5" name="TextBox 4"/>
          <p:cNvSpPr txBox="1"/>
          <p:nvPr/>
        </p:nvSpPr>
        <p:spPr>
          <a:xfrm>
            <a:off x="731520" y="841248"/>
            <a:ext cx="9448495" cy="566928"/>
          </a:xfrm>
          <a:prstGeom prst="rect">
            <a:avLst/>
          </a:prstGeom>
          <a:noFill/>
        </p:spPr>
        <p:txBody>
          <a:bodyPr wrap="square" lIns="0" rIns="0" tIns="0" bIns="0">
            <a:normAutofit/>
          </a:bodyPr>
          <a:lstStyle/>
          <a:p>
            <a:pPr>
              <a:lnSpc>
                <a:spcPct val="102000"/>
              </a:lnSpc>
            </a:pPr>
            <a:r>
              <a:rPr sz="2900" b="0" i="0">
                <a:solidFill>
                  <a:srgbClr val="CCECF9"/>
                </a:solidFill>
                <a:latin typeface="Baskerville"/>
              </a:rPr>
              <a:t>Lo que ya funcionó en </a:t>
            </a:r>
            <a:r>
              <a:rPr sz="2900" b="0" i="1">
                <a:solidFill>
                  <a:srgbClr val="F5F3C4"/>
                </a:solidFill>
                <a:latin typeface="Baskerville"/>
              </a:rPr>
              <a:t>Ecuador</a:t>
            </a:r>
          </a:p>
        </p:txBody>
      </p:sp>
      <p:sp>
        <p:nvSpPr>
          <p:cNvPr id="6" name="TextBox 5"/>
          <p:cNvSpPr txBox="1"/>
          <p:nvPr/>
        </p:nvSpPr>
        <p:spPr>
          <a:xfrm>
            <a:off x="731520" y="1517904"/>
            <a:ext cx="8138160" cy="457200"/>
          </a:xfrm>
          <a:prstGeom prst="rect">
            <a:avLst/>
          </a:prstGeom>
          <a:noFill/>
        </p:spPr>
        <p:txBody>
          <a:bodyPr wrap="square" lIns="0" rIns="0" tIns="0" bIns="0">
            <a:normAutofit/>
          </a:bodyPr>
          <a:lstStyle/>
          <a:p>
            <a:pPr>
              <a:lnSpc>
                <a:spcPct val="140000"/>
              </a:lnSpc>
            </a:pPr>
            <a:r>
              <a:rPr sz="960" b="0" i="0">
                <a:solidFill>
                  <a:srgbClr val="A8C4DA"/>
                </a:solidFill>
                <a:latin typeface="Avenir Next"/>
              </a:rPr>
              <a:t>La franquicia construyó su territorio gastronómico apoyada en su propia casa editorial.</a:t>
            </a:r>
          </a:p>
        </p:txBody>
      </p:sp>
      <p:sp>
        <p:nvSpPr>
          <p:cNvPr id="7" name="Rectangle 6"/>
          <p:cNvSpPr/>
          <p:nvPr/>
        </p:nvSpPr>
        <p:spPr>
          <a:xfrm>
            <a:off x="731520" y="1993391"/>
            <a:ext cx="10728655" cy="10972"/>
          </a:xfrm>
          <a:prstGeom prst="rect">
            <a:avLst/>
          </a:prstGeom>
          <a:solidFill>
            <a:srgbClr val="A8C4DA"/>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8" name="Rounded Rectangle 7"/>
          <p:cNvSpPr/>
          <p:nvPr/>
        </p:nvSpPr>
        <p:spPr>
          <a:xfrm>
            <a:off x="731520" y="2176272"/>
            <a:ext cx="2121408" cy="1371600"/>
          </a:xfrm>
          <a:prstGeom prst="roundRect">
            <a:avLst>
              <a:gd name="adj" fmla="val 12666"/>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9" name="TextBox 8"/>
          <p:cNvSpPr txBox="1"/>
          <p:nvPr/>
        </p:nvSpPr>
        <p:spPr>
          <a:xfrm>
            <a:off x="950976" y="2359152"/>
            <a:ext cx="1682495" cy="182880"/>
          </a:xfrm>
          <a:prstGeom prst="rect">
            <a:avLst/>
          </a:prstGeom>
          <a:noFill/>
        </p:spPr>
        <p:txBody>
          <a:bodyPr wrap="square" lIns="0" rIns="0" tIns="0" bIns="0">
            <a:normAutofit/>
          </a:bodyPr>
          <a:lstStyle/>
          <a:p>
            <a:r>
              <a:rPr sz="680" b="1" i="0" spc="130">
                <a:solidFill>
                  <a:srgbClr val="F5F3C4"/>
                </a:solidFill>
                <a:latin typeface="Avenir Next"/>
              </a:rPr>
              <a:t>RECORDACIÓN DE MARCA</a:t>
            </a:r>
          </a:p>
        </p:txBody>
      </p:sp>
      <p:sp>
        <p:nvSpPr>
          <p:cNvPr id="10" name="TextBox 9"/>
          <p:cNvSpPr txBox="1"/>
          <p:nvPr/>
        </p:nvSpPr>
        <p:spPr>
          <a:xfrm>
            <a:off x="950976" y="2578608"/>
            <a:ext cx="1682495" cy="475488"/>
          </a:xfrm>
          <a:prstGeom prst="rect">
            <a:avLst/>
          </a:prstGeom>
          <a:noFill/>
        </p:spPr>
        <p:txBody>
          <a:bodyPr wrap="square" lIns="0" rIns="0" tIns="0" bIns="0">
            <a:normAutofit/>
          </a:bodyPr>
          <a:lstStyle/>
          <a:p>
            <a:pPr>
              <a:lnSpc>
                <a:spcPct val="100000"/>
              </a:lnSpc>
            </a:pPr>
            <a:r>
              <a:rPr sz="2500" b="0" i="0">
                <a:solidFill>
                  <a:srgbClr val="CCECF9"/>
                </a:solidFill>
                <a:latin typeface="Baskerville"/>
              </a:rPr>
              <a:t>76%</a:t>
            </a:r>
          </a:p>
        </p:txBody>
      </p:sp>
      <p:sp>
        <p:nvSpPr>
          <p:cNvPr id="11" name="TextBox 10"/>
          <p:cNvSpPr txBox="1"/>
          <p:nvPr/>
        </p:nvSpPr>
        <p:spPr>
          <a:xfrm>
            <a:off x="950976" y="3127248"/>
            <a:ext cx="1682495" cy="365760"/>
          </a:xfrm>
          <a:prstGeom prst="rect">
            <a:avLst/>
          </a:prstGeom>
          <a:noFill/>
        </p:spPr>
        <p:txBody>
          <a:bodyPr wrap="square" lIns="0" rIns="0" tIns="0" bIns="0">
            <a:normAutofit/>
          </a:bodyPr>
          <a:lstStyle/>
          <a:p>
            <a:pPr>
              <a:lnSpc>
                <a:spcPct val="130000"/>
              </a:lnSpc>
            </a:pPr>
            <a:r>
              <a:rPr sz="760" b="0" i="0">
                <a:solidFill>
                  <a:srgbClr val="CCECF9"/>
                </a:solidFill>
                <a:latin typeface="Avenir Next"/>
              </a:rPr>
              <a:t>en socios, en experiencias gastronómicas</a:t>
            </a:r>
          </a:p>
        </p:txBody>
      </p:sp>
      <p:sp>
        <p:nvSpPr>
          <p:cNvPr id="12" name="Rounded Rectangle 11"/>
          <p:cNvSpPr/>
          <p:nvPr/>
        </p:nvSpPr>
        <p:spPr>
          <a:xfrm>
            <a:off x="3035808" y="2176272"/>
            <a:ext cx="2121408" cy="1371600"/>
          </a:xfrm>
          <a:prstGeom prst="roundRect">
            <a:avLst>
              <a:gd name="adj" fmla="val 12666"/>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3" name="TextBox 12"/>
          <p:cNvSpPr txBox="1"/>
          <p:nvPr/>
        </p:nvSpPr>
        <p:spPr>
          <a:xfrm>
            <a:off x="3255264" y="2359152"/>
            <a:ext cx="1682495" cy="182880"/>
          </a:xfrm>
          <a:prstGeom prst="rect">
            <a:avLst/>
          </a:prstGeom>
          <a:noFill/>
        </p:spPr>
        <p:txBody>
          <a:bodyPr wrap="square" lIns="0" rIns="0" tIns="0" bIns="0">
            <a:normAutofit/>
          </a:bodyPr>
          <a:lstStyle/>
          <a:p>
            <a:r>
              <a:rPr sz="680" b="1" i="0" spc="130">
                <a:solidFill>
                  <a:srgbClr val="F5F3C4"/>
                </a:solidFill>
                <a:latin typeface="Avenir Next"/>
              </a:rPr>
              <a:t>INCREMENTO EN SOCIOS</a:t>
            </a:r>
          </a:p>
        </p:txBody>
      </p:sp>
      <p:sp>
        <p:nvSpPr>
          <p:cNvPr id="14" name="TextBox 13"/>
          <p:cNvSpPr txBox="1"/>
          <p:nvPr/>
        </p:nvSpPr>
        <p:spPr>
          <a:xfrm>
            <a:off x="3255264" y="2578608"/>
            <a:ext cx="1682495" cy="475488"/>
          </a:xfrm>
          <a:prstGeom prst="rect">
            <a:avLst/>
          </a:prstGeom>
          <a:noFill/>
        </p:spPr>
        <p:txBody>
          <a:bodyPr wrap="square" lIns="0" rIns="0" tIns="0" bIns="0">
            <a:normAutofit/>
          </a:bodyPr>
          <a:lstStyle/>
          <a:p>
            <a:pPr>
              <a:lnSpc>
                <a:spcPct val="100000"/>
              </a:lnSpc>
            </a:pPr>
            <a:r>
              <a:rPr sz="2500" b="0" i="0">
                <a:solidFill>
                  <a:srgbClr val="CCECF9"/>
                </a:solidFill>
                <a:latin typeface="Baskerville"/>
              </a:rPr>
              <a:t>+14%</a:t>
            </a:r>
          </a:p>
        </p:txBody>
      </p:sp>
      <p:sp>
        <p:nvSpPr>
          <p:cNvPr id="15" name="TextBox 14"/>
          <p:cNvSpPr txBox="1"/>
          <p:nvPr/>
        </p:nvSpPr>
        <p:spPr>
          <a:xfrm>
            <a:off x="3255264" y="3127248"/>
            <a:ext cx="1682495" cy="365760"/>
          </a:xfrm>
          <a:prstGeom prst="rect">
            <a:avLst/>
          </a:prstGeom>
          <a:noFill/>
        </p:spPr>
        <p:txBody>
          <a:bodyPr wrap="square" lIns="0" rIns="0" tIns="0" bIns="0">
            <a:normAutofit/>
          </a:bodyPr>
          <a:lstStyle/>
          <a:p>
            <a:pPr>
              <a:lnSpc>
                <a:spcPct val="130000"/>
              </a:lnSpc>
            </a:pPr>
            <a:r>
              <a:rPr sz="760" b="0" i="0">
                <a:solidFill>
                  <a:srgbClr val="CCECF9"/>
                </a:solidFill>
                <a:latin typeface="Avenir Next"/>
              </a:rPr>
              <a:t>en el territorio</a:t>
            </a:r>
          </a:p>
        </p:txBody>
      </p:sp>
      <p:sp>
        <p:nvSpPr>
          <p:cNvPr id="16" name="Rounded Rectangle 15"/>
          <p:cNvSpPr/>
          <p:nvPr/>
        </p:nvSpPr>
        <p:spPr>
          <a:xfrm>
            <a:off x="5340096" y="2176272"/>
            <a:ext cx="2121408" cy="1371600"/>
          </a:xfrm>
          <a:prstGeom prst="roundRect">
            <a:avLst>
              <a:gd name="adj" fmla="val 12666"/>
            </a:avLst>
          </a:prstGeom>
          <a:noFill/>
          <a:ln w="9525">
            <a:solidFill>
              <a:srgbClr val="3A5A7E"/>
            </a:solid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17" name="TextBox 16"/>
          <p:cNvSpPr txBox="1"/>
          <p:nvPr/>
        </p:nvSpPr>
        <p:spPr>
          <a:xfrm>
            <a:off x="5559552" y="2359152"/>
            <a:ext cx="1682495" cy="182880"/>
          </a:xfrm>
          <a:prstGeom prst="rect">
            <a:avLst/>
          </a:prstGeom>
          <a:noFill/>
        </p:spPr>
        <p:txBody>
          <a:bodyPr wrap="square" lIns="0" rIns="0" tIns="0" bIns="0">
            <a:normAutofit/>
          </a:bodyPr>
          <a:lstStyle/>
          <a:p>
            <a:r>
              <a:rPr sz="680" b="1" i="0" spc="130">
                <a:solidFill>
                  <a:srgbClr val="F5F3C4"/>
                </a:solidFill>
                <a:latin typeface="Avenir Next"/>
              </a:rPr>
              <a:t>RECETAS COMPILADAS</a:t>
            </a:r>
          </a:p>
        </p:txBody>
      </p:sp>
      <p:sp>
        <p:nvSpPr>
          <p:cNvPr id="18" name="TextBox 17"/>
          <p:cNvSpPr txBox="1"/>
          <p:nvPr/>
        </p:nvSpPr>
        <p:spPr>
          <a:xfrm>
            <a:off x="5559552" y="2578608"/>
            <a:ext cx="1682495" cy="475488"/>
          </a:xfrm>
          <a:prstGeom prst="rect">
            <a:avLst/>
          </a:prstGeom>
          <a:noFill/>
        </p:spPr>
        <p:txBody>
          <a:bodyPr wrap="square" lIns="0" rIns="0" tIns="0" bIns="0">
            <a:normAutofit/>
          </a:bodyPr>
          <a:lstStyle/>
          <a:p>
            <a:pPr>
              <a:lnSpc>
                <a:spcPct val="100000"/>
              </a:lnSpc>
            </a:pPr>
            <a:r>
              <a:rPr sz="2500" b="0" i="0">
                <a:solidFill>
                  <a:srgbClr val="CCECF9"/>
                </a:solidFill>
                <a:latin typeface="Baskerville"/>
              </a:rPr>
              <a:t>1.053</a:t>
            </a:r>
          </a:p>
        </p:txBody>
      </p:sp>
      <p:sp>
        <p:nvSpPr>
          <p:cNvPr id="19" name="TextBox 18"/>
          <p:cNvSpPr txBox="1"/>
          <p:nvPr/>
        </p:nvSpPr>
        <p:spPr>
          <a:xfrm>
            <a:off x="5559552" y="3127248"/>
            <a:ext cx="1682495" cy="365760"/>
          </a:xfrm>
          <a:prstGeom prst="rect">
            <a:avLst/>
          </a:prstGeom>
          <a:noFill/>
        </p:spPr>
        <p:txBody>
          <a:bodyPr wrap="square" lIns="0" rIns="0" tIns="0" bIns="0">
            <a:normAutofit/>
          </a:bodyPr>
          <a:lstStyle/>
          <a:p>
            <a:pPr>
              <a:lnSpc>
                <a:spcPct val="130000"/>
              </a:lnSpc>
            </a:pPr>
            <a:r>
              <a:rPr sz="760" b="0" i="0">
                <a:solidFill>
                  <a:srgbClr val="CCECF9"/>
                </a:solidFill>
                <a:latin typeface="Avenir Next"/>
              </a:rPr>
              <a:t>en libros producidos por su editorial</a:t>
            </a:r>
          </a:p>
        </p:txBody>
      </p:sp>
      <p:sp>
        <p:nvSpPr>
          <p:cNvPr id="20" name="Rounded Rectangle 19"/>
          <p:cNvSpPr/>
          <p:nvPr/>
        </p:nvSpPr>
        <p:spPr>
          <a:xfrm>
            <a:off x="731520" y="3694176"/>
            <a:ext cx="6675120" cy="2450592"/>
          </a:xfrm>
          <a:prstGeom prst="roundRect">
            <a:avLst>
              <a:gd name="adj" fmla="val 7089"/>
            </a:avLst>
          </a:prstGeom>
          <a:solidFill>
            <a:srgbClr val="F5F3C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1" name="TextBox 20"/>
          <p:cNvSpPr txBox="1"/>
          <p:nvPr/>
        </p:nvSpPr>
        <p:spPr>
          <a:xfrm>
            <a:off x="969264" y="3931920"/>
            <a:ext cx="6199631" cy="201168"/>
          </a:xfrm>
          <a:prstGeom prst="rect">
            <a:avLst/>
          </a:prstGeom>
          <a:noFill/>
        </p:spPr>
        <p:txBody>
          <a:bodyPr wrap="square" lIns="0" rIns="0" tIns="0" bIns="0">
            <a:normAutofit/>
          </a:bodyPr>
          <a:lstStyle/>
          <a:p>
            <a:r>
              <a:rPr sz="700" b="1" i="0" spc="130">
                <a:solidFill>
                  <a:srgbClr val="004C97"/>
                </a:solidFill>
                <a:latin typeface="Avenir Next"/>
              </a:rPr>
              <a:t>LO QUE DEMUESTRA</a:t>
            </a:r>
          </a:p>
        </p:txBody>
      </p:sp>
      <p:sp>
        <p:nvSpPr>
          <p:cNvPr id="22" name="TextBox 21"/>
          <p:cNvSpPr txBox="1"/>
          <p:nvPr/>
        </p:nvSpPr>
        <p:spPr>
          <a:xfrm>
            <a:off x="969264" y="4169663"/>
            <a:ext cx="6199631" cy="513080"/>
          </a:xfrm>
          <a:prstGeom prst="rect">
            <a:avLst/>
          </a:prstGeom>
          <a:noFill/>
        </p:spPr>
        <p:txBody>
          <a:bodyPr wrap="square" lIns="0" rIns="0" tIns="0" bIns="0">
            <a:normAutofit/>
          </a:bodyPr>
          <a:lstStyle/>
          <a:p>
            <a:pPr>
              <a:lnSpc>
                <a:spcPct val="105000"/>
              </a:lnSpc>
            </a:pPr>
            <a:r>
              <a:rPr sz="1500" b="0" i="0">
                <a:solidFill>
                  <a:srgbClr val="041E42"/>
                </a:solidFill>
                <a:latin typeface="Baskerville"/>
              </a:rPr>
              <a:t>La casa editorial es el motor</a:t>
            </a:r>
          </a:p>
        </p:txBody>
      </p:sp>
      <p:sp>
        <p:nvSpPr>
          <p:cNvPr id="23" name="TextBox 22"/>
          <p:cNvSpPr txBox="1"/>
          <p:nvPr/>
        </p:nvSpPr>
        <p:spPr>
          <a:xfrm>
            <a:off x="969264" y="4755895"/>
            <a:ext cx="6199631" cy="402336"/>
          </a:xfrm>
          <a:prstGeom prst="rect">
            <a:avLst/>
          </a:prstGeom>
          <a:noFill/>
        </p:spPr>
        <p:txBody>
          <a:bodyPr wrap="square" lIns="0" rIns="0" tIns="0" bIns="0">
            <a:normAutofit/>
          </a:bodyPr>
          <a:lstStyle/>
          <a:p>
            <a:pPr>
              <a:lnSpc>
                <a:spcPct val="140000"/>
              </a:lnSpc>
              <a:spcAft>
                <a:spcPts val="500"/>
              </a:spcAft>
            </a:pPr>
            <a:r>
              <a:rPr sz="919" b="0" i="0">
                <a:solidFill>
                  <a:srgbClr val="041E42"/>
                </a:solidFill>
                <a:latin typeface="Avenir Next"/>
              </a:rPr>
              <a:t>El territorio no se construyó solo con pauta: se construyó con contenido propio, publicaciones y series, producidas por la editorial del emisor.</a:t>
            </a:r>
          </a:p>
          <a:p>
            <a:pPr>
              <a:lnSpc>
                <a:spcPct val="140000"/>
              </a:lnSpc>
              <a:spcAft>
                <a:spcPts val="500"/>
              </a:spcAft>
            </a:pPr>
            <a:r>
              <a:rPr sz="919" b="0" i="0">
                <a:solidFill>
                  <a:srgbClr val="041E42"/>
                </a:solidFill>
                <a:latin typeface="Avenir Next"/>
              </a:rPr>
              <a:t>Ediciones Gamma ocupa en Colombia la misma posición, con una revista homónima desde 1963, 146.000 suscriptores y una unidad de Libros en operación.</a:t>
            </a:r>
          </a:p>
        </p:txBody>
      </p:sp>
      <p:sp>
        <p:nvSpPr>
          <p:cNvPr id="24" name="Rectangle 23"/>
          <p:cNvSpPr/>
          <p:nvPr/>
        </p:nvSpPr>
        <p:spPr>
          <a:xfrm>
            <a:off x="7635240" y="2176272"/>
            <a:ext cx="3824935" cy="3968496"/>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p>
        </p:txBody>
      </p:sp>
      <p:sp>
        <p:nvSpPr>
          <p:cNvPr id="25" name="TextBox 24"/>
          <p:cNvSpPr txBox="1"/>
          <p:nvPr/>
        </p:nvSpPr>
        <p:spPr>
          <a:xfrm>
            <a:off x="8092440" y="3337560"/>
            <a:ext cx="2910535" cy="1645920"/>
          </a:xfrm>
          <a:prstGeom prst="rect">
            <a:avLst/>
          </a:prstGeom>
          <a:noFill/>
        </p:spPr>
        <p:txBody>
          <a:bodyPr wrap="square" lIns="0" rIns="0" tIns="0" bIns="0">
            <a:normAutofit/>
          </a:bodyPr>
          <a:lstStyle/>
          <a:p>
            <a:pPr>
              <a:lnSpc>
                <a:spcPct val="116000"/>
              </a:lnSpc>
            </a:pPr>
            <a:r>
              <a:rPr sz="1500" b="0" i="0">
                <a:solidFill>
                  <a:srgbClr val="CCECF9"/>
                </a:solidFill>
                <a:latin typeface="Baskerville"/>
              </a:rPr>
              <a:t>The territory was built by an
</a:t>
            </a:r>
            <a:r>
              <a:rPr sz="1500" b="0" i="0">
                <a:solidFill>
                  <a:srgbClr val="F5F3C4"/>
                </a:solidFill>
                <a:latin typeface="Baskerville"/>
              </a:rPr>
              <a:t>( editorial house ) </a:t>
            </a:r>
            <a:r>
              <a:rPr sz="1500" b="0" i="0">
                <a:solidFill>
                  <a:srgbClr val="CCECF9"/>
                </a:solidFill>
                <a:latin typeface="Baskerville"/>
              </a:rPr>
              <a:t>Club</a:t>
            </a:r>
          </a:p>
        </p:txBody>
      </p:sp>
      <p:pic>
        <p:nvPicPr>
          <p:cNvPr id="26" name="Picture 25" descr="logo_emb-n.png"/>
          <p:cNvPicPr>
            <a:picLocks noChangeAspect="1"/>
          </p:cNvPicPr>
          <p:nvPr/>
        </p:nvPicPr>
        <p:blipFill>
          <a:blip r:embed="rId3"/>
          <a:stretch>
            <a:fillRect/>
          </a:stretch>
        </p:blipFill>
        <p:spPr>
          <a:xfrm>
            <a:off x="8092440" y="5230368"/>
            <a:ext cx="566928" cy="566928"/>
          </a:xfrm>
          <a:prstGeom prst="rect">
            <a:avLst/>
          </a:prstGeom>
        </p:spPr>
      </p:pic>
      <p:sp>
        <p:nvSpPr>
          <p:cNvPr id="27" name="TextBox 26"/>
          <p:cNvSpPr txBox="1"/>
          <p:nvPr/>
        </p:nvSpPr>
        <p:spPr>
          <a:xfrm>
            <a:off x="731520" y="6291072"/>
            <a:ext cx="8778240" cy="201168"/>
          </a:xfrm>
          <a:prstGeom prst="rect">
            <a:avLst/>
          </a:prstGeom>
          <a:noFill/>
        </p:spPr>
        <p:txBody>
          <a:bodyPr wrap="square" lIns="0" rIns="0" tIns="0" bIns="0">
            <a:normAutofit/>
          </a:bodyPr>
          <a:lstStyle/>
          <a:p>
            <a:r>
              <a:rPr sz="700" b="0" i="0" spc="120">
                <a:solidFill>
                  <a:srgbClr val="A8C4DA"/>
                </a:solidFill>
                <a:latin typeface="Avenir Next"/>
              </a:rPr>
              <a:t>CAROLINA RAMIREZ · EDICIONES GAMMA · DINERS CLUB DEL ECUADOR</a:t>
            </a:r>
          </a:p>
        </p:txBody>
      </p:sp>
      <p:sp>
        <p:nvSpPr>
          <p:cNvPr id="28" name="TextBox 27"/>
          <p:cNvSpPr txBox="1"/>
          <p:nvPr/>
        </p:nvSpPr>
        <p:spPr>
          <a:xfrm>
            <a:off x="10637215" y="6291072"/>
            <a:ext cx="822960" cy="201168"/>
          </a:xfrm>
          <a:prstGeom prst="rect">
            <a:avLst/>
          </a:prstGeom>
          <a:noFill/>
        </p:spPr>
        <p:txBody>
          <a:bodyPr wrap="square" lIns="0" rIns="0" tIns="0" bIns="0">
            <a:normAutofit/>
          </a:bodyPr>
          <a:lstStyle/>
          <a:p>
            <a:r>
              <a:rPr sz="750" b="1" i="0" spc="120">
                <a:solidFill>
                  <a:srgbClr val="F5F3C4"/>
                </a:solidFill>
                <a:latin typeface="Avenir Next"/>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