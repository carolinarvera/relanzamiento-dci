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t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0A254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78040" y="5486400"/>
            <a:ext cx="4736592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Georgia"/>
              </a:rPr>
              <a:t>La tarjeta que inventó
la idea de pertenecer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6400800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C9CED6"/>
                </a:solidFill>
                <a:latin typeface="Helvetica Neue"/>
              </a:rPr>
              <a:t>NUEVA YORK, 1950 · BOGOTÁ, 1963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8580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8A6B1F"/>
                </a:solidFill>
                <a:latin typeface="Helvetica Neue"/>
              </a:rPr>
              <a:t>DINERS CLUB INTERNATIONAL &amp; EDICIONES GAMMA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0">
                <a:solidFill>
                  <a:srgbClr val="0A2540"/>
                </a:solidFill>
                <a:latin typeface="Georgia"/>
              </a:rPr>
              <a:t>Medios y experiencias:
una propuesta de
tres capas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5808F"/>
                </a:solidFill>
                <a:latin typeface="Helvetica Neue"/>
              </a:rPr>
              <a:t>Respuesta al direccionamiento de combinar medios con experiencias, activar mecánicas como Modo Tasty y construir una colección curada. Tres paquetes, un año de operación.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709160"/>
            <a:ext cx="1828800" cy="1051560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487375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0A2540"/>
                </a:solidFill>
                <a:latin typeface="Georgia"/>
              </a:rPr>
              <a:t>169K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532180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Tarjetahabientes · 18.4K Black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709160"/>
            <a:ext cx="1828800" cy="1051560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487375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0A2540"/>
                </a:solidFill>
                <a:latin typeface="Georgia"/>
              </a:rPr>
              <a:t>1.133.000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532180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Alcance mensual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9" y="4709160"/>
            <a:ext cx="1828800" cy="1051560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487375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0A2540"/>
                </a:solidFill>
                <a:latin typeface="Georgia"/>
              </a:rPr>
              <a:t>146.000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532180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Suscriptores de la revista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91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EDICIONES GAMMA · DOCUMENTO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8A6B1F"/>
                </a:solidFill>
                <a:latin typeface="Helvetica Neue"/>
              </a:rPr>
              <a:t>LA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0">
                <a:solidFill>
                  <a:srgbClr val="0A2540"/>
                </a:solidFill>
                <a:latin typeface="Georgia"/>
              </a:rPr>
              <a:t>Las tres capas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37215" cy="25603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5808F"/>
                </a:solidFill>
                <a:latin typeface="Helvetica Neue"/>
              </a:rPr>
              <a:t>Medios y experiencias no son dos líneas separadas de un presupuesto. Son tres capas que se refuerzan: una da ritmo, otra da significado y la tercera da estatus. Ninguna funciona sola.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3401568" cy="3337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85292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2A855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31012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D2A855"/>
                </a:solidFill>
                <a:latin typeface="Helvetica Neue"/>
              </a:rPr>
              <a:t>EL RITMO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52958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Modo Tasting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04164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El beneficio gastronómico recurrente. Da una razón concreta para usar la tarjeta en una fecha previsible, sobre una lista curada de aliados verificados.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0292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•  Día fijo semanal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•  Aliados con aceptación verificada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•  Escalable por ciudad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2697480"/>
            <a:ext cx="3401568" cy="3337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85292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2A855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1012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D2A855"/>
                </a:solidFill>
                <a:latin typeface="Helvetica Neue"/>
              </a:rPr>
              <a:t>EL SIGNIFICADO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2958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Diners Collections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4164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La colección editorial curada. Convierte el beneficio en criterio: no es descuento, es la recomendación de quien lleva 60 años cubriendo el buen comer.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292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•  Sección fija mensual en la revista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•  Descuento adicional pagando con la tarjeta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•  Web y serie de video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64424" y="2697480"/>
            <a:ext cx="3401568" cy="33375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85292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D2A855"/>
                </a:solidFill>
                <a:latin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310128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D2A855"/>
                </a:solidFill>
                <a:latin typeface="Helvetica Neue"/>
              </a:rPr>
              <a:t>EL ESTATUS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352958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Experiencias OBI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404164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Only By Invitation. Acceso limitado a experiencias que no se compran. Es el beneficio que ningún competidor replica con descuentos.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50292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•  8 experiencias al año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•  Cupo corto, por invitación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•  Cubrimiento editorial incluido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910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LAS TRES CAPAS SE VENDEN JUNTAS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29107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8A6B1F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adur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0"/>
            <a:ext cx="4050791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0A254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5486400"/>
            <a:ext cx="3502151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Georgia"/>
              </a:rPr>
              <a:t>Un día fijo.
Una lista corta.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8A6B1F"/>
                </a:solidFill>
                <a:latin typeface="Helvetica Neue"/>
              </a:rPr>
              <a:t>CAPA 1 · EL RITMO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6858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>
                <a:solidFill>
                  <a:srgbClr val="0A2540"/>
                </a:solidFill>
                <a:latin typeface="Georgia"/>
              </a:rPr>
              <a:t>Modo Tasting Colombia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6675120" cy="25603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75808F"/>
                </a:solidFill>
                <a:latin typeface="Helvetica Neue"/>
              </a:rPr>
              <a:t>La adaptación colombiana de la mecánica que Banco Diners Club del Ecuador opera como Modo Tasty: un beneficio gastronómico con día fijo, sobre una lista curada, descubierta desde un solo lugar.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3200400" cy="3108960"/>
          </a:xfrm>
          <a:prstGeom prst="rect">
            <a:avLst/>
          </a:prstGeom>
          <a:solidFill>
            <a:srgbClr val="FFFDF9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916936"/>
            <a:ext cx="2852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75808F"/>
                </a:solidFill>
                <a:latin typeface="Helvetica Neue"/>
              </a:rPr>
              <a:t>LA REFERENCIA · ECUADOR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15468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Georgia"/>
              </a:rPr>
              <a:t>Cómo opera Modo Tasty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566160"/>
            <a:ext cx="2852928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50" b="0">
                <a:solidFill>
                  <a:srgbClr val="14263D"/>
                </a:solidFill>
                <a:latin typeface="Helvetica Neue"/>
              </a:rPr>
              <a:t>•  Beneficio: 50% sobre la cuenta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50" b="0">
                <a:solidFill>
                  <a:srgbClr val="14263D"/>
                </a:solidFill>
                <a:latin typeface="Helvetica Neue"/>
              </a:rPr>
              <a:t>•  Frecuencia: solo los miércoles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50" b="0">
                <a:solidFill>
                  <a:srgbClr val="14263D"/>
                </a:solidFill>
                <a:latin typeface="Helvetica Neue"/>
              </a:rPr>
              <a:t>•  Cobertura: más de 150 restaurantes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50" b="0">
                <a:solidFill>
                  <a:srgbClr val="14263D"/>
                </a:solidFill>
                <a:latin typeface="Helvetica Neue"/>
              </a:rPr>
              <a:t>•  Condiciones: reserva obligatoria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743200"/>
            <a:ext cx="3200400" cy="3108960"/>
          </a:xfrm>
          <a:prstGeom prst="rect">
            <a:avLst/>
          </a:prstGeom>
          <a:solidFill>
            <a:srgbClr val="F4EAD5"/>
          </a:solidFill>
          <a:ln w="12700">
            <a:solidFill>
              <a:srgbClr val="C9B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2916936"/>
            <a:ext cx="2852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8A6B1F"/>
                </a:solidFill>
                <a:latin typeface="Helvetica Neue"/>
              </a:rPr>
              <a:t>LA ADAPTACIÓN · COLOMBIA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315468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Georgia"/>
              </a:rPr>
              <a:t>Qué proponemos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3566160"/>
            <a:ext cx="2852928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50" b="0">
                <a:solidFill>
                  <a:srgbClr val="14263D"/>
                </a:solidFill>
                <a:latin typeface="Helvetica Neue"/>
              </a:rPr>
              <a:t>•  Día fijo semanal, para construir hábito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50" b="0">
                <a:solidFill>
                  <a:srgbClr val="14263D"/>
                </a:solidFill>
                <a:latin typeface="Helvetica Neue"/>
              </a:rPr>
              <a:t>•  Aliados con datáfono verificado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50" b="0">
                <a:solidFill>
                  <a:srgbClr val="14263D"/>
                </a:solidFill>
                <a:latin typeface="Helvetica Neue"/>
              </a:rPr>
              <a:t>•  El aliado paga la visibilidad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50" b="0">
                <a:solidFill>
                  <a:srgbClr val="14263D"/>
                </a:solidFill>
                <a:latin typeface="Helvetica Neue"/>
              </a:rPr>
              <a:t>•  Descubrimiento editorial, no catálogo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50" b="0">
                <a:solidFill>
                  <a:srgbClr val="14263D"/>
                </a:solidFill>
                <a:latin typeface="Helvetica Neue"/>
              </a:rPr>
              <a:t>•  Arranca en Bogotá, se abre a 4 ciudades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910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ABIERTOS A MODELAR LA ALTERNATIVA DE DESCUENTO FINANCIADO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29107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8A6B1F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50791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rgbClr val="0A254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486400"/>
            <a:ext cx="3502151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Georgia"/>
              </a:rPr>
              <a:t>Un descuento
no se recuerda.
Un criterio sí.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640080"/>
            <a:ext cx="7116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8A6B1F"/>
                </a:solidFill>
                <a:latin typeface="Helvetica Neue"/>
              </a:rPr>
              <a:t>CAPA 2 · EL SIGNIFICADO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960120"/>
            <a:ext cx="6858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>
                <a:solidFill>
                  <a:srgbClr val="0A2540"/>
                </a:solidFill>
                <a:latin typeface="Georgia"/>
              </a:rPr>
              <a:t>Diners Collections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783080"/>
            <a:ext cx="6858000" cy="25603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38528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75808F"/>
                </a:solidFill>
                <a:latin typeface="Helvetica Neue"/>
              </a:rPr>
              <a:t>Si la tarjeta no se recibe en todas partes, escoger bien tiene que ser el producto. Collections es la colección curada anual de los lugares, cocineros y rituales que definen el buen comer en Colombia, con el estándar editorial de la Revista Diners.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788920"/>
            <a:ext cx="2212848" cy="1920240"/>
          </a:xfrm>
          <a:prstGeom prst="rect">
            <a:avLst/>
          </a:prstGeom>
          <a:solidFill>
            <a:srgbClr val="F4EAD5"/>
          </a:solidFill>
          <a:ln w="12700">
            <a:solidFill>
              <a:srgbClr val="C9B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962656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8A6B1F"/>
                </a:solidFill>
                <a:latin typeface="Helvetica Neue"/>
              </a:rPr>
              <a:t>SOPORTE 1 · EL CORAZÓN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320040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Georgia"/>
              </a:rPr>
              <a:t>La sección fija mensual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803904"/>
            <a:ext cx="1865376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Sección nueva, complementaria al programa. No ocupa espacio existente.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788920"/>
            <a:ext cx="2212848" cy="1920240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1736" y="2962656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75808F"/>
                </a:solidFill>
                <a:latin typeface="Helvetica Neue"/>
              </a:rPr>
              <a:t>SOPORTE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320040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Georgia"/>
              </a:rPr>
              <a:t>Sección permanente en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3803904"/>
            <a:ext cx="1865376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La colección viva y buscable, enlazada con los aliados verificados.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2788920"/>
            <a:ext cx="2212848" cy="1920240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2962656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75808F"/>
                </a:solidFill>
                <a:latin typeface="Helvetica Neue"/>
              </a:rPr>
              <a:t>SOPORTE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3200400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Georgia"/>
              </a:rPr>
              <a:t>Video y compendio 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3803904"/>
            <a:ext cx="1865376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La pieza coleccionable se produce una vez al año, no cada 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4892040"/>
            <a:ext cx="6876288" cy="1143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5065776"/>
            <a:ext cx="65288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D2A855"/>
                </a:solidFill>
                <a:latin typeface="Helvetica Neue"/>
              </a:rPr>
              <a:t>LA REGLA QUE PROTEGE LA CURADURÍA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5303520"/>
            <a:ext cx="6528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Georgia"/>
              </a:rPr>
              <a:t>La entrada la define el editor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5715000"/>
            <a:ext cx="6528816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Pagar amplía la ficha, no compra el lugar en Diners Collections. Sin esa regla la sección se lee como publirreportaje y se cae el diferencial.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910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EL EQUIVALENTE COLOMBIANO DE ORÍGENES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29107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8A6B1F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b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0A254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5486400"/>
            <a:ext cx="3319272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Georgia"/>
              </a:rPr>
              <a:t>Lo que se reparte
a todos deja de
distinguir a alguien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8A6B1F"/>
                </a:solidFill>
                <a:latin typeface="Helvetica Neue"/>
              </a:rPr>
              <a:t>CAPA 3 · EL ESTATUS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040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0">
                <a:solidFill>
                  <a:srgbClr val="0A2540"/>
                </a:solidFill>
                <a:latin typeface="Georgia"/>
              </a:rPr>
              <a:t>Experiencias Only By Invitation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6858000" cy="25603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75808F"/>
                </a:solidFill>
                <a:latin typeface="Helvetica Neue"/>
              </a:rPr>
              <a:t>Ocho experiencias gastronómicas en el año, con cupo limitado y acceso por invitación. Catas privadas con maridaje de autor, cenas a cuatro manos, mesas con cocineros que no abren al público.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6858000" cy="987552"/>
          </a:xfrm>
          <a:prstGeom prst="rect">
            <a:avLst/>
          </a:prstGeom>
          <a:solidFill>
            <a:srgbClr val="F4EAD5"/>
          </a:solidFill>
          <a:ln w="12700">
            <a:solidFill>
              <a:srgbClr val="C9B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916936"/>
            <a:ext cx="65105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8A6B1F"/>
                </a:solidFill>
                <a:latin typeface="Helvetica Neue"/>
              </a:rPr>
              <a:t>LA ESCASEZ ES EL PUNTO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154680"/>
            <a:ext cx="6510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0A2540"/>
                </a:solidFill>
                <a:latin typeface="Georgia"/>
              </a:rPr>
              <a:t>18.400 Black · 600 cupos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566160"/>
            <a:ext cx="6510528" cy="2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14263D"/>
                </a:solidFill>
                <a:latin typeface="Helvetica Neue"/>
              </a:rPr>
              <a:t>El cupo corto no es un problema de logística. Es el beneficio.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40480"/>
            <a:ext cx="6858000" cy="987552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014216"/>
            <a:ext cx="65105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75808F"/>
                </a:solidFill>
                <a:latin typeface="Helvetica Neue"/>
              </a:rPr>
              <a:t>RENDIMIENTO TRIPLE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251960"/>
            <a:ext cx="6510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0A2540"/>
                </a:solidFill>
                <a:latin typeface="Georgia"/>
              </a:rPr>
              <a:t>Se paga una vez, se cuenta 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663440"/>
            <a:ext cx="6510528" cy="2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14263D"/>
                </a:solidFill>
                <a:latin typeface="Helvetica Neue"/>
              </a:rPr>
              <a:t>Evento, reel de cubrimiento y artículo permanente. El contenido alcanza a quien no estuvo.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937760"/>
            <a:ext cx="6858000" cy="987552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5111496"/>
            <a:ext cx="65105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75808F"/>
                </a:solidFill>
                <a:latin typeface="Helvetica Neue"/>
              </a:rPr>
              <a:t>LO QUE SE CUENTA DESPUÉS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349240"/>
            <a:ext cx="6510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0A2540"/>
                </a:solidFill>
                <a:latin typeface="Georgia"/>
              </a:rPr>
              <a:t>Conversación, no impresiones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760720"/>
            <a:ext cx="6510528" cy="2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14263D"/>
                </a:solidFill>
                <a:latin typeface="Helvetica Neue"/>
              </a:rPr>
              <a:t>600 invitados bien escogidos hacen hablar más que 60.000 impresiones.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910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8 EXPERIENCIAS · ~600 ASISTENTES EN EL 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29107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8A6B1F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rf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0"/>
            <a:ext cx="3959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A254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5486400"/>
            <a:ext cx="3410712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Georgia"/>
              </a:rPr>
              <a:t>El medio de menor costo
del plan está en la
puerta del aliado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8A6B1F"/>
                </a:solidFill>
                <a:latin typeface="Helvetica Neue"/>
              </a:rPr>
              <a:t>LA IDEA QUE SOSTIENE EL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>
                <a:solidFill>
                  <a:srgbClr val="0A2540"/>
                </a:solidFill>
                <a:latin typeface="Georgia"/>
              </a:rPr>
              <a:t>Un sello en la vitrina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6766560" cy="25603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75808F"/>
                </a:solidFill>
                <a:latin typeface="Helvetica Neue"/>
              </a:rPr>
              <a:t>Una placa física en la entrada de cada aliado verificado. Es la pieza de menor costo unitario del plan y la de mayor rendimiento, porque resuelve cuatro problemas distintos con una sola producción.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3264408" cy="1481328"/>
          </a:xfrm>
          <a:prstGeom prst="rect">
            <a:avLst/>
          </a:prstGeom>
          <a:solidFill>
            <a:srgbClr val="F4EAD5"/>
          </a:solidFill>
          <a:ln w="12700">
            <a:solidFill>
              <a:srgbClr val="C9B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916936"/>
            <a:ext cx="2916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8A6B1F"/>
                </a:solidFill>
                <a:latin typeface="Helvetica Neue"/>
              </a:rPr>
              <a:t>RESUELVE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154680"/>
            <a:ext cx="2916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Georgia"/>
              </a:rPr>
              <a:t>Dice dónde sí funciona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566160"/>
            <a:ext cx="291693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El tarjetahabiente ve el sello antes de entrar y sabe que ahí la reciben. Respuesta física al problema de aceptación.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2743200"/>
            <a:ext cx="3264408" cy="1481328"/>
          </a:xfrm>
          <a:prstGeom prst="rect">
            <a:avLst/>
          </a:prstGeom>
          <a:solidFill>
            <a:srgbClr val="F4EAD5"/>
          </a:solidFill>
          <a:ln w="12700">
            <a:solidFill>
              <a:srgbClr val="C9B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916936"/>
            <a:ext cx="2916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8A6B1F"/>
                </a:solidFill>
                <a:latin typeface="Helvetica Neue"/>
              </a:rPr>
              <a:t>RESUELVE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154680"/>
            <a:ext cx="2916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Georgia"/>
              </a:rPr>
              <a:t>Convierte la lista en estatus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758184"/>
            <a:ext cx="2916936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Estar en la selección prestigia al restaurante. No es publicidad que tolera, es reconocimiento que exhibe.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343400"/>
            <a:ext cx="3264408" cy="1481328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517136"/>
            <a:ext cx="2916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75808F"/>
                </a:solidFill>
                <a:latin typeface="Helvetica Neue"/>
              </a:rPr>
              <a:t>RESUELVE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754880"/>
            <a:ext cx="2916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Georgia"/>
              </a:rPr>
              <a:t>Paga la red de aliados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66360"/>
            <a:ext cx="291693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Lo que compra el aliado no es un banner: es pertenecer a una lista firmada por la Revista Diners.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3672" y="4343400"/>
            <a:ext cx="3264408" cy="1481328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4517136"/>
            <a:ext cx="29169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75808F"/>
                </a:solidFill>
                <a:latin typeface="Helvetica Neue"/>
              </a:rPr>
              <a:t>RESUELVE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754880"/>
            <a:ext cx="2916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Georgia"/>
              </a:rPr>
              <a:t>120 vitrinas sin costo de pauta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5358384"/>
            <a:ext cx="2916936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En las mejores zonas de cuatro ciudades, visible todo el día, todo el año, frente al público exacto.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910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PRODUCCIÓN UNA VEZ · EXHIBICIÓN PERMANENTE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29107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8A6B1F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8A6B1F"/>
                </a:solidFill>
                <a:latin typeface="Helvetica Neue"/>
              </a:rPr>
              <a:t>EFICIENCIA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0">
                <a:solidFill>
                  <a:srgbClr val="0A2540"/>
                </a:solidFill>
                <a:latin typeface="Georgia"/>
              </a:rPr>
              <a:t>Multiplicadores de la inversión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37215" cy="25603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75808F"/>
                </a:solidFill>
                <a:latin typeface="Helvetica Neue"/>
              </a:rPr>
              <a:t>Seis mecanismos que hacen que una misma inversión produzca resultado en más de un frente. Están incorporados en los tres paquetes, no son adicionales.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3401568" cy="16642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609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D2A855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1">
                <a:solidFill>
                  <a:srgbClr val="D2A855"/>
                </a:solidFill>
                <a:latin typeface="Helvetica Neue"/>
              </a:rPr>
              <a:t>RENDIMIENTO POR PIEZA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72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Georgia"/>
              </a:rPr>
              <a:t>Una experiencia, cinco salidas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57015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30" b="0">
                <a:solidFill>
                  <a:srgbClr val="D8DDE4"/>
                </a:solidFill>
                <a:latin typeface="Helvetica Neue"/>
              </a:rPr>
              <a:t>Un costo de producción, cinco superficies de contacto: evento, reel, artículo, Collections y newsletter.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514600"/>
            <a:ext cx="3401568" cy="16642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6609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D2A855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97180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1">
                <a:solidFill>
                  <a:srgbClr val="D2A855"/>
                </a:solidFill>
                <a:latin typeface="Helvetica Neue"/>
              </a:rPr>
              <a:t>TRASLADO DE COSTO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172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Georgia"/>
              </a:rPr>
              <a:t>El aliado produce la experiencia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557015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30" b="0">
                <a:solidFill>
                  <a:srgbClr val="D8DDE4"/>
                </a:solidFill>
                <a:latin typeface="Helvetica Neue"/>
              </a:rPr>
              <a:t>Aporta cocina, espacio y equipo a cambio del cubrimiento. La línea de mayor costo baja a coordinación.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4424" y="2514600"/>
            <a:ext cx="3401568" cy="16642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26609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D2A855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97180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1">
                <a:solidFill>
                  <a:srgbClr val="D2A855"/>
                </a:solidFill>
                <a:latin typeface="Helvetica Neue"/>
              </a:rPr>
              <a:t>ACTIVO EXISTENTE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3172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Georgia"/>
              </a:rPr>
              <a:t>El Índice Diners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3557015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30" b="0">
                <a:solidFill>
                  <a:srgbClr val="D8DDE4"/>
                </a:solidFill>
                <a:latin typeface="Helvetica Neue"/>
              </a:rPr>
              <a:t>Sesenta años de archivo y los datos del programa como publicación anual con potencial de prensa.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297680"/>
            <a:ext cx="3401568" cy="1664208"/>
          </a:xfrm>
          <a:prstGeom prst="rect">
            <a:avLst/>
          </a:prstGeom>
          <a:solidFill>
            <a:srgbClr val="F4EAD5"/>
          </a:solidFill>
          <a:ln w="12700">
            <a:solidFill>
              <a:srgbClr val="C9B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439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8A6B1F"/>
                </a:solidFill>
                <a:latin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548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1">
                <a:solidFill>
                  <a:srgbClr val="8A6B1F"/>
                </a:solidFill>
                <a:latin typeface="Helvetica Neue"/>
              </a:rPr>
              <a:t>RED COMO CANAL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560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Georgia"/>
              </a:rPr>
              <a:t>120 cuentas publicando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34009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30" b="0">
                <a:solidFill>
                  <a:srgbClr val="14263D"/>
                </a:solidFill>
                <a:latin typeface="Helvetica Neue"/>
              </a:rPr>
              <a:t>Cada aliado promueve el beneficio porque le genera tráfico de alto ticket. Distribución sin inversión.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4297680"/>
            <a:ext cx="3401568" cy="1664208"/>
          </a:xfrm>
          <a:prstGeom prst="rect">
            <a:avLst/>
          </a:prstGeom>
          <a:solidFill>
            <a:srgbClr val="F4EAD5"/>
          </a:solidFill>
          <a:ln w="12700">
            <a:solidFill>
              <a:srgbClr val="C9B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44439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8A6B1F"/>
                </a:solidFill>
                <a:latin typeface="Helvetica Neue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7548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1">
                <a:solidFill>
                  <a:srgbClr val="8A6B1F"/>
                </a:solidFill>
                <a:latin typeface="Helvetica Neue"/>
              </a:rPr>
              <a:t>AJUSTE SIN DESCUENTO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9560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Georgia"/>
              </a:rPr>
              <a:t>AXXIS como variable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534009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30" b="0">
                <a:solidFill>
                  <a:srgbClr val="14263D"/>
                </a:solidFill>
                <a:latin typeface="Helvetica Neue"/>
              </a:rPr>
              <a:t>Ficha idéntica con tarifa menor. Amplía cobertura redistribuyendo peso, sin afectar el valor del plan.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64424" y="4297680"/>
            <a:ext cx="3401568" cy="1664208"/>
          </a:xfrm>
          <a:prstGeom prst="rect">
            <a:avLst/>
          </a:prstGeom>
          <a:solidFill>
            <a:srgbClr val="F4EAD5"/>
          </a:solidFill>
          <a:ln w="12700">
            <a:solidFill>
              <a:srgbClr val="C9B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7304" y="44439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8A6B1F"/>
                </a:solidFill>
                <a:latin typeface="Helvetica Neue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7304" y="475488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1">
                <a:solidFill>
                  <a:srgbClr val="8A6B1F"/>
                </a:solidFill>
                <a:latin typeface="Helvetica Neue"/>
              </a:rPr>
              <a:t>CONTENIDO DEL SOCIO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7304" y="49560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Georgia"/>
              </a:rPr>
              <a:t>La lista la nominan ellos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7304" y="534009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30" b="0">
                <a:solidFill>
                  <a:srgbClr val="14263D"/>
                </a:solidFill>
                <a:latin typeface="Helvetica Neue"/>
              </a:rPr>
              <a:t>Contenido sin costo, datos de preferencia hoy inexistentes y pertenencia sobre la selección.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2910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LAS SEIS OPERAN EN LOS TRES PAQUETES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29107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8A6B1F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8A6B1F"/>
                </a:solidFill>
                <a:latin typeface="Helvetica Neue"/>
              </a:rPr>
              <a:t>LAS OPCIONES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0">
                <a:solidFill>
                  <a:srgbClr val="0A2540"/>
                </a:solidFill>
                <a:latin typeface="Georgia"/>
              </a:rPr>
              <a:t>Tres paquetes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37215" cy="25603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75808F"/>
                </a:solidFill>
                <a:latin typeface="Helvetica Neue"/>
              </a:rPr>
              <a:t>La misma estrategia, en tres tamaños. Todos incluyen la suscripción regalo con código de activación, que es lo que convierte el alcance en dato propio.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68880"/>
            <a:ext cx="3401568" cy="3657600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75808F"/>
                </a:solidFill>
                <a:latin typeface="Helvetica Neue"/>
              </a:rPr>
              <a:t>PAQUETE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7121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Georgia"/>
              </a:rPr>
              <a:t>Esencial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5526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14263D"/>
                </a:solidFill>
                <a:latin typeface="Helvetica Neue"/>
              </a:rPr>
              <a:t>Instalar la marca y probar el programa sin comprometer el año entero.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30752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Pauta dinámica los 12 meses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Una pieza de alto impacto: portada falsa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Modo Tasting en 40 aliados, una ciudad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3 experiencias OBI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Solo Revista Diners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468880"/>
            <a:ext cx="3401568" cy="3657600"/>
          </a:xfrm>
          <a:prstGeom prst="rect">
            <a:avLst/>
          </a:prstGeom>
          <a:solidFill>
            <a:srgbClr val="F4EAD5"/>
          </a:solidFill>
          <a:ln w="22225">
            <a:solidFill>
              <a:srgbClr val="C9B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2651760"/>
            <a:ext cx="1051560" cy="237744"/>
          </a:xfrm>
          <a:prstGeom prst="rect">
            <a:avLst/>
          </a:prstGeom>
          <a:solidFill>
            <a:srgbClr val="8A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6974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Helvetica Neue"/>
              </a:rPr>
              <a:t>RECOMENDADO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980944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8A6B1F"/>
                </a:solidFill>
                <a:latin typeface="Helvetica Neue"/>
              </a:rPr>
              <a:t>PAQUETE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2004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Georgia"/>
              </a:rPr>
              <a:t>Completo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58444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14263D"/>
                </a:solidFill>
                <a:latin typeface="Helvetica Neue"/>
              </a:rPr>
              <a:t>El año completo con las tres capas operando y dato propio a escala.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059935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59 piezas en medios propios: Diners y AXXIS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20 campañas digitales en 5 canales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Portada falsa, carnet, gatefold, cintillo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Modo Tasting en 120 aliados, 4 ciudades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Diners Collections en los tres soportes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8 experiencias OBI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Tablero de cohortes e informe de año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64424" y="2468880"/>
            <a:ext cx="3401568" cy="3657600"/>
          </a:xfrm>
          <a:prstGeom prst="rect">
            <a:avLst/>
          </a:prstGeom>
          <a:solidFill>
            <a:srgbClr val="F6F3EC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2651760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75808F"/>
                </a:solidFill>
                <a:latin typeface="Helvetica Neue"/>
              </a:rPr>
              <a:t>PAQUETE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87121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Georgia"/>
              </a:rPr>
              <a:t>Insignia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325526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14263D"/>
                </a:solidFill>
                <a:latin typeface="Helvetica Neue"/>
              </a:rPr>
              <a:t>El año completo más un activo editorial que sobrevive a la campaña.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3730752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Todo lo del Paquete B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Línea de video con personaje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Evento insignia anual con los aliados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OBI ampliadas a más ciudades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Compendio coleccionable de fin de año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50" b="0">
                <a:solidFill>
                  <a:srgbClr val="14263D"/>
                </a:solidFill>
                <a:latin typeface="Helvetica Neue"/>
              </a:rPr>
              <a:t>•  Contenido cruzado con Diners Club Ecuador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910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VALORES POR SEPARADO EN LA COTIZACIÓN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29107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8A6B1F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8A6B1F"/>
                </a:solidFill>
                <a:latin typeface="Helvetica Neue"/>
              </a:rPr>
              <a:t>COMPARATIVO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0">
                <a:solidFill>
                  <a:srgbClr val="0A2540"/>
                </a:solidFill>
                <a:latin typeface="Georgia"/>
              </a:rPr>
              <a:t>Qué incluye cada paquete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37215" cy="25603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48840"/>
          <a:ext cx="10637214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53258"/>
                <a:gridCol w="2753258"/>
                <a:gridCol w="2753258"/>
              </a:tblGrid>
              <a:tr h="38404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Helvetica Neue"/>
                        </a:rPr>
                        <a:t>Componente</a:t>
                      </a:r>
                    </a:p>
                  </a:txBody>
                  <a:tcPr marL="91440" marR="54864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Helvetica Neue"/>
                        </a:rPr>
                        <a:t>A · Esencial</a:t>
                      </a:r>
                    </a:p>
                  </a:txBody>
                  <a:tcPr marL="91440" marR="54864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Helvetica Neue"/>
                        </a:rPr>
                        <a:t>B · Completo</a:t>
                      </a:r>
                    </a:p>
                  </a:txBody>
                  <a:tcPr marL="91440" marR="54864" anchor="ctr">
                    <a:solidFill>
                      <a:srgbClr val="8A6B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Helvetica Neue"/>
                        </a:rPr>
                        <a:t>C · Insignia</a:t>
                      </a:r>
                    </a:p>
                  </a:txBody>
                  <a:tcPr marL="91440" marR="54864" anchor="ctr">
                    <a:solidFill>
                      <a:srgbClr val="0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Medios propios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Pauta dinámica + 1 alto impacto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59 piezas</a:t>
                      </a:r>
                    </a:p>
                  </a:txBody>
                  <a:tcPr marL="91440" marR="54864" anchor="ctr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59 piezas + evento insignia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Marcas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Solo Diners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Diners + AXXIS</a:t>
                      </a:r>
                    </a:p>
                  </a:txBody>
                  <a:tcPr marL="91440" marR="54864" anchor="ctr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Diners + AXXIS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Pauta digital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—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20 campañas, 5 canales</a:t>
                      </a:r>
                    </a:p>
                  </a:txBody>
                  <a:tcPr marL="91440" marR="54864" anchor="ctr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20 campañas, 5 canales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Modo Tasting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40 aliados, 1 ciudad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120 aliados, 4 ciudades</a:t>
                      </a:r>
                    </a:p>
                  </a:txBody>
                  <a:tcPr marL="91440" marR="54864" anchor="ctr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120 aliados, 4 ciudades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Diners Collections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—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Colección anual</a:t>
                      </a:r>
                    </a:p>
                  </a:txBody>
                  <a:tcPr marL="91440" marR="54864" anchor="ctr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Colección + video con personaje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Experiencias OBI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3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8</a:t>
                      </a:r>
                    </a:p>
                  </a:txBody>
                  <a:tcPr marL="91440" marR="54864" anchor="ctr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8 ampliadas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Suscripción regalo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Sí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Sí</a:t>
                      </a:r>
                    </a:p>
                  </a:txBody>
                  <a:tcPr marL="91440" marR="54864" anchor="ctr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Sí</a:t>
                      </a:r>
                    </a:p>
                  </a:txBody>
                  <a:tcPr marL="91440" marR="54864" anchor="ctr"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Dato propio por cohorte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Sí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540"/>
                          </a:solidFill>
                          <a:latin typeface="Georgia"/>
                        </a:rPr>
                        <a:t>Sí, a escala</a:t>
                      </a:r>
                    </a:p>
                  </a:txBody>
                  <a:tcPr marL="91440" marR="54864" anchor="ctr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A2540"/>
                          </a:solidFill>
                          <a:latin typeface="Georgia"/>
                        </a:rPr>
                        <a:t>Sí, a escala</a:t>
                      </a:r>
                    </a:p>
                  </a:txBody>
                  <a:tcPr marL="91440" marR="54864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87044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75808F"/>
                </a:solidFill>
                <a:latin typeface="Helvetica Neue"/>
              </a:rPr>
              <a:t>Recomendamos el Paquete B: es el único que alcanza a los tres perfiles de tarjetahabiente y genera volumen de registro suficiente para leer resultados por cohorte.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TARIFAS 2026 SUJETAS A 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29107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8A6B1F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lan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0"/>
            <a:ext cx="4187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0A254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5320" y="5486400"/>
            <a:ext cx="3639312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Georgia"/>
              </a:rPr>
              <a:t>Una casa editorial
construyó el caso de
éxito de la franquicia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400800"/>
            <a:ext cx="3639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C9CED6"/>
                </a:solidFill>
                <a:latin typeface="Helvetica Neue"/>
              </a:rPr>
              <a:t>DINEDICIONES · DINERS CLUB DEL ECUADOR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008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8A6B1F"/>
                </a:solidFill>
                <a:latin typeface="Helvetica Neue"/>
              </a:rPr>
              <a:t>CASO DE REFERENCIA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6012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0">
                <a:solidFill>
                  <a:srgbClr val="0A2540"/>
                </a:solidFill>
                <a:latin typeface="Georgia"/>
              </a:rPr>
              <a:t>La prueba de Ecuador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6583680" cy="25603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75808F"/>
                </a:solidFill>
                <a:latin typeface="Helvetica Neue"/>
              </a:rPr>
              <a:t>Esto no es un experimento. Es lo que la propia franquicia ya hizo funcionar en la región.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23160"/>
            <a:ext cx="6583680" cy="1691640"/>
          </a:xfrm>
          <a:prstGeom prst="rect">
            <a:avLst/>
          </a:prstGeom>
          <a:solidFill>
            <a:srgbClr val="FFFDF9"/>
          </a:solidFill>
          <a:ln w="12700">
            <a:solidFill>
              <a:srgbClr val="DD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596896"/>
            <a:ext cx="62362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75808F"/>
                </a:solidFill>
                <a:latin typeface="Helvetica Neue"/>
              </a:rPr>
              <a:t>EL CASO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834639"/>
            <a:ext cx="6236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Georgia"/>
              </a:rPr>
              <a:t>Orígenes by Diners Club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246120"/>
            <a:ext cx="62362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14263D"/>
                </a:solidFill>
                <a:latin typeface="Helvetica Neue"/>
              </a:rPr>
              <a:t>Programa de Diners Club del Ecuador nacido en 2012. Trabaja con comunidades pequeñas, cocineras, familias y mercados para recuperar la oferta gastronómica local.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575303"/>
            <a:ext cx="62362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14263D"/>
                </a:solidFill>
                <a:latin typeface="Helvetica Neue"/>
              </a:rPr>
              <a:t>•  Más de 1.053 recetas compiladas en libros de cocina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14263D"/>
                </a:solidFill>
                <a:latin typeface="Helvetica Neue"/>
              </a:rPr>
              <a:t>•  Dos series de televisión nacional</a:t>
            </a:r>
          </a:p>
          <a:p>
            <a:pPr algn="l">
              <a:lnSpc>
                <a:spcPct val="120000"/>
              </a:lnSpc>
              <a:spcAft>
                <a:spcPts val="350"/>
              </a:spcAft>
            </a:pPr>
            <a:r>
              <a:rPr sz="900" b="0">
                <a:solidFill>
                  <a:srgbClr val="14263D"/>
                </a:solidFill>
                <a:latin typeface="Helvetica Neue"/>
              </a:rPr>
              <a:t>•  Los libros los produce Dinediciones, el brazo editorial del banco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51960"/>
            <a:ext cx="6583680" cy="1600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425696"/>
            <a:ext cx="62362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>
                <a:solidFill>
                  <a:srgbClr val="D2A855"/>
                </a:solidFill>
                <a:latin typeface="Helvetica Neue"/>
              </a:rPr>
              <a:t>LO QUE DEMUESTRA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663440"/>
            <a:ext cx="6236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Georgia"/>
              </a:rPr>
              <a:t>El brazo editorial es el motor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5074920"/>
            <a:ext cx="6236208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00" b="0">
                <a:solidFill>
                  <a:srgbClr val="D8DDE4"/>
                </a:solidFill>
                <a:latin typeface="Helvetica Neue"/>
              </a:rPr>
              <a:t>Ecuador no construyó fidelidad con pauta. La construyó con su casa editorial, y llegó a cerca de un millón de tarjetahabientes. Ediciones Gamma ocupa en Colombia la misma posición que Dinediciones en Ecuador, con una revista homónima de 60 años y una unidad de Libros ya operando.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910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>
                <a:solidFill>
                  <a:srgbClr val="75808F"/>
                </a:solidFill>
                <a:latin typeface="Helvetica Neue"/>
              </a:rPr>
              <a:t>CAROLINA RAMIREZ · EDICIONES GAMMA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29107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8A6B1F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