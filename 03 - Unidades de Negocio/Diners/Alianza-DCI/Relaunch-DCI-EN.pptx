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202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DINERS CLUB INTERNATIONAL AND EDICIONES GAMMA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A2540"/>
                </a:solidFill>
                <a:latin typeface="Georgia"/>
              </a:rPr>
              <a:t>Taking back the space we own: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8A6B1F"/>
                </a:solidFill>
                <a:latin typeface="Georgia"/>
              </a:rPr>
              <a:t>Interesting Life.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2233A"/>
                </a:solidFill>
                <a:latin typeface="Georgia"/>
              </a:rPr>
              <a:t>A brand relaunch and positioning strategy built on a benefits program, powered by the Ediciones Gamma ecosystem.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394960"/>
            <a:ext cx="3108960" cy="10972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5321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684"/>
                </a:solidFill>
                <a:latin typeface="Helvetica Neue"/>
              </a:rPr>
              <a:t>DINERS CLUB INTERNATIONAL · EDICIONES GAMMA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THE READ · CURRENT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2540"/>
                </a:solidFill>
                <a:latin typeface="Georgia"/>
              </a:rPr>
              <a:t>Who the DCI cardholder is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9484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2233A"/>
                </a:solidFill>
                <a:latin typeface="Georgia"/>
              </a:rPr>
              <a:t>A mature spender whose life runs on travel and lifestyle. The card handles the recurring bills, but it needs fresh reasons to stay first in the wallet.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08124"/>
            <a:ext cx="203234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A2540"/>
                </a:solidFill>
                <a:latin typeface="Georgia"/>
              </a:rPr>
              <a:t>169K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92172"/>
            <a:ext cx="203234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684"/>
                </a:solidFill>
                <a:latin typeface="Helvetica Neue"/>
              </a:rPr>
              <a:t>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2737" y="2008124"/>
            <a:ext cx="203234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A2540"/>
                </a:solidFill>
                <a:latin typeface="Georgia"/>
              </a:rPr>
              <a:t>89%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2737" y="2392172"/>
            <a:ext cx="203234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684"/>
                </a:solidFill>
                <a:latin typeface="Helvetica Neue"/>
              </a:rPr>
              <a:t>Blue · entry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9674" y="2008124"/>
            <a:ext cx="203234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A2540"/>
                </a:solidFill>
                <a:latin typeface="Georgia"/>
              </a:rPr>
              <a:t>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9674" y="2392172"/>
            <a:ext cx="203234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684"/>
                </a:solidFill>
                <a:latin typeface="Helvetica Neue"/>
              </a:rPr>
              <a:t>Black · 18.4K cardholders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76611" y="2008124"/>
            <a:ext cx="203234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A2540"/>
                </a:solidFill>
                <a:latin typeface="Georgia"/>
              </a:rPr>
              <a:t>51.15%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6611" y="2392172"/>
            <a:ext cx="203234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684"/>
                </a:solidFill>
                <a:latin typeface="Helvetica Neue"/>
              </a:rPr>
              <a:t>core segment · ages 35–50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3548" y="2008124"/>
            <a:ext cx="203234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A2540"/>
                </a:solidFill>
                <a:latin typeface="Georgia"/>
              </a:rPr>
              <a:t>45.92%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548" y="2392172"/>
            <a:ext cx="203234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684"/>
                </a:solidFill>
                <a:latin typeface="Helvetica Neue"/>
              </a:rPr>
              <a:t>senior segment · 51+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68244"/>
            <a:ext cx="5327751" cy="160020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3114548"/>
            <a:ext cx="5035143" cy="1307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THE ARCHETYPE: THE SENIOR VALUE CUSTOMER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Profile: </a:t>
            </a:r>
            <a:r>
              <a:rPr sz="950" b="0">
                <a:solidFill>
                  <a:srgbClr val="12233A"/>
                </a:solidFill>
                <a:latin typeface="Georgia"/>
              </a:rPr>
              <a:t>Salaried (27%), PCNC (24%), retired (18%), and self-employed (18%).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Gender: </a:t>
            </a:r>
            <a:r>
              <a:rPr sz="950" b="0">
                <a:solidFill>
                  <a:srgbClr val="12233A"/>
                </a:solidFill>
                <a:latin typeface="Georgia"/>
              </a:rPr>
              <a:t>52% men · 48% women.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The tie: </a:t>
            </a:r>
            <a:r>
              <a:rPr sz="950" b="0">
                <a:solidFill>
                  <a:srgbClr val="12233A"/>
                </a:solidFill>
                <a:latin typeface="Georgia"/>
              </a:rPr>
              <a:t>High income ($10.4M COP), but the card isn't their go-to.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8143" y="2968244"/>
            <a:ext cx="5327751" cy="16002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3114548"/>
            <a:ext cx="5035143" cy="1307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HOW THEY SPEND AND DECIDE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Behavior: </a:t>
            </a:r>
            <a:r>
              <a:rPr sz="950" b="0">
                <a:solidFill>
                  <a:srgbClr val="12233A"/>
                </a:solidFill>
                <a:latin typeface="Georgia"/>
              </a:rPr>
              <a:t>Spending points to travel, high-end restaurants, and select purchases, with a solid average ticket ($295K COP).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The friction: </a:t>
            </a:r>
            <a:r>
              <a:rPr sz="950" b="0">
                <a:solidFill>
                  <a:srgbClr val="12233A"/>
                </a:solidFill>
                <a:latin typeface="Georgia"/>
              </a:rPr>
              <a:t>They're always comparing against Visa and Mastercard, which feel more widely accepted with benefits that are easier to see.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733036"/>
            <a:ext cx="10820095" cy="566928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733036"/>
            <a:ext cx="32004" cy="566928"/>
          </a:xfrm>
          <a:prstGeom prst="rect">
            <a:avLst/>
          </a:prstGeom>
          <a:solidFill>
            <a:srgbClr val="8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842764"/>
            <a:ext cx="1049091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0A2540"/>
                </a:solidFill>
                <a:latin typeface="Georgia"/>
              </a:rPr>
              <a:t>The opening: high-value customers. </a:t>
            </a:r>
            <a:r>
              <a:rPr sz="1000" b="0">
                <a:solidFill>
                  <a:srgbClr val="12233A"/>
                </a:solidFill>
                <a:latin typeface="Georgia"/>
              </a:rPr>
              <a:t>The gap isn't how much they can spend. It's that nothing sets this card apart when it's time to pay.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84"/>
                </a:solidFill>
                <a:latin typeface="Helvetica Neue"/>
              </a:rPr>
              <a:t>02 /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269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2AC"/>
                </a:solidFill>
                <a:latin typeface="Helvetica Neue"/>
              </a:rPr>
              <a:t>Confidential · Ediciones Gamma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THE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A2540"/>
                </a:solidFill>
                <a:latin typeface="Georgia"/>
              </a:rPr>
              <a:t>Diners Club takes back the experience space: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2014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1">
                <a:solidFill>
                  <a:srgbClr val="8A6B1F"/>
                </a:solidFill>
                <a:latin typeface="Georgia"/>
              </a:rPr>
              <a:t>Interesting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84934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2233A"/>
                </a:solidFill>
                <a:latin typeface="Georgia"/>
              </a:rPr>
              <a:t>Visa and Mastercard compete on being everywhere and getting accepted everywhere, plus everyday discounts and assistance perks.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1411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2233A"/>
                </a:solidFill>
                <a:latin typeface="Georgia"/>
              </a:rPr>
              <a:t>Diners already owns the ground to stand apart, and to make good on a real promise around food and lifestyle.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43302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Two tracks that work together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835910"/>
            <a:ext cx="5327751" cy="196596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982214"/>
            <a:ext cx="5035143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1 · DCI Brand Relaunch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A2540"/>
                </a:solidFill>
                <a:latin typeface="Georgia"/>
              </a:rPr>
              <a:t>Positioning built to connect naturally with high-profile audiences who care about food, travel, culture, and lifestyle. Own the categories these customers already love: travel, high-end restaurants, specialty grocery, and wellness.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Define the audience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Build content made for them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Set the reach and the territory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8143" y="2835910"/>
            <a:ext cx="5327751" cy="196596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4447" y="2982214"/>
            <a:ext cx="5035143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2 · Positioning DCI Benefits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A2540"/>
                </a:solidFill>
                <a:latin typeface="Georgia"/>
              </a:rPr>
              <a:t>Benefits that are always on build loyalty. Exclusive experiences become something people talk about.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Always On benefits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Only by Invite experiences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Franchise sponsorships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84"/>
                </a:solidFill>
                <a:latin typeface="Helvetica Neue"/>
              </a:rPr>
              <a:t>03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269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2AC"/>
                </a:solidFill>
                <a:latin typeface="Helvetica Neue"/>
              </a:rPr>
              <a:t>Confidential · Ediciones Gamma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MODULE 1 · BRAND RELAUNCH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2540"/>
                </a:solidFill>
                <a:latin typeface="Georgia"/>
              </a:rPr>
              <a:t>Making the connection.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6804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6B1F"/>
                </a:solidFill>
                <a:latin typeface="Helvetica Neue"/>
              </a:rPr>
              <a:t>The approach, the content hooks, and who we're talking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52092"/>
            <a:ext cx="3496970" cy="402336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898396"/>
            <a:ext cx="3204362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THE STRATEGIC SPENDER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A2540"/>
                </a:solidFill>
                <a:latin typeface="Georgia"/>
              </a:rPr>
              <a:t>High-net-worth. Expects the world to work around him, not the other way around.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Profile: </a:t>
            </a:r>
            <a:r>
              <a:rPr sz="950" b="0">
                <a:solidFill>
                  <a:srgbClr val="12233A"/>
                </a:solidFill>
                <a:latin typeface="Georgia"/>
              </a:rPr>
              <a:t>45+. Strong buying power and plenty of liquidity.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Where they are in life: </a:t>
            </a:r>
            <a:r>
              <a:rPr sz="950" b="0">
                <a:solidFill>
                  <a:srgbClr val="12233A"/>
                </a:solidFill>
                <a:latin typeface="Georgia"/>
              </a:rPr>
              <a:t>Wants total comfort. Balancing a heavy workload with family time.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What they're into: </a:t>
            </a:r>
            <a:r>
              <a:rPr sz="950" b="0">
                <a:solidFill>
                  <a:srgbClr val="12233A"/>
                </a:solidFill>
                <a:latin typeface="Georgia"/>
              </a:rPr>
              <a:t>Business-class tickets, high-end hotels, fine dining, international insurance, golf and private clubs, streaming.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The Diners challenge: </a:t>
            </a:r>
            <a:r>
              <a:rPr sz="950" b="0">
                <a:solidFill>
                  <a:srgbClr val="12233A"/>
                </a:solidFill>
                <a:latin typeface="Georgia"/>
              </a:rPr>
              <a:t>They carry it for the status, but there's real risk they reach for Mastercard Black or Visa Infinite instead.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The opening: </a:t>
            </a:r>
            <a:r>
              <a:rPr sz="950" b="0">
                <a:solidFill>
                  <a:srgbClr val="12233A"/>
                </a:solidFill>
                <a:latin typeface="Georgia"/>
              </a:rPr>
              <a:t>Priority access. Experiences they can't get anywhere else.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7362" y="1752092"/>
            <a:ext cx="3496970" cy="402336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3666" y="1898396"/>
            <a:ext cx="3204362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THE TRADITIONAL SPENDER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A2540"/>
                </a:solidFill>
                <a:latin typeface="Georgia"/>
              </a:rPr>
              <a:t>The quiet workhorse. Uses the card out of habit and loyalty to the bank.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Profile: </a:t>
            </a:r>
            <a:r>
              <a:rPr sz="950" b="0">
                <a:solidFill>
                  <a:srgbClr val="12233A"/>
                </a:solidFill>
                <a:latin typeface="Georgia"/>
              </a:rPr>
              <a:t>51+. Long-tenured professionals.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Where they are in life: </a:t>
            </a:r>
            <a:r>
              <a:rPr sz="950" b="0">
                <a:solidFill>
                  <a:srgbClr val="12233A"/>
                </a:solidFill>
                <a:latin typeface="Georgia"/>
              </a:rPr>
              <a:t>Family first. Trips are planned well ahead. They value their time and their peace of mind.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What they're into: </a:t>
            </a:r>
            <a:r>
              <a:rPr sz="950" b="0">
                <a:solidFill>
                  <a:srgbClr val="12233A"/>
                </a:solidFill>
                <a:latin typeface="Georgia"/>
              </a:rPr>
              <a:t>Travel, standout stays, and good food.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The Diners challenge: </a:t>
            </a:r>
            <a:r>
              <a:rPr sz="950" b="0">
                <a:solidFill>
                  <a:srgbClr val="12233A"/>
                </a:solidFill>
                <a:latin typeface="Georgia"/>
              </a:rPr>
              <a:t>Passive use, mostly autopay.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The opening: </a:t>
            </a:r>
            <a:r>
              <a:rPr sz="950" b="0">
                <a:solidFill>
                  <a:srgbClr val="12233A"/>
                </a:solidFill>
                <a:latin typeface="Georgia"/>
              </a:rPr>
              <a:t>Anchor events backed by the franchise.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8924" y="1752092"/>
            <a:ext cx="3496970" cy="402336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5228" y="1898396"/>
            <a:ext cx="3204362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THE ACTIVE VALUE SPENDER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A2540"/>
                </a:solidFill>
                <a:latin typeface="Georgia"/>
              </a:rPr>
              <a:t>Peak earning years. Highly active wherever experiences happen.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Profile: </a:t>
            </a:r>
            <a:r>
              <a:rPr sz="950" b="0">
                <a:solidFill>
                  <a:srgbClr val="12233A"/>
                </a:solidFill>
                <a:latin typeface="Georgia"/>
              </a:rPr>
              <a:t>35+. High and upper-middle income brackets.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Where they are in life: </a:t>
            </a:r>
            <a:r>
              <a:rPr sz="950" b="0">
                <a:solidFill>
                  <a:srgbClr val="12233A"/>
                </a:solidFill>
                <a:latin typeface="Georgia"/>
              </a:rPr>
              <a:t>Ahead of the curve on food and culture. Values ideas, art, and design.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What they're into: </a:t>
            </a:r>
            <a:r>
              <a:rPr sz="950" b="0">
                <a:solidFill>
                  <a:srgbClr val="12233A"/>
                </a:solidFill>
                <a:latin typeface="Georgia"/>
              </a:rPr>
              <a:t>High-end tech, digital platforms, the restaurants everyone's talking about.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The Diners challenge: </a:t>
            </a:r>
            <a:r>
              <a:rPr sz="950" b="0">
                <a:solidFill>
                  <a:srgbClr val="12233A"/>
                </a:solidFill>
                <a:latin typeface="Georgia"/>
              </a:rPr>
              <a:t>Heavy competition for everyday spend and card swipes.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The opening: </a:t>
            </a:r>
            <a:r>
              <a:rPr sz="950" b="0">
                <a:solidFill>
                  <a:srgbClr val="12233A"/>
                </a:solidFill>
                <a:latin typeface="Georgia"/>
              </a:rPr>
              <a:t>VIP experiences.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84"/>
                </a:solidFill>
                <a:latin typeface="Helvetica Neue"/>
              </a:rPr>
              <a:t>04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2AC"/>
                </a:solidFill>
                <a:latin typeface="Helvetica Neue"/>
              </a:rPr>
              <a:t>Confidential · Ediciones Gamma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THE ECOSYSTEM AND THE MARKETING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2540"/>
                </a:solidFill>
                <a:latin typeface="Georgia"/>
              </a:rPr>
              <a:t>A full ecosystem, ready to build with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9484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33A"/>
                </a:solidFill>
                <a:latin typeface="Georgia"/>
              </a:rPr>
              <a:t>Ediciones Gamma is the natural home for building real affinity with audiences who show up for culture, food, travel, art, and lifestyle.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88668"/>
            <a:ext cx="2581579" cy="105156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934972"/>
            <a:ext cx="2288971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Print Magazine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The luxury editorial authority in Colombia. Standout photography and content that earns its space.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31971" y="1788668"/>
            <a:ext cx="2581579" cy="105156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78275" y="1934972"/>
            <a:ext cx="2288971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Website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Premium digital formats. Repeat traffic from people looking for recommendations.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8142" y="1788668"/>
            <a:ext cx="2581579" cy="105156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6" y="1934972"/>
            <a:ext cx="2288971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Social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An active, connected community. Multi-platform, premium audience.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24313" y="1788668"/>
            <a:ext cx="2581579" cy="105156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617" y="1934972"/>
            <a:ext cx="2288971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Newsletters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Subscribers who actually open. They treat the emails as a perk, not clutter.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0482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Transmedia Formats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97428"/>
            <a:ext cx="2581579" cy="105156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443732"/>
            <a:ext cx="2288971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La Mesa de Diners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Conversations on food, art, culture, entertainment, and lifestyle.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1971" y="3297428"/>
            <a:ext cx="2581579" cy="105156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78275" y="3443732"/>
            <a:ext cx="2288971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Historias Diners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Short docs and interviews. The natural format for brand storytelling.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8142" y="3297428"/>
            <a:ext cx="2581579" cy="105156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6" y="3443732"/>
            <a:ext cx="2288971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Diners Recomienda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The experiences, perks, and brands that shape how people live.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24313" y="3297428"/>
            <a:ext cx="2581579" cy="105156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617" y="3443732"/>
            <a:ext cx="2288971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Interesting Life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The experience umbrella. Events and chef-driven dining, built for the franchise alone.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1358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CRM / Inbound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06188"/>
            <a:ext cx="5327751" cy="77724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952492"/>
            <a:ext cx="5035143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Prospecting and Activation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Segmented outreach. Messaging that lands. Direct lines to the customer.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8143" y="4806188"/>
            <a:ext cx="5327751" cy="77724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447" y="4952492"/>
            <a:ext cx="5035143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Direct Messaging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Benefit reminders and invites that feel personal.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84"/>
                </a:solidFill>
                <a:latin typeface="Helvetica Neue"/>
              </a:rPr>
              <a:t>05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269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2AC"/>
                </a:solidFill>
                <a:latin typeface="Helvetica Neue"/>
              </a:rPr>
              <a:t>Confidential · Ediciones Gamma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EDITORIAL AUTHORITY · WHERE THE MESSAGE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2540"/>
                </a:solidFill>
                <a:latin typeface="Georgia"/>
              </a:rPr>
              <a:t>Revista Diners: where affinity gets built.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43609"/>
            <a:ext cx="3496970" cy="160020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589913"/>
            <a:ext cx="3204362" cy="1307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REVISTA DINERS · 12 ISSUES A YEAR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A natural fit with high-profile readers who follow food, travel, culture, and lifestyle, in a premium setting with a high visual bar.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1">
                <a:solidFill>
                  <a:srgbClr val="0A2540"/>
                </a:solidFill>
                <a:latin typeface="Georgia"/>
              </a:rPr>
              <a:t>Deep curation: </a:t>
            </a:r>
            <a:r>
              <a:rPr sz="950" b="0">
                <a:solidFill>
                  <a:srgbClr val="12233A"/>
                </a:solidFill>
                <a:latin typeface="Georgia"/>
              </a:rPr>
              <a:t>every story reads as an editorial stamp of approval that makes a brand more credible.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7362" y="1443609"/>
            <a:ext cx="3496970" cy="16002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3666" y="1589913"/>
            <a:ext cx="3204362" cy="1307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WHO READS IT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Food lovers and travelers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Buyers of luxury goods, premium fashion, high-end cars, and hard-to-get products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Opinion leaders and the culture crowd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8924" y="1443609"/>
            <a:ext cx="3496970" cy="160020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5228" y="1589913"/>
            <a:ext cx="3204362" cy="1307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MONTHLY MULTI-PLATFORM REACH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1,133,000+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A qualified, captive 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8401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Reach by 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01009"/>
            <a:ext cx="2581579" cy="109728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3647313"/>
            <a:ext cx="2288971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PRINT MAGAZINE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146,000+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Copies · 90% active subscribers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971" y="3501009"/>
            <a:ext cx="2581579" cy="109728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8275" y="3647313"/>
            <a:ext cx="2288971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WEBSITE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737,000+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Unique users · 941,000 page views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8142" y="3501009"/>
            <a:ext cx="2581579" cy="109728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6" y="3647313"/>
            <a:ext cx="2288971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SOCIAL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210,000+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Followers · 6.78% IG engagement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24313" y="3501009"/>
            <a:ext cx="2581579" cy="109728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617" y="3647313"/>
            <a:ext cx="2288971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NEWSLETTER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40,000+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Contacts · 31.8% open · 3.6% CTR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762881"/>
            <a:ext cx="10820095" cy="566928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762881"/>
            <a:ext cx="32004" cy="566928"/>
          </a:xfrm>
          <a:prstGeom prst="rect">
            <a:avLst/>
          </a:prstGeom>
          <a:solidFill>
            <a:srgbClr val="8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872609"/>
            <a:ext cx="1049091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0A2540"/>
                </a:solidFill>
                <a:latin typeface="Georgia"/>
              </a:rPr>
              <a:t>On the ground at events, fairs, and experiences across Colombia. </a:t>
            </a:r>
            <a:r>
              <a:rPr sz="1000" b="0">
                <a:solidFill>
                  <a:srgbClr val="12233A"/>
                </a:solidFill>
                <a:latin typeface="Georgia"/>
              </a:rPr>
              <a:t>Enough pull to turn a recommendation into a same-day reservation, foot traffic, and sales.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84"/>
                </a:solidFill>
                <a:latin typeface="Helvetica Neue"/>
              </a:rPr>
              <a:t>06 /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269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2AC"/>
                </a:solidFill>
                <a:latin typeface="Helvetica Neue"/>
              </a:rPr>
              <a:t>Confidential · Ediciones Gamma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MODULE 1 · BRAND RELAUNCH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2540"/>
                </a:solidFill>
                <a:latin typeface="Georgia"/>
              </a:rPr>
              <a:t>The 360 channel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6804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6B1F"/>
                </a:solidFill>
                <a:latin typeface="Helvetica Neue"/>
              </a:rPr>
              <a:t>What we do, matched to where we say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52092"/>
            <a:ext cx="3496970" cy="169164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898396"/>
            <a:ext cx="3204362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PREMIUM EDITORIAL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Revista Diners + AXXIS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Puts the brand in the most credible room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Readers come for curated experiences, not coupons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GOAL → EDITORIAL POSITIONING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7362" y="1752092"/>
            <a:ext cx="3496970" cy="169164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3666" y="1898396"/>
            <a:ext cx="3204362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DIGITAL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Diners and AXXIS Websites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Catches people who are already interested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A conversion hub in an aspirational setting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GOAL → QUALIFIED TRAFFIC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8924" y="1752092"/>
            <a:ext cx="3496970" cy="169164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5228" y="1898396"/>
            <a:ext cx="3204362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SOCIAL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Instagram, Facebook, YouTube, TikTok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Puts Interesting Life in front of people daily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Shows the experiences and benefits in action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GOAL → TRANSMEDIA 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08324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Formats outside the Gamma ecosystem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900932"/>
            <a:ext cx="3496970" cy="169164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4047236"/>
            <a:ext cx="3204362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CLOSE TO THE AUDIENCE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Sponsorships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Brand positioning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High-profile PR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GOAL → RETENTION + THE MOMENT OF CHOICE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7362" y="3900932"/>
            <a:ext cx="3496970" cy="169164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3666" y="4047236"/>
            <a:ext cx="3204362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CLOSE TO THE REACH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Outdoor / Indoor Advertising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Billboards and corridors that keep the brand top of mind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Malls: a standing reminder that the benefits are there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GOAL → BRAND 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8924" y="3900932"/>
            <a:ext cx="3496970" cy="169164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5228" y="4047236"/>
            <a:ext cx="3204362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CLOSE BY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Airport VIP Lounges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Right there on the traveler's route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Puts DCI benefits in plain sight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GOAL → PRESENCE IN TRAVEL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84"/>
                </a:solidFill>
                <a:latin typeface="Helvetica Neue"/>
              </a:rPr>
              <a:t>07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269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2AC"/>
                </a:solidFill>
                <a:latin typeface="Helvetica Neue"/>
              </a:rPr>
              <a:t>Confidential · Ediciones Gamma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MODULE 2 · BELONGING, EXCLUSIVITY, AND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2540"/>
                </a:solidFill>
                <a:latin typeface="Georgia"/>
              </a:rPr>
              <a:t>Positioning the Benefits and Experiences.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2169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6B1F"/>
                </a:solidFill>
                <a:latin typeface="Helvetica Neue"/>
              </a:rPr>
              <a:t>Experiences worth remembering, that make belonging to Diners Club International mean something.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6217"/>
            <a:ext cx="3496970" cy="329184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882521"/>
            <a:ext cx="3204362" cy="2999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BELONGING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AON — Always On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Special discounts in select categories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Extra savings when you pay with the DCI card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Early access to partner products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7362" y="1736217"/>
            <a:ext cx="3496970" cy="329184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3666" y="1882521"/>
            <a:ext cx="3204362" cy="2999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EXCLUSIVITY - ONLY BY INVITATION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Pop-Ups &amp; OBI Experiences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The signature format for “Interesting Life,” and it travels city to city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Private dinners with chef's table and off-menu tastings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Seasonal private tastings and chef-led pairings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Private food pop-ups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Local hidden gems, opened up by season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Boutique-style curated experiences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8924" y="1736217"/>
            <a:ext cx="3496970" cy="329184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5228" y="1882521"/>
            <a:ext cx="3204362" cy="2999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STATUS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Franchise Sponsorships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Brand activations in airport VIP lounges and priority spaces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Partnerships with boutique hotels and social clubs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Golf tournaments at country clubs; polo and equestrian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Marquee art fairs (think ARTBO) and auctions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A curated presence at the top food festivals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84"/>
                </a:solidFill>
                <a:latin typeface="Helvetica Neue"/>
              </a:rPr>
              <a:t>08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2AC"/>
                </a:solidFill>
                <a:latin typeface="Helvetica Neue"/>
              </a:rPr>
              <a:t>Confidential · Ediciones Gamma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WE ARE EDICIONES GAMMA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2540"/>
                </a:solidFill>
                <a:latin typeface="Georgia"/>
              </a:rPr>
              <a:t>The team behind the strategy.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91234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2233A"/>
                </a:solidFill>
                <a:latin typeface="Georgia"/>
              </a:rPr>
              <a:t>A publishing arm of Grupo Bolívar. We build high-value audiences with curated content, digital creative, and hands-on management of benefits programs, experiences, and partnerships.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39874"/>
            <a:ext cx="3496970" cy="173736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2186178"/>
            <a:ext cx="320436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EDICIONES GAMMA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The Ecosystem and Marketing Engine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One coordinated rollout across channels: magazines, web, podcast, video, social, paid media, newsletter, messaging, and CRM.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7362" y="2039874"/>
            <a:ext cx="3496970" cy="173736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3666" y="2186178"/>
            <a:ext cx="320436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REVISTA DINERS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The Lifestyle Benchmark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Its credibility makes it the natural place to build affinity between brands and people who value exclusivity.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8924" y="2039874"/>
            <a:ext cx="3496970" cy="173736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5228" y="2186178"/>
            <a:ext cx="320436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REVISTA AXXIS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Leading Voice in Architecture and Design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Colombia's expert voice on architecture, design, and interiors. A curated point of view for people who care about good design.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41826"/>
            <a:ext cx="10820095" cy="118872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4088130"/>
            <a:ext cx="1052748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A MULTIDISCIPLINARY TEAM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Editorial Minds + Marketing Strategy + Hands-On Execution + The Right Tech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Journalists, creative and tech hubs, marketing strategists, admin and logistics support, and partnership leads who turn business goals into stories, experiences, and activations.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84"/>
                </a:solidFill>
                <a:latin typeface="Helvetica Neue"/>
              </a:rPr>
              <a:t>09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269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2AC"/>
                </a:solidFill>
                <a:latin typeface="Helvetica Neue"/>
              </a:rPr>
              <a:t>Confidential · Ediciones Gamma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2540"/>
                </a:solidFill>
                <a:latin typeface="Georgia"/>
              </a:rPr>
              <a:t>The plan and how we run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91234"/>
            <a:ext cx="3496970" cy="246888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637538"/>
            <a:ext cx="320436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STEP 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Define Interesting Life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Lock the benefits stack: AON + OBI + Sponsorships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Set the strategic direction and brand territory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Design the benefits architecture and the program itself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MODEL → PROJECT FEE OR MONTHLY RETAINER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7362" y="1491234"/>
            <a:ext cx="3496970" cy="246888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3666" y="1637538"/>
            <a:ext cx="320436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STEP 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Sign Off on the Structure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Clear on paper: what's a Gamma fee, what's owned media, what's third-party spend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Set the budget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Project management, curation, and lining up partners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MODEL → MONTHLY OPERATING FEE + VARIABLE BY VOLUME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8924" y="1491234"/>
            <a:ext cx="3496970" cy="246888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5228" y="1637538"/>
            <a:ext cx="320436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STEP 3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B1F"/>
                </a:solidFill>
                <a:latin typeface="Georgia"/>
              </a:rPr>
              <a:t>Put It in Motion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Run, operate, and manage the benefits program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Handle activations with outside partners like malls and airports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Manage content production and distribution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MODEL → RATE CARD + DIRECT OR MANAGED SPEND WITH AN ADMIN FEE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124706"/>
            <a:ext cx="10820095" cy="566928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124706"/>
            <a:ext cx="32004" cy="566928"/>
          </a:xfrm>
          <a:prstGeom prst="rect">
            <a:avLst/>
          </a:prstGeom>
          <a:solidFill>
            <a:srgbClr val="8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234434"/>
            <a:ext cx="1049091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0A2540"/>
                </a:solidFill>
                <a:latin typeface="Georgia"/>
              </a:rPr>
              <a:t>Handled in-house at Gamma: </a:t>
            </a:r>
            <a:r>
              <a:rPr sz="1000" b="0">
                <a:solidFill>
                  <a:srgbClr val="12233A"/>
                </a:solidFill>
                <a:latin typeface="Georgia"/>
              </a:rPr>
              <a:t>editorial production, content, and experiences · the benefits platform, service, and reporting · OBI experiences · media planning, measurement, and project governance.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84"/>
                </a:solidFill>
                <a:latin typeface="Helvetica Neue"/>
              </a:rPr>
              <a:t>10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269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2AC"/>
                </a:solidFill>
                <a:latin typeface="Helvetica Neue"/>
              </a:rPr>
              <a:t>Confidential · Ediciones Gamma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MODULE 3 · TEAM AND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2540"/>
                </a:solidFill>
                <a:latin typeface="Georgia"/>
              </a:rPr>
              <a:t>The full Gamma ecosystem.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6804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6B1F"/>
                </a:solidFill>
                <a:latin typeface="Helvetica Neue"/>
              </a:rPr>
              <a:t>The roles it takes to build, manage, and run everything in this proposal.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52092"/>
          <a:ext cx="10820094" cy="3977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0841"/>
                <a:gridCol w="6059253"/>
              </a:tblGrid>
              <a:tr h="23397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Helvetica Neue"/>
                        </a:rPr>
                        <a:t>ROLE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Helvetica Neue"/>
                        </a:rPr>
                        <a:t>WHAT THEY DO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A6B1F"/>
                          </a:solidFill>
                          <a:latin typeface="Helvetica Neue"/>
                        </a:rPr>
                        <a:t>STRATEGY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Strategy Director · Growth Manager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Strategy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A6B1F"/>
                          </a:solidFill>
                          <a:latin typeface="Helvetica Neue"/>
                        </a:rPr>
                        <a:t>SPECIALISTS AND COORDINATORS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Project Manager (PM)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Project management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Partnerships Coordinator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Signing partners · Building experiences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Admin and Billing Coordinator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Contracts for partners and experiences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Content Editor (journalist)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Editorial and digital content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Marketing Strategist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Running marketing programs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A6B1F"/>
                          </a:solidFill>
                          <a:latin typeface="Helvetica Neue"/>
                        </a:rPr>
                        <a:t>PRODUCTION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Graphic Editor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Design assets · Video editing for social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Videographer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Filming video content · Podcast production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Community Manager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Running social media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Paid Media Manager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Managing and running paid media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Benefits Platform Admin · Webmaster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Tech team for upkeep, support, and building out the platform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A6B1F"/>
                          </a:solidFill>
                          <a:latin typeface="Helvetica Neue"/>
                        </a:rPr>
                        <a:t>SUPPORT &amp; CUSTOMER SERVICE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Customer Service Agent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Members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821171"/>
            <a:ext cx="10820095" cy="566928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821171"/>
            <a:ext cx="32004" cy="566928"/>
          </a:xfrm>
          <a:prstGeom prst="rect">
            <a:avLst/>
          </a:prstGeom>
          <a:solidFill>
            <a:srgbClr val="8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5930899"/>
            <a:ext cx="1049091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0A2540"/>
                </a:solidFill>
                <a:latin typeface="Georgia"/>
              </a:rPr>
              <a:t>Ediciones Gamma's in-house team only. </a:t>
            </a:r>
            <a:r>
              <a:rPr sz="1000" b="0">
                <a:solidFill>
                  <a:srgbClr val="12233A"/>
                </a:solidFill>
                <a:latin typeface="Georgia"/>
              </a:rPr>
              <a:t>Next phase: resources and costs for outside partners and vendors.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84"/>
                </a:solidFill>
                <a:latin typeface="Helvetica Neue"/>
              </a:rPr>
              <a:t>11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269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2AC"/>
                </a:solidFill>
                <a:latin typeface="Helvetica Neue"/>
              </a:rPr>
              <a:t>Confidential · Ediciones Gamma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MODULE 3 · THE DETAILS (1 OF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2540"/>
                </a:solidFill>
                <a:latin typeface="Georgia"/>
              </a:rPr>
              <a:t>What we'd run in the Gamma ecosystem.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43609"/>
          <a:ext cx="10820093" cy="4480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7183"/>
                <a:gridCol w="4018892"/>
                <a:gridCol w="2164018"/>
              </a:tblGrid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Helvetica Neue"/>
                        </a:rPr>
                        <a:t>ACTION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Helvetica Neue"/>
                        </a:rPr>
                        <a:t>WHERE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Helvetica Neue"/>
                        </a:rPr>
                        <a:t>HOW OFTEN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8A6B1F"/>
                          </a:solidFill>
                          <a:latin typeface="Helvetica Neue"/>
                        </a:rPr>
                        <a:t>EDITORIAL (PRINT)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2-page advertorial (“Interesting Life”)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Revista Diners + AXXIS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4 issues/year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Subscriber-only false cover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Revista Diners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1–2 issues/year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Insert / special edition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Revista Diners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 issue/year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Physical postcards and collectibles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Select cardholder list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2 mailings/year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8A6B1F"/>
                          </a:solidFill>
                          <a:latin typeface="Helvetica Neue"/>
                        </a:rPr>
                        <a:t>WEB AND SOCIAL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Web display / branded content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Diners + AXXIS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Dedicated landing page + retargeting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Diners + AXXIS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Co-branded IG/FB content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Owned Diners + AXXIS channels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8A6B1F"/>
                          </a:solidFill>
                          <a:latin typeface="Helvetica Neue"/>
                        </a:rPr>
                        <a:t>TRANSMEDIA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Historias Diners (short doc)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YouTube, TikTok, IG · Diners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Three videos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Diners Recomienda (video interview)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YouTube, TikTok, IG · Diners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Per piece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La Mesa de Diners (podcast)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Spotify, YouTube, IG, TikTok · Diners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Brand slot in the newsletter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Segmented sends · Diners + AXXIS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8A6B1F"/>
                          </a:solidFill>
                          <a:latin typeface="Helvetica Neue"/>
                        </a:rPr>
                        <a:t>CRM / MESSAGING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Activation emails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Current cardholder base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WhatsApp / Messenger 1:1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Direct messaging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8A6B1F"/>
                          </a:solidFill>
                          <a:latin typeface="Helvetica Neue"/>
                        </a:rPr>
                        <a:t>DISPLAY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Fixed bar + vertical banner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Diners + AXXIS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3 months/year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Billboard + vertical banner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Diners + AXXIS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3 months/year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366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Full site takeover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Diners + AXXIS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3 months/year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5800" y="6015609"/>
            <a:ext cx="10820095" cy="566928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015609"/>
            <a:ext cx="32004" cy="566928"/>
          </a:xfrm>
          <a:prstGeom prst="rect">
            <a:avLst/>
          </a:prstGeom>
          <a:solidFill>
            <a:srgbClr val="8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6125337"/>
            <a:ext cx="1049091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0A2540"/>
                </a:solidFill>
                <a:latin typeface="Georgia"/>
              </a:rPr>
              <a:t>Preferred rate, already negotiated. </a:t>
            </a:r>
            <a:r>
              <a:rPr sz="1000" b="0">
                <a:solidFill>
                  <a:srgbClr val="12233A"/>
                </a:solidFill>
                <a:latin typeface="Georgia"/>
              </a:rPr>
              <a:t>Activation emails and WhatsApp/Messenger depend on how many contacts we're reaching.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84"/>
                </a:solidFill>
                <a:latin typeface="Helvetica Neue"/>
              </a:rPr>
              <a:t>12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69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2AC"/>
                </a:solidFill>
                <a:latin typeface="Helvetica Neue"/>
              </a:rPr>
              <a:t>Confidential · Ediciones Gamma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MODULE 3 · THE DETAILS (2 OF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2540"/>
                </a:solidFill>
                <a:latin typeface="Georgia"/>
              </a:rPr>
              <a:t>What we'd run in sponsorships and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2169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6B1F"/>
                </a:solidFill>
                <a:latin typeface="Helvetica Neue"/>
              </a:rPr>
              <a:t>Market rates, for reference. TBD = still to be defined.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6217"/>
            <a:ext cx="5327751" cy="91440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882521"/>
            <a:ext cx="5035143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WHAT WE SAY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Brand management and high-profile PR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The moment people are most open to exclusivity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8143" y="1736217"/>
            <a:ext cx="5327751" cy="9144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4447" y="1882521"/>
            <a:ext cx="5035143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WHO WE REACH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The Strategic Spender (Black) at select events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Opinion leaders and the culture crowd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815209"/>
          <a:ext cx="10820093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7183"/>
                <a:gridCol w="4018892"/>
                <a:gridCol w="2164018"/>
              </a:tblGrid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Helvetica Neue"/>
                        </a:rPr>
                        <a:t>ACTION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Helvetica Neue"/>
                        </a:rPr>
                        <a:t>WHERE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Helvetica Neue"/>
                        </a:rPr>
                        <a:t>HOW OFTEN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Diners Club Recomienda · editorial section sponsor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Revista Diners + AXXIS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4 issues/year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Private tastings and chef-led pairings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Rotating cities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Quarterly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Sponsored valet parking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Partner restaurants and events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Sponsored Revista Diners subscriptions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Cardholder base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Golf tournament sponsorship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Country clubs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1–2 events/year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Food festival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Top national festival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1 event/year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Art fair (think ARTBO / MAMBO)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Bogotá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1 event/year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A6B1F"/>
                          </a:solidFill>
                          <a:latin typeface="Georgia"/>
                        </a:rPr>
                        <a:t>Boutique hotel partnership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Partner hotel network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5375529"/>
            <a:ext cx="10820095" cy="566928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5375529"/>
            <a:ext cx="32004" cy="566928"/>
          </a:xfrm>
          <a:prstGeom prst="rect">
            <a:avLst/>
          </a:prstGeom>
          <a:solidFill>
            <a:srgbClr val="8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5485257"/>
            <a:ext cx="1049091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0A2540"/>
                </a:solidFill>
                <a:latin typeface="Georgia"/>
              </a:rPr>
              <a:t>Needs a quote. </a:t>
            </a:r>
            <a:r>
              <a:rPr sz="1000" b="0">
                <a:solidFill>
                  <a:srgbClr val="12233A"/>
                </a:solidFill>
                <a:latin typeface="Georgia"/>
              </a:rPr>
              <a:t>Frequencies are planning assumptions, still to be confirmed.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84"/>
                </a:solidFill>
                <a:latin typeface="Helvetica Neue"/>
              </a:rPr>
              <a:t>13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269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2AC"/>
                </a:solidFill>
                <a:latin typeface="Helvetica Neue"/>
              </a:rPr>
              <a:t>Confidential · Ediciones Gamma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MODULE 3 · THE DETAILS (3 OF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2540"/>
                </a:solidFill>
                <a:latin typeface="Georgia"/>
              </a:rPr>
              <a:t>What we'd run at airports and indoor.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2169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6B1F"/>
                </a:solidFill>
                <a:latin typeface="Helvetica Neue"/>
              </a:rPr>
              <a:t>Market rates, for reference. TBD = still to be defined.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6217"/>
            <a:ext cx="5327751" cy="123444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882521"/>
            <a:ext cx="5035143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WHAT WE SAY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VIP access and exclusivity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Zero friction while traveling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Benefits you can feel, right when you use them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You're part of a premium travel circle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8143" y="1736217"/>
            <a:ext cx="5327751" cy="123444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4447" y="1882521"/>
            <a:ext cx="5035143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WHO WE REACH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The Strategic Spender on business trips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The Active Value Spender who flies often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The Traditional Spender on planned trips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Domestic flyers and international connections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3135249"/>
          <a:ext cx="10820093" cy="260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7810"/>
                <a:gridCol w="3372497"/>
                <a:gridCol w="3653538"/>
                <a:gridCol w="1686248"/>
              </a:tblGrid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Helvetica Neue"/>
                        </a:rPr>
                        <a:t>SECTION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Helvetica Neue"/>
                        </a:rPr>
                        <a:t>ACTION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Helvetica Neue"/>
                        </a:rPr>
                        <a:t>WHERE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Helvetica Neue"/>
                        </a:rPr>
                        <a:t>HOW OFTEN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8A6B1F"/>
                          </a:solidFill>
                          <a:latin typeface="Helvetica Neue"/>
                        </a:rPr>
                        <a:t>AIRPORT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Branding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VIP lounge branding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El Dorado (domestic/intl)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Branding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VIP lounge branding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José María Córdova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Jet bridges/Priority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Jet bridges / priority lanes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El Dorado + José María Córdova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Screens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Arrivals/Domestic screens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Premium/Gold circuits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Access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Cardholder VIP lounge access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El Dorado + José María Córdova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Per pass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8A6B1F"/>
                          </a:solidFill>
                          <a:latin typeface="Helvetica Neue"/>
                        </a:rPr>
                        <a:t>INDOOR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Mupi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Mupi / mall screen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Andino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Mupi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Mupi / mall screen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El Retiro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Mupi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Mupi / mall screen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Fontanar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Branded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Branded menus and table pieces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AON partner restaurant network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Signage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Valet / parking signage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Partner restaurants and events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5832729"/>
            <a:ext cx="10820095" cy="566928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5832729"/>
            <a:ext cx="32004" cy="566928"/>
          </a:xfrm>
          <a:prstGeom prst="rect">
            <a:avLst/>
          </a:prstGeom>
          <a:solidFill>
            <a:srgbClr val="8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5942457"/>
            <a:ext cx="1049091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0A2540"/>
                </a:solidFill>
                <a:latin typeface="Georgia"/>
              </a:rPr>
              <a:t>Needs a quote. </a:t>
            </a:r>
            <a:r>
              <a:rPr sz="1000" b="0">
                <a:solidFill>
                  <a:srgbClr val="12233A"/>
                </a:solidFill>
                <a:latin typeface="Georgia"/>
              </a:rPr>
              <a:t>Frequencies are planning assumptions, still to be confirmed.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84"/>
                </a:solidFill>
                <a:latin typeface="Helvetica Neue"/>
              </a:rPr>
              <a:t>14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269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2AC"/>
                </a:solidFill>
                <a:latin typeface="Helvetica Neue"/>
              </a:rPr>
              <a:t>Confidential · Ediciones Gamma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6B1F"/>
                </a:solidFill>
                <a:latin typeface="Helvetica Neue"/>
              </a:rPr>
              <a:t>MODULE 3 · THE DETAILS (4 OF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2540"/>
                </a:solidFill>
                <a:latin typeface="Georgia"/>
              </a:rPr>
              <a:t>What we'd run outdoor and in external digital.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2169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6B1F"/>
                </a:solidFill>
                <a:latin typeface="Helvetica Neue"/>
              </a:rPr>
              <a:t>Market rates, for reference. TBD = still to be defined.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6217"/>
            <a:ext cx="5327751" cy="1234440"/>
          </a:xfrm>
          <a:prstGeom prst="rect">
            <a:avLst/>
          </a:prstGeom>
          <a:solidFill>
            <a:srgbClr val="F2EAD8"/>
          </a:solidFill>
          <a:ln w="9525">
            <a:solidFill>
              <a:srgbClr val="8A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882521"/>
            <a:ext cx="5035143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6B1F"/>
                </a:solidFill>
                <a:latin typeface="Helvetica Neue"/>
              </a:rPr>
              <a:t>WHAT WE SAY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The brand is everywhere in premium corridors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Solid, successful, here to stay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Status that sets it apart from Visa and Mastercard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Interesting Life as ground only Diners owns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8143" y="1736217"/>
            <a:ext cx="5327751" cy="1234440"/>
          </a:xfrm>
          <a:prstGeom prst="rect">
            <a:avLst/>
          </a:prstGeom>
          <a:solidFill>
            <a:srgbClr val="F7F5F0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4447" y="1882521"/>
            <a:ext cx="5035143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C6A2E"/>
                </a:solidFill>
                <a:latin typeface="Helvetica Neue"/>
              </a:rPr>
              <a:t>WHO WE REACH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The Strategic Spender in premium corridors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The Active Value Spender in aspirational areas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High-income households reached through CTV/OTT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C6A2E"/>
                </a:solidFill>
                <a:latin typeface="Georgia"/>
              </a:rPr>
              <a:t>• </a:t>
            </a:r>
            <a:r>
              <a:rPr sz="950" b="0">
                <a:solidFill>
                  <a:srgbClr val="12233A"/>
                </a:solidFill>
                <a:latin typeface="Georgia"/>
              </a:rPr>
              <a:t>Luxury, food, and travel audiences on display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3135249"/>
          <a:ext cx="10820093" cy="260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4448"/>
                <a:gridCol w="3287117"/>
                <a:gridCol w="3834970"/>
                <a:gridCol w="1643558"/>
              </a:tblGrid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Helvetica Neue"/>
                        </a:rPr>
                        <a:t>SECTION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Helvetica Neue"/>
                        </a:rPr>
                        <a:t>ACTION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Helvetica Neue"/>
                        </a:rPr>
                        <a:t>WHERE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Helvetica Neue"/>
                        </a:rPr>
                        <a:t>HOW OFTEN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8A6B1F"/>
                          </a:solidFill>
                          <a:latin typeface="Helvetica Neue"/>
                        </a:rPr>
                        <a:t>OUTDOOR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LED billboard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Large-format LED billboard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Zona T, Parque 93, Usaquén (Bogotá)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LED billboard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Premium / LED billboard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El Poblado, Provenza, Milla de Oro (Medellín)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Billboard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Outdoor billboard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Granada, Ciudad Jardín (Cali)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Billboard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Outdoor billboard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North side (Barranquilla)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Takeover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Temporary takeover (launch)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3 cities, restaurant corridor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 month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8A6B1F"/>
                          </a:solidFill>
                          <a:latin typeface="Helvetica Neue"/>
                        </a:rPr>
                        <a:t>EXTERNAL DIGITAL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Programmatic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Programmatic / display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High-income audiences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CTV/OTT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Targeted CTV / OTT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High-income households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Cinema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Premium cinema (VIP / Gold)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Premium screens in major cities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Influencers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Influencers / creators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Food, travel, business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Per campaign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  <a:tr h="20046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8A6B1F"/>
                          </a:solidFill>
                          <a:latin typeface="Georgia"/>
                        </a:rPr>
                        <a:t>Search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Brand / intent search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Google and other search engines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2233A"/>
                          </a:solidFill>
                          <a:latin typeface="Georgia"/>
                        </a:rPr>
                        <a:t>12 months</a:t>
                      </a:r>
                    </a:p>
                  </a:txBody>
                  <a:tcPr marL="64008" marR="64008" marT="18288" marB="18288" anchor="ctr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5832729"/>
            <a:ext cx="10820095" cy="566928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5832729"/>
            <a:ext cx="32004" cy="566928"/>
          </a:xfrm>
          <a:prstGeom prst="rect">
            <a:avLst/>
          </a:prstGeom>
          <a:solidFill>
            <a:srgbClr val="8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5942457"/>
            <a:ext cx="1049091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0A2540"/>
                </a:solidFill>
                <a:latin typeface="Georgia"/>
              </a:rPr>
              <a:t>Needs a quote. </a:t>
            </a:r>
            <a:r>
              <a:rPr sz="1000" b="0">
                <a:solidFill>
                  <a:srgbClr val="12233A"/>
                </a:solidFill>
                <a:latin typeface="Georgia"/>
              </a:rPr>
              <a:t>Frequencies are planning assumptions, still to be confirmed.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84"/>
                </a:solidFill>
                <a:latin typeface="Helvetica Neue"/>
              </a:rPr>
              <a:t>15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2695" y="6473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2AC"/>
                </a:solidFill>
                <a:latin typeface="Helvetica Neue"/>
              </a:rPr>
              <a:t>Confidential · Ediciones Gamma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